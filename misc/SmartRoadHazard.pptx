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810"/>
        </a:solidFill>
        <a:effectLst/>
      </p:bgPr>
    </p:bg>
    <p:spTree>
      <p:nvGrpSpPr>
        <p:cNvPr id="1" name=""/>
        <p:cNvGrpSpPr/>
        <p:nvPr/>
      </p:nvGrpSpPr>
      <p:grpSpPr/>
      <p:sp>
        <p:nvSpPr>
          <p:cNvPr id="2" name="Rounded Rectangle 1"/>
          <p:cNvSpPr/>
          <p:nvPr/>
        </p:nvSpPr>
        <p:spPr>
          <a:xfrm>
            <a:off x="2804007" y="457200"/>
            <a:ext cx="6583680" cy="329184"/>
          </a:xfrm>
          <a:prstGeom prst="roundRect">
            <a:avLst/>
          </a:prstGeom>
          <a:solidFill>
            <a:srgbClr val="07182E"/>
          </a:solidFill>
          <a:ln w="9525">
            <a:solidFill>
              <a:srgbClr val="1A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95447" y="502920"/>
            <a:ext cx="6400800" cy="237744"/>
          </a:xfrm>
          <a:prstGeom prst="rect">
            <a:avLst/>
          </a:prstGeom>
          <a:noFill/>
        </p:spPr>
        <p:txBody>
          <a:bodyPr wrap="square">
            <a:spAutoFit/>
          </a:bodyPr>
          <a:lstStyle/>
          <a:p>
            <a:pPr algn="ctr"/>
            <a:r>
              <a:rPr sz="800" b="0" i="0">
                <a:solidFill>
                  <a:srgbClr val="4EA8DE"/>
                </a:solidFill>
              </a:rPr>
              <a:t>B.TECH FINAL YEAR PROJECT  ·  RAMDEOBABA UNIVERSITY, NAGPUR</a:t>
            </a:r>
          </a:p>
        </p:txBody>
      </p:sp>
      <p:sp>
        <p:nvSpPr>
          <p:cNvPr id="4" name="TextBox 3"/>
          <p:cNvSpPr txBox="1"/>
          <p:nvPr/>
        </p:nvSpPr>
        <p:spPr>
          <a:xfrm>
            <a:off x="457200" y="932688"/>
            <a:ext cx="11277295" cy="749808"/>
          </a:xfrm>
          <a:prstGeom prst="rect">
            <a:avLst/>
          </a:prstGeom>
          <a:noFill/>
        </p:spPr>
        <p:txBody>
          <a:bodyPr wrap="square">
            <a:spAutoFit/>
          </a:bodyPr>
          <a:lstStyle/>
          <a:p>
            <a:pPr algn="ctr"/>
            <a:r>
              <a:rPr sz="4400" b="1" i="0">
                <a:solidFill>
                  <a:srgbClr val="F0F4FF"/>
                </a:solidFill>
              </a:rPr>
              <a:t>Smart Road Hazard</a:t>
            </a:r>
          </a:p>
        </p:txBody>
      </p:sp>
      <p:sp>
        <p:nvSpPr>
          <p:cNvPr id="5" name="TextBox 4"/>
          <p:cNvSpPr txBox="1"/>
          <p:nvPr/>
        </p:nvSpPr>
        <p:spPr>
          <a:xfrm>
            <a:off x="457200" y="1609344"/>
            <a:ext cx="11277295" cy="749808"/>
          </a:xfrm>
          <a:prstGeom prst="rect">
            <a:avLst/>
          </a:prstGeom>
          <a:noFill/>
        </p:spPr>
        <p:txBody>
          <a:bodyPr wrap="square">
            <a:spAutoFit/>
          </a:bodyPr>
          <a:lstStyle/>
          <a:p>
            <a:pPr algn="ctr"/>
            <a:r>
              <a:rPr sz="4400" b="1" i="0">
                <a:solidFill>
                  <a:srgbClr val="4EA8DE"/>
                </a:solidFill>
              </a:rPr>
              <a:t>Detection System</a:t>
            </a:r>
          </a:p>
        </p:txBody>
      </p:sp>
      <p:sp>
        <p:nvSpPr>
          <p:cNvPr id="6" name="TextBox 5"/>
          <p:cNvSpPr txBox="1"/>
          <p:nvPr/>
        </p:nvSpPr>
        <p:spPr>
          <a:xfrm>
            <a:off x="2103120" y="2487168"/>
            <a:ext cx="7985455" cy="749808"/>
          </a:xfrm>
          <a:prstGeom prst="rect">
            <a:avLst/>
          </a:prstGeom>
          <a:noFill/>
        </p:spPr>
        <p:txBody>
          <a:bodyPr wrap="square">
            <a:spAutoFit/>
          </a:bodyPr>
          <a:lstStyle/>
          <a:p>
            <a:pPr algn="ctr"/>
            <a:r>
              <a:rPr sz="1200" b="0" i="0">
                <a:solidFill>
                  <a:srgbClr val="8B9AB0"/>
                </a:solidFill>
              </a:rPr>
              <a:t>Real-time pothole &amp; speedbreaker detection using ESP32 + ultrasonic sensor, crowd-verified across 3 independent vehicle detections, shown live on an interactive map — no app install required.</a:t>
            </a:r>
          </a:p>
        </p:txBody>
      </p:sp>
      <p:sp>
        <p:nvSpPr>
          <p:cNvPr id="7" name="TextBox 6"/>
          <p:cNvSpPr txBox="1"/>
          <p:nvPr/>
        </p:nvSpPr>
        <p:spPr>
          <a:xfrm>
            <a:off x="457200" y="3364992"/>
            <a:ext cx="11277295" cy="274320"/>
          </a:xfrm>
          <a:prstGeom prst="rect">
            <a:avLst/>
          </a:prstGeom>
          <a:noFill/>
        </p:spPr>
        <p:txBody>
          <a:bodyPr wrap="square">
            <a:spAutoFit/>
          </a:bodyPr>
          <a:lstStyle/>
          <a:p>
            <a:pPr algn="ctr"/>
            <a:r>
              <a:rPr sz="1000" b="0" i="0">
                <a:solidFill>
                  <a:srgbClr val="4A5568"/>
                </a:solidFill>
              </a:rPr>
              <a:t>Krish Potanwar  ·  Soumya Jaiswal  ·  Bhavika Valecha  ·  Shubhiksha Bisen  ·  Harshit Widhwani</a:t>
            </a:r>
          </a:p>
        </p:txBody>
      </p:sp>
      <p:sp>
        <p:nvSpPr>
          <p:cNvPr id="8" name="Rounded Rectangle 7"/>
          <p:cNvSpPr/>
          <p:nvPr/>
        </p:nvSpPr>
        <p:spPr>
          <a:xfrm>
            <a:off x="838047" y="3767328"/>
            <a:ext cx="3383280" cy="34747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9487" y="3831336"/>
            <a:ext cx="3200400" cy="256032"/>
          </a:xfrm>
          <a:prstGeom prst="rect">
            <a:avLst/>
          </a:prstGeom>
          <a:noFill/>
        </p:spPr>
        <p:txBody>
          <a:bodyPr wrap="square">
            <a:spAutoFit/>
          </a:bodyPr>
          <a:lstStyle/>
          <a:p>
            <a:pPr algn="ctr"/>
            <a:r>
              <a:rPr sz="900" b="0" i="0">
                <a:solidFill>
                  <a:srgbClr val="4EA8DE"/>
                </a:solidFill>
              </a:rPr>
              <a:t>smart-road-hazard.vercel.app</a:t>
            </a:r>
          </a:p>
        </p:txBody>
      </p:sp>
      <p:sp>
        <p:nvSpPr>
          <p:cNvPr id="10" name="Rounded Rectangle 9"/>
          <p:cNvSpPr/>
          <p:nvPr/>
        </p:nvSpPr>
        <p:spPr>
          <a:xfrm>
            <a:off x="4404207" y="3767328"/>
            <a:ext cx="3383280" cy="34747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5647" y="3831336"/>
            <a:ext cx="3200400" cy="256032"/>
          </a:xfrm>
          <a:prstGeom prst="rect">
            <a:avLst/>
          </a:prstGeom>
          <a:noFill/>
        </p:spPr>
        <p:txBody>
          <a:bodyPr wrap="square">
            <a:spAutoFit/>
          </a:bodyPr>
          <a:lstStyle/>
          <a:p>
            <a:pPr algn="ctr"/>
            <a:r>
              <a:rPr sz="900" b="0" i="0">
                <a:solidFill>
                  <a:srgbClr val="8B9AB0"/>
                </a:solidFill>
              </a:rPr>
              <a:t>github.com/Krishpotanwar/SmartRoadHazard</a:t>
            </a:r>
          </a:p>
        </p:txBody>
      </p:sp>
      <p:sp>
        <p:nvSpPr>
          <p:cNvPr id="12" name="Rounded Rectangle 11"/>
          <p:cNvSpPr/>
          <p:nvPr/>
        </p:nvSpPr>
        <p:spPr>
          <a:xfrm>
            <a:off x="7970367" y="3767328"/>
            <a:ext cx="3383280" cy="34747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61807" y="3831336"/>
            <a:ext cx="3200400" cy="256032"/>
          </a:xfrm>
          <a:prstGeom prst="rect">
            <a:avLst/>
          </a:prstGeom>
          <a:noFill/>
        </p:spPr>
        <p:txBody>
          <a:bodyPr wrap="square">
            <a:spAutoFit/>
          </a:bodyPr>
          <a:lstStyle/>
          <a:p>
            <a:pPr algn="ctr"/>
            <a:r>
              <a:rPr sz="900" b="0" i="0">
                <a:solidFill>
                  <a:srgbClr val="8B9AB0"/>
                </a:solidFill>
              </a:rPr>
              <a:t>wokwi.com/projects/458668521911516161</a:t>
            </a:r>
          </a:p>
        </p:txBody>
      </p:sp>
      <p:sp>
        <p:nvSpPr>
          <p:cNvPr id="14" name="Rounded Rectangle 13"/>
          <p:cNvSpPr/>
          <p:nvPr/>
        </p:nvSpPr>
        <p:spPr>
          <a:xfrm>
            <a:off x="911199" y="4279391"/>
            <a:ext cx="1956816" cy="274320"/>
          </a:xfrm>
          <a:prstGeom prst="roundRect">
            <a:avLst/>
          </a:prstGeom>
          <a:solidFill>
            <a:srgbClr val="0E162A"/>
          </a:solidFill>
          <a:ln w="9525">
            <a:solidFill>
              <a:srgbClr val="1A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6919" y="4334255"/>
            <a:ext cx="1865376" cy="182880"/>
          </a:xfrm>
          <a:prstGeom prst="rect">
            <a:avLst/>
          </a:prstGeom>
          <a:noFill/>
        </p:spPr>
        <p:txBody>
          <a:bodyPr wrap="square">
            <a:spAutoFit/>
          </a:bodyPr>
          <a:lstStyle/>
          <a:p>
            <a:pPr algn="ctr"/>
            <a:r>
              <a:rPr sz="900" b="0" i="0">
                <a:solidFill>
                  <a:srgbClr val="4A5568"/>
                </a:solidFill>
              </a:rPr>
              <a:t>ESP32 + HC-SR04</a:t>
            </a:r>
          </a:p>
        </p:txBody>
      </p:sp>
      <p:sp>
        <p:nvSpPr>
          <p:cNvPr id="16" name="Rounded Rectangle 15"/>
          <p:cNvSpPr/>
          <p:nvPr/>
        </p:nvSpPr>
        <p:spPr>
          <a:xfrm>
            <a:off x="3014319" y="4279391"/>
            <a:ext cx="1956816" cy="274320"/>
          </a:xfrm>
          <a:prstGeom prst="roundRect">
            <a:avLst/>
          </a:prstGeom>
          <a:solidFill>
            <a:srgbClr val="0E162A"/>
          </a:solidFill>
          <a:ln w="9525">
            <a:solidFill>
              <a:srgbClr val="1A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60039" y="4334255"/>
            <a:ext cx="1865376" cy="182880"/>
          </a:xfrm>
          <a:prstGeom prst="rect">
            <a:avLst/>
          </a:prstGeom>
          <a:noFill/>
        </p:spPr>
        <p:txBody>
          <a:bodyPr wrap="square">
            <a:spAutoFit/>
          </a:bodyPr>
          <a:lstStyle/>
          <a:p>
            <a:pPr algn="ctr"/>
            <a:r>
              <a:rPr sz="900" b="0" i="0">
                <a:solidFill>
                  <a:srgbClr val="4A5568"/>
                </a:solidFill>
              </a:rPr>
              <a:t>Flask REST API</a:t>
            </a:r>
          </a:p>
        </p:txBody>
      </p:sp>
      <p:sp>
        <p:nvSpPr>
          <p:cNvPr id="18" name="Rounded Rectangle 17"/>
          <p:cNvSpPr/>
          <p:nvPr/>
        </p:nvSpPr>
        <p:spPr>
          <a:xfrm>
            <a:off x="5117439" y="4279391"/>
            <a:ext cx="1956816" cy="274320"/>
          </a:xfrm>
          <a:prstGeom prst="roundRect">
            <a:avLst/>
          </a:prstGeom>
          <a:solidFill>
            <a:srgbClr val="0E162A"/>
          </a:solidFill>
          <a:ln w="9525">
            <a:solidFill>
              <a:srgbClr val="1A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63159" y="4334255"/>
            <a:ext cx="1865376" cy="182880"/>
          </a:xfrm>
          <a:prstGeom prst="rect">
            <a:avLst/>
          </a:prstGeom>
          <a:noFill/>
        </p:spPr>
        <p:txBody>
          <a:bodyPr wrap="square">
            <a:spAutoFit/>
          </a:bodyPr>
          <a:lstStyle/>
          <a:p>
            <a:pPr algn="ctr"/>
            <a:r>
              <a:rPr sz="900" b="0" i="0">
                <a:solidFill>
                  <a:srgbClr val="4A5568"/>
                </a:solidFill>
              </a:rPr>
              <a:t>Firebase RTDB</a:t>
            </a:r>
          </a:p>
        </p:txBody>
      </p:sp>
      <p:sp>
        <p:nvSpPr>
          <p:cNvPr id="20" name="Rounded Rectangle 19"/>
          <p:cNvSpPr/>
          <p:nvPr/>
        </p:nvSpPr>
        <p:spPr>
          <a:xfrm>
            <a:off x="7220559" y="4279391"/>
            <a:ext cx="1956816" cy="274320"/>
          </a:xfrm>
          <a:prstGeom prst="roundRect">
            <a:avLst/>
          </a:prstGeom>
          <a:solidFill>
            <a:srgbClr val="0E162A"/>
          </a:solidFill>
          <a:ln w="9525">
            <a:solidFill>
              <a:srgbClr val="1A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6279" y="4334255"/>
            <a:ext cx="1865376" cy="182880"/>
          </a:xfrm>
          <a:prstGeom prst="rect">
            <a:avLst/>
          </a:prstGeom>
          <a:noFill/>
        </p:spPr>
        <p:txBody>
          <a:bodyPr wrap="square">
            <a:spAutoFit/>
          </a:bodyPr>
          <a:lstStyle/>
          <a:p>
            <a:pPr algn="ctr"/>
            <a:r>
              <a:rPr sz="900" b="0" i="0">
                <a:solidFill>
                  <a:srgbClr val="4A5568"/>
                </a:solidFill>
              </a:rPr>
              <a:t>Leaflet.js</a:t>
            </a:r>
          </a:p>
        </p:txBody>
      </p:sp>
      <p:sp>
        <p:nvSpPr>
          <p:cNvPr id="22" name="Rounded Rectangle 21"/>
          <p:cNvSpPr/>
          <p:nvPr/>
        </p:nvSpPr>
        <p:spPr>
          <a:xfrm>
            <a:off x="9323679" y="4279391"/>
            <a:ext cx="1956816" cy="274320"/>
          </a:xfrm>
          <a:prstGeom prst="roundRect">
            <a:avLst/>
          </a:prstGeom>
          <a:solidFill>
            <a:srgbClr val="0E162A"/>
          </a:solidFill>
          <a:ln w="9525">
            <a:solidFill>
              <a:srgbClr val="1A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9399" y="4334255"/>
            <a:ext cx="1865376" cy="182880"/>
          </a:xfrm>
          <a:prstGeom prst="rect">
            <a:avLst/>
          </a:prstGeom>
          <a:noFill/>
        </p:spPr>
        <p:txBody>
          <a:bodyPr wrap="square">
            <a:spAutoFit/>
          </a:bodyPr>
          <a:lstStyle/>
          <a:p>
            <a:pPr algn="ctr"/>
            <a:r>
              <a:rPr sz="900" b="0" i="0">
                <a:solidFill>
                  <a:srgbClr val="4A5568"/>
                </a:solidFill>
              </a:rPr>
              <a:t>Vercel + Render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810"/>
        </a:solidFill>
        <a:effectLst/>
      </p:bgPr>
    </p:bg>
    <p:spTree>
      <p:nvGrpSpPr>
        <p:cNvPr id="1" name=""/>
        <p:cNvGrpSpPr/>
        <p:nvPr/>
      </p:nvGrpSpPr>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A5568"/>
                </a:solidFill>
              </a:rPr>
              <a:t>THE PROBLEM</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India's roads are breaking things</a:t>
            </a:r>
          </a:p>
        </p:txBody>
      </p:sp>
      <p:sp>
        <p:nvSpPr>
          <p:cNvPr id="4" name="TextBox 3"/>
          <p:cNvSpPr txBox="1"/>
          <p:nvPr/>
        </p:nvSpPr>
        <p:spPr>
          <a:xfrm>
            <a:off x="1554480" y="1335024"/>
            <a:ext cx="9082735" cy="438912"/>
          </a:xfrm>
          <a:prstGeom prst="rect">
            <a:avLst/>
          </a:prstGeom>
          <a:noFill/>
        </p:spPr>
        <p:txBody>
          <a:bodyPr wrap="square">
            <a:spAutoFit/>
          </a:bodyPr>
          <a:lstStyle/>
          <a:p>
            <a:pPr algn="ctr"/>
            <a:r>
              <a:rPr sz="1100" b="0" i="0">
                <a:solidFill>
                  <a:srgbClr val="8B9AB0"/>
                </a:solidFill>
              </a:rPr>
              <a:t>India has over 6 lakh kilometres of roads. Potholes cause thousands of casualties every year. Most hazards go unreported for months — the detection gap is the real problem.</a:t>
            </a:r>
          </a:p>
        </p:txBody>
      </p:sp>
      <p:sp>
        <p:nvSpPr>
          <p:cNvPr id="5" name="Rounded Rectangle 4"/>
          <p:cNvSpPr/>
          <p:nvPr/>
        </p:nvSpPr>
        <p:spPr>
          <a:xfrm>
            <a:off x="457200" y="1847088"/>
            <a:ext cx="3624986" cy="226771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94560"/>
            <a:ext cx="3624986" cy="749808"/>
          </a:xfrm>
          <a:prstGeom prst="rect">
            <a:avLst/>
          </a:prstGeom>
          <a:noFill/>
        </p:spPr>
        <p:txBody>
          <a:bodyPr wrap="square">
            <a:spAutoFit/>
          </a:bodyPr>
          <a:lstStyle/>
          <a:p>
            <a:pPr algn="ctr"/>
            <a:r>
              <a:rPr sz="3600" b="1" i="0">
                <a:solidFill>
                  <a:srgbClr val="FF4D4D"/>
                </a:solidFill>
              </a:rPr>
              <a:t>~3,000</a:t>
            </a:r>
          </a:p>
        </p:txBody>
      </p:sp>
      <p:sp>
        <p:nvSpPr>
          <p:cNvPr id="7" name="TextBox 6"/>
          <p:cNvSpPr txBox="1"/>
          <p:nvPr/>
        </p:nvSpPr>
        <p:spPr>
          <a:xfrm>
            <a:off x="621792" y="3035808"/>
            <a:ext cx="3295802" cy="868680"/>
          </a:xfrm>
          <a:prstGeom prst="rect">
            <a:avLst/>
          </a:prstGeom>
          <a:noFill/>
        </p:spPr>
        <p:txBody>
          <a:bodyPr wrap="square">
            <a:spAutoFit/>
          </a:bodyPr>
          <a:lstStyle/>
          <a:p>
            <a:pPr algn="ctr"/>
            <a:r>
              <a:rPr sz="1100" b="0" i="0">
                <a:solidFill>
                  <a:srgbClr val="8B9AB0"/>
                </a:solidFill>
              </a:rPr>
              <a:t>pothole-related deaths
per year  (NCRB)</a:t>
            </a:r>
          </a:p>
        </p:txBody>
      </p:sp>
      <p:sp>
        <p:nvSpPr>
          <p:cNvPr id="8" name="Rounded Rectangle 7"/>
          <p:cNvSpPr/>
          <p:nvPr/>
        </p:nvSpPr>
        <p:spPr>
          <a:xfrm>
            <a:off x="4283354" y="1847088"/>
            <a:ext cx="3624986" cy="226771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83354" y="2194560"/>
            <a:ext cx="3624986" cy="749808"/>
          </a:xfrm>
          <a:prstGeom prst="rect">
            <a:avLst/>
          </a:prstGeom>
          <a:noFill/>
        </p:spPr>
        <p:txBody>
          <a:bodyPr wrap="square">
            <a:spAutoFit/>
          </a:bodyPr>
          <a:lstStyle/>
          <a:p>
            <a:pPr algn="ctr"/>
            <a:r>
              <a:rPr sz="3600" b="1" i="0">
                <a:solidFill>
                  <a:srgbClr val="FF8C42"/>
                </a:solidFill>
              </a:rPr>
              <a:t>25,000+</a:t>
            </a:r>
          </a:p>
        </p:txBody>
      </p:sp>
      <p:sp>
        <p:nvSpPr>
          <p:cNvPr id="10" name="TextBox 9"/>
          <p:cNvSpPr txBox="1"/>
          <p:nvPr/>
        </p:nvSpPr>
        <p:spPr>
          <a:xfrm>
            <a:off x="4447946" y="3035808"/>
            <a:ext cx="3295802" cy="868680"/>
          </a:xfrm>
          <a:prstGeom prst="rect">
            <a:avLst/>
          </a:prstGeom>
          <a:noFill/>
        </p:spPr>
        <p:txBody>
          <a:bodyPr wrap="square">
            <a:spAutoFit/>
          </a:bodyPr>
          <a:lstStyle/>
          <a:p>
            <a:pPr algn="ctr"/>
            <a:r>
              <a:rPr sz="1100" b="0" i="0">
                <a:solidFill>
                  <a:srgbClr val="8B9AB0"/>
                </a:solidFill>
              </a:rPr>
              <a:t>road injuries annually
from bad roads</a:t>
            </a:r>
          </a:p>
        </p:txBody>
      </p:sp>
      <p:sp>
        <p:nvSpPr>
          <p:cNvPr id="11" name="Rounded Rectangle 10"/>
          <p:cNvSpPr/>
          <p:nvPr/>
        </p:nvSpPr>
        <p:spPr>
          <a:xfrm>
            <a:off x="8109508" y="1847088"/>
            <a:ext cx="3624986" cy="226771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09508" y="2194560"/>
            <a:ext cx="3624986" cy="749808"/>
          </a:xfrm>
          <a:prstGeom prst="rect">
            <a:avLst/>
          </a:prstGeom>
          <a:noFill/>
        </p:spPr>
        <p:txBody>
          <a:bodyPr wrap="square">
            <a:spAutoFit/>
          </a:bodyPr>
          <a:lstStyle/>
          <a:p>
            <a:pPr algn="ctr"/>
            <a:r>
              <a:rPr sz="3600" b="1" i="0">
                <a:solidFill>
                  <a:srgbClr val="FFD166"/>
                </a:solidFill>
              </a:rPr>
              <a:t>months</a:t>
            </a:r>
          </a:p>
        </p:txBody>
      </p:sp>
      <p:sp>
        <p:nvSpPr>
          <p:cNvPr id="13" name="TextBox 12"/>
          <p:cNvSpPr txBox="1"/>
          <p:nvPr/>
        </p:nvSpPr>
        <p:spPr>
          <a:xfrm>
            <a:off x="8274100" y="3035808"/>
            <a:ext cx="3295802" cy="868680"/>
          </a:xfrm>
          <a:prstGeom prst="rect">
            <a:avLst/>
          </a:prstGeom>
          <a:noFill/>
        </p:spPr>
        <p:txBody>
          <a:bodyPr wrap="square">
            <a:spAutoFit/>
          </a:bodyPr>
          <a:lstStyle/>
          <a:p>
            <a:pPr algn="ctr"/>
            <a:r>
              <a:rPr sz="1100" b="0" i="0">
                <a:solidFill>
                  <a:srgbClr val="8B9AB0"/>
                </a:solidFill>
              </a:rPr>
              <a:t>average time a hazard
sits before repair</a:t>
            </a:r>
          </a:p>
        </p:txBody>
      </p:sp>
      <p:sp>
        <p:nvSpPr>
          <p:cNvPr id="14" name="TextBox 13"/>
          <p:cNvSpPr txBox="1"/>
          <p:nvPr/>
        </p:nvSpPr>
        <p:spPr>
          <a:xfrm>
            <a:off x="1371600" y="4315968"/>
            <a:ext cx="9448495" cy="475488"/>
          </a:xfrm>
          <a:prstGeom prst="rect">
            <a:avLst/>
          </a:prstGeom>
          <a:noFill/>
        </p:spPr>
        <p:txBody>
          <a:bodyPr wrap="square">
            <a:spAutoFit/>
          </a:bodyPr>
          <a:lstStyle/>
          <a:p>
            <a:pPr algn="ctr"/>
            <a:r>
              <a:rPr sz="1200" b="0" i="1">
                <a:solidFill>
                  <a:srgbClr val="8B9AB0"/>
                </a:solidFill>
              </a:rPr>
              <a:t>By the time someone opens a reporting app and files a hazard, the next hundred vehicles have already hit the same hole. Manual reporting cannot keep pace.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810"/>
        </a:solidFill>
        <a:effectLst/>
      </p:bgPr>
    </p:bg>
    <p:spTree>
      <p:nvGrpSpPr>
        <p:cNvPr id="1" name=""/>
        <p:cNvGrpSpPr/>
        <p:nvPr/>
      </p:nvGrpSpPr>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A5568"/>
                </a:solidFill>
              </a:rPr>
              <a:t>EXISTING SOLUTIONS</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Three approaches, three limitations</a:t>
            </a:r>
          </a:p>
        </p:txBody>
      </p:sp>
      <p:sp>
        <p:nvSpPr>
          <p:cNvPr id="4" name="TextBox 3"/>
          <p:cNvSpPr txBox="1"/>
          <p:nvPr/>
        </p:nvSpPr>
        <p:spPr>
          <a:xfrm>
            <a:off x="2743200" y="1335024"/>
            <a:ext cx="6705295" cy="438912"/>
          </a:xfrm>
          <a:prstGeom prst="rect">
            <a:avLst/>
          </a:prstGeom>
          <a:noFill/>
        </p:spPr>
        <p:txBody>
          <a:bodyPr wrap="square">
            <a:spAutoFit/>
          </a:bodyPr>
          <a:lstStyle/>
          <a:p>
            <a:pPr algn="ctr"/>
            <a:r>
              <a:rPr sz="1100" b="0" i="0">
                <a:solidFill>
                  <a:srgbClr val="8B9AB0"/>
                </a:solidFill>
              </a:rPr>
              <a:t>None verify a hazard across independent sources before alerting.</a:t>
            </a:r>
          </a:p>
        </p:txBody>
      </p:sp>
      <p:sp>
        <p:nvSpPr>
          <p:cNvPr id="5" name="Rectangle 4"/>
          <p:cNvSpPr/>
          <p:nvPr/>
        </p:nvSpPr>
        <p:spPr>
          <a:xfrm>
            <a:off x="563728" y="1847088"/>
            <a:ext cx="11064239" cy="457200"/>
          </a:xfrm>
          <a:prstGeom prst="rect">
            <a:avLst/>
          </a:prstGeom>
          <a:solidFill>
            <a:srgbClr val="081E38"/>
          </a:solidFill>
          <a:ln w="9525">
            <a:solidFill>
              <a:srgbClr val="101C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3456" y="1929384"/>
            <a:ext cx="2304288" cy="347472"/>
          </a:xfrm>
          <a:prstGeom prst="rect">
            <a:avLst/>
          </a:prstGeom>
          <a:noFill/>
        </p:spPr>
        <p:txBody>
          <a:bodyPr wrap="square">
            <a:spAutoFit/>
          </a:bodyPr>
          <a:lstStyle/>
          <a:p>
            <a:pPr algn="l"/>
            <a:r>
              <a:rPr sz="800" b="1" i="0">
                <a:solidFill>
                  <a:srgbClr val="4A5568"/>
                </a:solidFill>
              </a:rPr>
              <a:t>Approach</a:t>
            </a:r>
          </a:p>
        </p:txBody>
      </p:sp>
      <p:sp>
        <p:nvSpPr>
          <p:cNvPr id="7" name="TextBox 6"/>
          <p:cNvSpPr txBox="1"/>
          <p:nvPr/>
        </p:nvSpPr>
        <p:spPr>
          <a:xfrm>
            <a:off x="3142336" y="1929384"/>
            <a:ext cx="3584447" cy="347472"/>
          </a:xfrm>
          <a:prstGeom prst="rect">
            <a:avLst/>
          </a:prstGeom>
          <a:noFill/>
        </p:spPr>
        <p:txBody>
          <a:bodyPr wrap="square">
            <a:spAutoFit/>
          </a:bodyPr>
          <a:lstStyle/>
          <a:p>
            <a:pPr algn="l"/>
            <a:r>
              <a:rPr sz="800" b="1" i="0">
                <a:solidFill>
                  <a:srgbClr val="4A5568"/>
                </a:solidFill>
              </a:rPr>
              <a:t>How it works</a:t>
            </a:r>
          </a:p>
        </p:txBody>
      </p:sp>
      <p:sp>
        <p:nvSpPr>
          <p:cNvPr id="8" name="TextBox 7"/>
          <p:cNvSpPr txBox="1"/>
          <p:nvPr/>
        </p:nvSpPr>
        <p:spPr>
          <a:xfrm>
            <a:off x="6891375" y="1929384"/>
            <a:ext cx="4681728" cy="347472"/>
          </a:xfrm>
          <a:prstGeom prst="rect">
            <a:avLst/>
          </a:prstGeom>
          <a:noFill/>
        </p:spPr>
        <p:txBody>
          <a:bodyPr wrap="square">
            <a:spAutoFit/>
          </a:bodyPr>
          <a:lstStyle/>
          <a:p>
            <a:pPr algn="l"/>
            <a:r>
              <a:rPr sz="800" b="1" i="0">
                <a:solidFill>
                  <a:srgbClr val="4A5568"/>
                </a:solidFill>
              </a:rPr>
              <a:t>The gap</a:t>
            </a:r>
          </a:p>
        </p:txBody>
      </p:sp>
      <p:sp>
        <p:nvSpPr>
          <p:cNvPr id="9" name="Rectangle 8"/>
          <p:cNvSpPr/>
          <p:nvPr/>
        </p:nvSpPr>
        <p:spPr>
          <a:xfrm>
            <a:off x="563728" y="2368296"/>
            <a:ext cx="11064239" cy="457200"/>
          </a:xfrm>
          <a:prstGeom prst="rect">
            <a:avLst/>
          </a:prstGeom>
          <a:solidFill>
            <a:srgbClr val="0E162A"/>
          </a:solidFill>
          <a:ln w="9525">
            <a:solidFill>
              <a:srgbClr val="101C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3456" y="2450592"/>
            <a:ext cx="2304288" cy="347472"/>
          </a:xfrm>
          <a:prstGeom prst="rect">
            <a:avLst/>
          </a:prstGeom>
          <a:noFill/>
        </p:spPr>
        <p:txBody>
          <a:bodyPr wrap="square">
            <a:spAutoFit/>
          </a:bodyPr>
          <a:lstStyle/>
          <a:p>
            <a:pPr algn="l"/>
            <a:r>
              <a:rPr sz="1000" b="0" i="0">
                <a:solidFill>
                  <a:srgbClr val="F0F4FF"/>
                </a:solidFill>
              </a:rPr>
              <a:t>Manual apps  (Pothole Ratha, etc.)</a:t>
            </a:r>
          </a:p>
        </p:txBody>
      </p:sp>
      <p:sp>
        <p:nvSpPr>
          <p:cNvPr id="11" name="TextBox 10"/>
          <p:cNvSpPr txBox="1"/>
          <p:nvPr/>
        </p:nvSpPr>
        <p:spPr>
          <a:xfrm>
            <a:off x="3142336" y="2450592"/>
            <a:ext cx="3584447" cy="347472"/>
          </a:xfrm>
          <a:prstGeom prst="rect">
            <a:avLst/>
          </a:prstGeom>
          <a:noFill/>
        </p:spPr>
        <p:txBody>
          <a:bodyPr wrap="square">
            <a:spAutoFit/>
          </a:bodyPr>
          <a:lstStyle/>
          <a:p>
            <a:pPr algn="l"/>
            <a:r>
              <a:rPr sz="1000" b="0" i="0">
                <a:solidFill>
                  <a:srgbClr val="8B9AB0"/>
                </a:solidFill>
              </a:rPr>
              <a:t>User photographs and submits the hazard</a:t>
            </a:r>
          </a:p>
        </p:txBody>
      </p:sp>
      <p:sp>
        <p:nvSpPr>
          <p:cNvPr id="12" name="TextBox 11"/>
          <p:cNvSpPr txBox="1"/>
          <p:nvPr/>
        </p:nvSpPr>
        <p:spPr>
          <a:xfrm>
            <a:off x="6891375" y="2450592"/>
            <a:ext cx="4681728" cy="347472"/>
          </a:xfrm>
          <a:prstGeom prst="rect">
            <a:avLst/>
          </a:prstGeom>
          <a:noFill/>
        </p:spPr>
        <p:txBody>
          <a:bodyPr wrap="square">
            <a:spAutoFit/>
          </a:bodyPr>
          <a:lstStyle/>
          <a:p>
            <a:pPr algn="l"/>
            <a:r>
              <a:rPr sz="1000" b="0" i="0">
                <a:solidFill>
                  <a:srgbClr val="8B9AB0"/>
                </a:solidFill>
              </a:rPr>
              <a:t>Needs a human to notice, stop, and act — zero automation</a:t>
            </a:r>
          </a:p>
        </p:txBody>
      </p:sp>
      <p:sp>
        <p:nvSpPr>
          <p:cNvPr id="13" name="Rectangle 12"/>
          <p:cNvSpPr/>
          <p:nvPr/>
        </p:nvSpPr>
        <p:spPr>
          <a:xfrm>
            <a:off x="563728" y="2889504"/>
            <a:ext cx="11064239" cy="457200"/>
          </a:xfrm>
          <a:prstGeom prst="rect">
            <a:avLst/>
          </a:prstGeom>
          <a:solidFill>
            <a:srgbClr val="0E162A"/>
          </a:solidFill>
          <a:ln w="9525">
            <a:solidFill>
              <a:srgbClr val="101C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56" y="2971800"/>
            <a:ext cx="2304288" cy="347472"/>
          </a:xfrm>
          <a:prstGeom prst="rect">
            <a:avLst/>
          </a:prstGeom>
          <a:noFill/>
        </p:spPr>
        <p:txBody>
          <a:bodyPr wrap="square">
            <a:spAutoFit/>
          </a:bodyPr>
          <a:lstStyle/>
          <a:p>
            <a:pPr algn="l"/>
            <a:r>
              <a:rPr sz="1000" b="0" i="0">
                <a:solidFill>
                  <a:srgbClr val="F0F4FF"/>
                </a:solidFill>
              </a:rPr>
              <a:t>Phone accelerometer methods</a:t>
            </a:r>
          </a:p>
        </p:txBody>
      </p:sp>
      <p:sp>
        <p:nvSpPr>
          <p:cNvPr id="15" name="TextBox 14"/>
          <p:cNvSpPr txBox="1"/>
          <p:nvPr/>
        </p:nvSpPr>
        <p:spPr>
          <a:xfrm>
            <a:off x="3142336" y="2971800"/>
            <a:ext cx="3584447" cy="347472"/>
          </a:xfrm>
          <a:prstGeom prst="rect">
            <a:avLst/>
          </a:prstGeom>
          <a:noFill/>
        </p:spPr>
        <p:txBody>
          <a:bodyPr wrap="square">
            <a:spAutoFit/>
          </a:bodyPr>
          <a:lstStyle/>
          <a:p>
            <a:pPr algn="l"/>
            <a:r>
              <a:rPr sz="1000" b="0" i="0">
                <a:solidFill>
                  <a:srgbClr val="8B9AB0"/>
                </a:solidFill>
              </a:rPr>
              <a:t>Phone IMU detects a sudden bump while driving</a:t>
            </a:r>
          </a:p>
        </p:txBody>
      </p:sp>
      <p:sp>
        <p:nvSpPr>
          <p:cNvPr id="16" name="TextBox 15"/>
          <p:cNvSpPr txBox="1"/>
          <p:nvPr/>
        </p:nvSpPr>
        <p:spPr>
          <a:xfrm>
            <a:off x="6891375" y="2971800"/>
            <a:ext cx="4681728" cy="347472"/>
          </a:xfrm>
          <a:prstGeom prst="rect">
            <a:avLst/>
          </a:prstGeom>
          <a:noFill/>
        </p:spPr>
        <p:txBody>
          <a:bodyPr wrap="square">
            <a:spAutoFit/>
          </a:bodyPr>
          <a:lstStyle/>
          <a:p>
            <a:pPr algn="l"/>
            <a:r>
              <a:rPr sz="1000" b="0" i="0">
                <a:solidFill>
                  <a:srgbClr val="8B9AB0"/>
                </a:solidFill>
              </a:rPr>
              <a:t>Speed bumps, rail crossings, and rough braking all trigger false alerts</a:t>
            </a:r>
          </a:p>
        </p:txBody>
      </p:sp>
      <p:sp>
        <p:nvSpPr>
          <p:cNvPr id="17" name="Rectangle 16"/>
          <p:cNvSpPr/>
          <p:nvPr/>
        </p:nvSpPr>
        <p:spPr>
          <a:xfrm>
            <a:off x="563728" y="3410712"/>
            <a:ext cx="11064239" cy="457200"/>
          </a:xfrm>
          <a:prstGeom prst="rect">
            <a:avLst/>
          </a:prstGeom>
          <a:solidFill>
            <a:srgbClr val="0E162A"/>
          </a:solidFill>
          <a:ln w="9525">
            <a:solidFill>
              <a:srgbClr val="101C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3456" y="3493008"/>
            <a:ext cx="2304288" cy="347472"/>
          </a:xfrm>
          <a:prstGeom prst="rect">
            <a:avLst/>
          </a:prstGeom>
          <a:noFill/>
        </p:spPr>
        <p:txBody>
          <a:bodyPr wrap="square">
            <a:spAutoFit/>
          </a:bodyPr>
          <a:lstStyle/>
          <a:p>
            <a:pPr algn="l"/>
            <a:r>
              <a:rPr sz="1000" b="0" i="0">
                <a:solidFill>
                  <a:srgbClr val="F0F4FF"/>
                </a:solidFill>
              </a:rPr>
              <a:t>Municipal road surveys</a:t>
            </a:r>
          </a:p>
        </p:txBody>
      </p:sp>
      <p:sp>
        <p:nvSpPr>
          <p:cNvPr id="19" name="TextBox 18"/>
          <p:cNvSpPr txBox="1"/>
          <p:nvPr/>
        </p:nvSpPr>
        <p:spPr>
          <a:xfrm>
            <a:off x="3142336" y="3493008"/>
            <a:ext cx="3584447" cy="347472"/>
          </a:xfrm>
          <a:prstGeom prst="rect">
            <a:avLst/>
          </a:prstGeom>
          <a:noFill/>
        </p:spPr>
        <p:txBody>
          <a:bodyPr wrap="square">
            <a:spAutoFit/>
          </a:bodyPr>
          <a:lstStyle/>
          <a:p>
            <a:pPr algn="l"/>
            <a:r>
              <a:rPr sz="1000" b="0" i="0">
                <a:solidFill>
                  <a:srgbClr val="8B9AB0"/>
                </a:solidFill>
              </a:rPr>
              <a:t>Inspection crews drive marked routes periodically</a:t>
            </a:r>
          </a:p>
        </p:txBody>
      </p:sp>
      <p:sp>
        <p:nvSpPr>
          <p:cNvPr id="20" name="TextBox 19"/>
          <p:cNvSpPr txBox="1"/>
          <p:nvPr/>
        </p:nvSpPr>
        <p:spPr>
          <a:xfrm>
            <a:off x="6891375" y="3493008"/>
            <a:ext cx="4681728" cy="347472"/>
          </a:xfrm>
          <a:prstGeom prst="rect">
            <a:avLst/>
          </a:prstGeom>
          <a:noFill/>
        </p:spPr>
        <p:txBody>
          <a:bodyPr wrap="square">
            <a:spAutoFit/>
          </a:bodyPr>
          <a:lstStyle/>
          <a:p>
            <a:pPr algn="l"/>
            <a:r>
              <a:rPr sz="1000" b="0" i="0">
                <a:solidFill>
                  <a:srgbClr val="8B9AB0"/>
                </a:solidFill>
              </a:rPr>
              <a:t>A new pothole today won't appear in surveys for weeks</a:t>
            </a:r>
          </a:p>
        </p:txBody>
      </p:sp>
      <p:sp>
        <p:nvSpPr>
          <p:cNvPr id="21" name="Rectangle 20"/>
          <p:cNvSpPr/>
          <p:nvPr/>
        </p:nvSpPr>
        <p:spPr>
          <a:xfrm>
            <a:off x="563728" y="3931920"/>
            <a:ext cx="11064239" cy="457200"/>
          </a:xfrm>
          <a:prstGeom prst="rect">
            <a:avLst/>
          </a:prstGeom>
          <a:solidFill>
            <a:srgbClr val="0A1C36"/>
          </a:solidFill>
          <a:ln w="9525">
            <a:solidFill>
              <a:srgbClr val="1A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3456" y="4014216"/>
            <a:ext cx="2304288" cy="347472"/>
          </a:xfrm>
          <a:prstGeom prst="rect">
            <a:avLst/>
          </a:prstGeom>
          <a:noFill/>
        </p:spPr>
        <p:txBody>
          <a:bodyPr wrap="square">
            <a:spAutoFit/>
          </a:bodyPr>
          <a:lstStyle/>
          <a:p>
            <a:pPr algn="l"/>
            <a:r>
              <a:rPr sz="1000" b="0" i="0">
                <a:solidFill>
                  <a:srgbClr val="F0F4FF"/>
                </a:solidFill>
              </a:rPr>
              <a:t>Smart Road Hazard  (this project)</a:t>
            </a:r>
          </a:p>
        </p:txBody>
      </p:sp>
      <p:sp>
        <p:nvSpPr>
          <p:cNvPr id="23" name="TextBox 22"/>
          <p:cNvSpPr txBox="1"/>
          <p:nvPr/>
        </p:nvSpPr>
        <p:spPr>
          <a:xfrm>
            <a:off x="3142336" y="4014216"/>
            <a:ext cx="3584447" cy="347472"/>
          </a:xfrm>
          <a:prstGeom prst="rect">
            <a:avLst/>
          </a:prstGeom>
          <a:noFill/>
        </p:spPr>
        <p:txBody>
          <a:bodyPr wrap="square">
            <a:spAutoFit/>
          </a:bodyPr>
          <a:lstStyle/>
          <a:p>
            <a:pPr algn="l"/>
            <a:r>
              <a:rPr sz="1000" b="0" i="0">
                <a:solidFill>
                  <a:srgbClr val="8B9AB0"/>
                </a:solidFill>
              </a:rPr>
              <a:t>Ultrasonic sensor on each vehicle; Flask verification; live map</a:t>
            </a:r>
          </a:p>
        </p:txBody>
      </p:sp>
      <p:sp>
        <p:nvSpPr>
          <p:cNvPr id="24" name="TextBox 23"/>
          <p:cNvSpPr txBox="1"/>
          <p:nvPr/>
        </p:nvSpPr>
        <p:spPr>
          <a:xfrm>
            <a:off x="6891375" y="4014216"/>
            <a:ext cx="4681728" cy="347472"/>
          </a:xfrm>
          <a:prstGeom prst="rect">
            <a:avLst/>
          </a:prstGeom>
          <a:noFill/>
        </p:spPr>
        <p:txBody>
          <a:bodyPr wrap="square">
            <a:spAutoFit/>
          </a:bodyPr>
          <a:lstStyle/>
          <a:p>
            <a:pPr algn="l"/>
            <a:r>
              <a:rPr sz="1000" b="0" i="0">
                <a:solidFill>
                  <a:srgbClr val="4EA8DE"/>
                </a:solidFill>
              </a:rPr>
              <a:t>Automated, continuous, depth-graded, verified before any alert fires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810"/>
        </a:solidFill>
        <a:effectLst/>
      </p:bgPr>
    </p:bg>
    <p:spTree>
      <p:nvGrpSpPr>
        <p:cNvPr id="1" name=""/>
        <p:cNvGrpSpPr/>
        <p:nvPr/>
      </p:nvGrpSpPr>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A5568"/>
                </a:solidFill>
              </a:rPr>
              <a:t>SYSTEM OVERVIEW</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From sensor to screen in under 2 seconds</a:t>
            </a:r>
          </a:p>
        </p:txBody>
      </p:sp>
      <p:sp>
        <p:nvSpPr>
          <p:cNvPr id="4" name="TextBox 3"/>
          <p:cNvSpPr txBox="1"/>
          <p:nvPr/>
        </p:nvSpPr>
        <p:spPr>
          <a:xfrm>
            <a:off x="2103120" y="1335024"/>
            <a:ext cx="7985455" cy="438912"/>
          </a:xfrm>
          <a:prstGeom prst="rect">
            <a:avLst/>
          </a:prstGeom>
          <a:noFill/>
        </p:spPr>
        <p:txBody>
          <a:bodyPr wrap="square">
            <a:spAutoFit/>
          </a:bodyPr>
          <a:lstStyle/>
          <a:p>
            <a:pPr algn="ctr"/>
            <a:r>
              <a:rPr sz="1100" b="0" i="0">
                <a:solidFill>
                  <a:srgbClr val="8B9AB0"/>
                </a:solidFill>
              </a:rPr>
              <a:t>Five layers, each with a single job. The crowd-verification middle layer is what keeps false alerts out.</a:t>
            </a:r>
          </a:p>
        </p:txBody>
      </p:sp>
      <p:sp>
        <p:nvSpPr>
          <p:cNvPr id="5" name="Rounded Rectangle 4"/>
          <p:cNvSpPr/>
          <p:nvPr/>
        </p:nvSpPr>
        <p:spPr>
          <a:xfrm>
            <a:off x="457200" y="1847088"/>
            <a:ext cx="2094524" cy="2084831"/>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38528"/>
            <a:ext cx="1911644" cy="201168"/>
          </a:xfrm>
          <a:prstGeom prst="rect">
            <a:avLst/>
          </a:prstGeom>
          <a:noFill/>
        </p:spPr>
        <p:txBody>
          <a:bodyPr wrap="square">
            <a:spAutoFit/>
          </a:bodyPr>
          <a:lstStyle/>
          <a:p>
            <a:pPr algn="ctr"/>
            <a:r>
              <a:rPr sz="700" b="0" i="0">
                <a:solidFill>
                  <a:srgbClr val="4A5568"/>
                </a:solidFill>
              </a:rPr>
              <a:t>HARDWARE</a:t>
            </a:r>
          </a:p>
        </p:txBody>
      </p:sp>
      <p:sp>
        <p:nvSpPr>
          <p:cNvPr id="7" name="TextBox 6"/>
          <p:cNvSpPr txBox="1"/>
          <p:nvPr/>
        </p:nvSpPr>
        <p:spPr>
          <a:xfrm>
            <a:off x="548640" y="2176272"/>
            <a:ext cx="1911644" cy="347472"/>
          </a:xfrm>
          <a:prstGeom prst="rect">
            <a:avLst/>
          </a:prstGeom>
          <a:noFill/>
        </p:spPr>
        <p:txBody>
          <a:bodyPr wrap="square">
            <a:spAutoFit/>
          </a:bodyPr>
          <a:lstStyle/>
          <a:p>
            <a:pPr algn="ctr"/>
            <a:r>
              <a:rPr sz="1200" b="1" i="0">
                <a:solidFill>
                  <a:srgbClr val="F0F4FF"/>
                </a:solidFill>
              </a:rPr>
              <a:t>ESP32 + HC-SR04</a:t>
            </a:r>
          </a:p>
        </p:txBody>
      </p:sp>
      <p:sp>
        <p:nvSpPr>
          <p:cNvPr id="8" name="TextBox 7"/>
          <p:cNvSpPr txBox="1"/>
          <p:nvPr/>
        </p:nvSpPr>
        <p:spPr>
          <a:xfrm>
            <a:off x="548640" y="2596896"/>
            <a:ext cx="1911644" cy="1188720"/>
          </a:xfrm>
          <a:prstGeom prst="rect">
            <a:avLst/>
          </a:prstGeom>
          <a:noFill/>
        </p:spPr>
        <p:txBody>
          <a:bodyPr wrap="square">
            <a:spAutoFit/>
          </a:bodyPr>
          <a:lstStyle/>
          <a:p>
            <a:pPr algn="ctr"/>
            <a:r>
              <a:rPr sz="1000" b="0" i="0">
                <a:solidFill>
                  <a:srgbClr val="8B9AB0"/>
                </a:solidFill>
              </a:rPr>
              <a:t>Reads road surface
distance at 10 Hz</a:t>
            </a:r>
          </a:p>
        </p:txBody>
      </p:sp>
      <p:sp>
        <p:nvSpPr>
          <p:cNvPr id="9" name="TextBox 8"/>
          <p:cNvSpPr txBox="1"/>
          <p:nvPr/>
        </p:nvSpPr>
        <p:spPr>
          <a:xfrm>
            <a:off x="2588300" y="2779775"/>
            <a:ext cx="164592" cy="219456"/>
          </a:xfrm>
          <a:prstGeom prst="rect">
            <a:avLst/>
          </a:prstGeom>
          <a:noFill/>
        </p:spPr>
        <p:txBody>
          <a:bodyPr wrap="square">
            <a:spAutoFit/>
          </a:bodyPr>
          <a:lstStyle/>
          <a:p>
            <a:pPr algn="ctr"/>
            <a:r>
              <a:rPr sz="1200" b="0" i="0">
                <a:solidFill>
                  <a:srgbClr val="4A5568"/>
                </a:solidFill>
              </a:rPr>
              <a:t>→</a:t>
            </a:r>
          </a:p>
        </p:txBody>
      </p:sp>
      <p:sp>
        <p:nvSpPr>
          <p:cNvPr id="10" name="Rounded Rectangle 9"/>
          <p:cNvSpPr/>
          <p:nvPr/>
        </p:nvSpPr>
        <p:spPr>
          <a:xfrm>
            <a:off x="2752892" y="1847088"/>
            <a:ext cx="2094524" cy="2084831"/>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4332" y="1938528"/>
            <a:ext cx="1911644" cy="201168"/>
          </a:xfrm>
          <a:prstGeom prst="rect">
            <a:avLst/>
          </a:prstGeom>
          <a:noFill/>
        </p:spPr>
        <p:txBody>
          <a:bodyPr wrap="square">
            <a:spAutoFit/>
          </a:bodyPr>
          <a:lstStyle/>
          <a:p>
            <a:pPr algn="ctr"/>
            <a:r>
              <a:rPr sz="700" b="0" i="0">
                <a:solidFill>
                  <a:srgbClr val="4A5568"/>
                </a:solidFill>
              </a:rPr>
              <a:t>CLASSIFY</a:t>
            </a:r>
          </a:p>
        </p:txBody>
      </p:sp>
      <p:sp>
        <p:nvSpPr>
          <p:cNvPr id="12" name="TextBox 11"/>
          <p:cNvSpPr txBox="1"/>
          <p:nvPr/>
        </p:nvSpPr>
        <p:spPr>
          <a:xfrm>
            <a:off x="2844332" y="2176272"/>
            <a:ext cx="1911644" cy="347472"/>
          </a:xfrm>
          <a:prstGeom prst="rect">
            <a:avLst/>
          </a:prstGeom>
          <a:noFill/>
        </p:spPr>
        <p:txBody>
          <a:bodyPr wrap="square">
            <a:spAutoFit/>
          </a:bodyPr>
          <a:lstStyle/>
          <a:p>
            <a:pPr algn="ctr"/>
            <a:r>
              <a:rPr sz="1200" b="1" i="0">
                <a:solidFill>
                  <a:srgbClr val="F0F4FF"/>
                </a:solidFill>
              </a:rPr>
              <a:t>Depth grading</a:t>
            </a:r>
          </a:p>
        </p:txBody>
      </p:sp>
      <p:sp>
        <p:nvSpPr>
          <p:cNvPr id="13" name="TextBox 12"/>
          <p:cNvSpPr txBox="1"/>
          <p:nvPr/>
        </p:nvSpPr>
        <p:spPr>
          <a:xfrm>
            <a:off x="2844332" y="2596896"/>
            <a:ext cx="1911644" cy="1188720"/>
          </a:xfrm>
          <a:prstGeom prst="rect">
            <a:avLst/>
          </a:prstGeom>
          <a:noFill/>
        </p:spPr>
        <p:txBody>
          <a:bodyPr wrap="square">
            <a:spAutoFit/>
          </a:bodyPr>
          <a:lstStyle/>
          <a:p>
            <a:pPr algn="ctr"/>
            <a:r>
              <a:rPr sz="1000" b="0" i="0">
                <a:solidFill>
                  <a:srgbClr val="8B9AB0"/>
                </a:solidFill>
              </a:rPr>
              <a:t>Deep / Medium /
Shallow / Speedbreaker</a:t>
            </a:r>
          </a:p>
        </p:txBody>
      </p:sp>
      <p:sp>
        <p:nvSpPr>
          <p:cNvPr id="14" name="TextBox 13"/>
          <p:cNvSpPr txBox="1"/>
          <p:nvPr/>
        </p:nvSpPr>
        <p:spPr>
          <a:xfrm>
            <a:off x="4883993" y="2779775"/>
            <a:ext cx="164592" cy="219456"/>
          </a:xfrm>
          <a:prstGeom prst="rect">
            <a:avLst/>
          </a:prstGeom>
          <a:noFill/>
        </p:spPr>
        <p:txBody>
          <a:bodyPr wrap="square">
            <a:spAutoFit/>
          </a:bodyPr>
          <a:lstStyle/>
          <a:p>
            <a:pPr algn="ctr"/>
            <a:r>
              <a:rPr sz="1200" b="0" i="0">
                <a:solidFill>
                  <a:srgbClr val="4A5568"/>
                </a:solidFill>
              </a:rPr>
              <a:t>→</a:t>
            </a:r>
          </a:p>
        </p:txBody>
      </p:sp>
      <p:sp>
        <p:nvSpPr>
          <p:cNvPr id="15" name="Rounded Rectangle 14"/>
          <p:cNvSpPr/>
          <p:nvPr/>
        </p:nvSpPr>
        <p:spPr>
          <a:xfrm>
            <a:off x="5048585" y="1847088"/>
            <a:ext cx="2094524" cy="2084831"/>
          </a:xfrm>
          <a:prstGeom prst="roundRect">
            <a:avLst/>
          </a:prstGeom>
          <a:solidFill>
            <a:srgbClr val="081E38"/>
          </a:solidFill>
          <a:ln w="9525">
            <a:solidFill>
              <a:srgbClr val="4EA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40025" y="1938528"/>
            <a:ext cx="1911644" cy="201168"/>
          </a:xfrm>
          <a:prstGeom prst="rect">
            <a:avLst/>
          </a:prstGeom>
          <a:noFill/>
        </p:spPr>
        <p:txBody>
          <a:bodyPr wrap="square">
            <a:spAutoFit/>
          </a:bodyPr>
          <a:lstStyle/>
          <a:p>
            <a:pPr algn="ctr"/>
            <a:r>
              <a:rPr sz="700" b="0" i="0">
                <a:solidFill>
                  <a:srgbClr val="4EA8DE"/>
                </a:solidFill>
              </a:rPr>
              <a:t>VERIFY</a:t>
            </a:r>
          </a:p>
        </p:txBody>
      </p:sp>
      <p:sp>
        <p:nvSpPr>
          <p:cNvPr id="17" name="TextBox 16"/>
          <p:cNvSpPr txBox="1"/>
          <p:nvPr/>
        </p:nvSpPr>
        <p:spPr>
          <a:xfrm>
            <a:off x="5140025" y="2176272"/>
            <a:ext cx="1911644" cy="347472"/>
          </a:xfrm>
          <a:prstGeom prst="rect">
            <a:avLst/>
          </a:prstGeom>
          <a:noFill/>
        </p:spPr>
        <p:txBody>
          <a:bodyPr wrap="square">
            <a:spAutoFit/>
          </a:bodyPr>
          <a:lstStyle/>
          <a:p>
            <a:pPr algn="ctr"/>
            <a:r>
              <a:rPr sz="1200" b="1" i="0">
                <a:solidFill>
                  <a:srgbClr val="F0F4FF"/>
                </a:solidFill>
              </a:rPr>
              <a:t>Crowd logic</a:t>
            </a:r>
          </a:p>
        </p:txBody>
      </p:sp>
      <p:sp>
        <p:nvSpPr>
          <p:cNvPr id="18" name="TextBox 17"/>
          <p:cNvSpPr txBox="1"/>
          <p:nvPr/>
        </p:nvSpPr>
        <p:spPr>
          <a:xfrm>
            <a:off x="5140025" y="2596896"/>
            <a:ext cx="1911644" cy="1188720"/>
          </a:xfrm>
          <a:prstGeom prst="rect">
            <a:avLst/>
          </a:prstGeom>
          <a:noFill/>
        </p:spPr>
        <p:txBody>
          <a:bodyPr wrap="square">
            <a:spAutoFit/>
          </a:bodyPr>
          <a:lstStyle/>
          <a:p>
            <a:pPr algn="ctr"/>
            <a:r>
              <a:rPr sz="1000" b="0" i="0">
                <a:solidFill>
                  <a:srgbClr val="8B9AB0"/>
                </a:solidFill>
              </a:rPr>
              <a:t>3 detections within
15 m → confirmed</a:t>
            </a:r>
          </a:p>
        </p:txBody>
      </p:sp>
      <p:sp>
        <p:nvSpPr>
          <p:cNvPr id="19" name="TextBox 18"/>
          <p:cNvSpPr txBox="1"/>
          <p:nvPr/>
        </p:nvSpPr>
        <p:spPr>
          <a:xfrm>
            <a:off x="7179685" y="2779775"/>
            <a:ext cx="164592" cy="219456"/>
          </a:xfrm>
          <a:prstGeom prst="rect">
            <a:avLst/>
          </a:prstGeom>
          <a:noFill/>
        </p:spPr>
        <p:txBody>
          <a:bodyPr wrap="square">
            <a:spAutoFit/>
          </a:bodyPr>
          <a:lstStyle/>
          <a:p>
            <a:pPr algn="ctr"/>
            <a:r>
              <a:rPr sz="1200" b="0" i="0">
                <a:solidFill>
                  <a:srgbClr val="4A5568"/>
                </a:solidFill>
              </a:rPr>
              <a:t>→</a:t>
            </a:r>
          </a:p>
        </p:txBody>
      </p:sp>
      <p:sp>
        <p:nvSpPr>
          <p:cNvPr id="20" name="Rounded Rectangle 19"/>
          <p:cNvSpPr/>
          <p:nvPr/>
        </p:nvSpPr>
        <p:spPr>
          <a:xfrm>
            <a:off x="7344277" y="1847088"/>
            <a:ext cx="2094524" cy="2084831"/>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35717" y="1938528"/>
            <a:ext cx="1911644" cy="201168"/>
          </a:xfrm>
          <a:prstGeom prst="rect">
            <a:avLst/>
          </a:prstGeom>
          <a:noFill/>
        </p:spPr>
        <p:txBody>
          <a:bodyPr wrap="square">
            <a:spAutoFit/>
          </a:bodyPr>
          <a:lstStyle/>
          <a:p>
            <a:pPr algn="ctr"/>
            <a:r>
              <a:rPr sz="700" b="0" i="0">
                <a:solidFill>
                  <a:srgbClr val="4A5568"/>
                </a:solidFill>
              </a:rPr>
              <a:t>SYNC</a:t>
            </a:r>
          </a:p>
        </p:txBody>
      </p:sp>
      <p:sp>
        <p:nvSpPr>
          <p:cNvPr id="22" name="TextBox 21"/>
          <p:cNvSpPr txBox="1"/>
          <p:nvPr/>
        </p:nvSpPr>
        <p:spPr>
          <a:xfrm>
            <a:off x="7435717" y="2176272"/>
            <a:ext cx="1911644" cy="347472"/>
          </a:xfrm>
          <a:prstGeom prst="rect">
            <a:avLst/>
          </a:prstGeom>
          <a:noFill/>
        </p:spPr>
        <p:txBody>
          <a:bodyPr wrap="square">
            <a:spAutoFit/>
          </a:bodyPr>
          <a:lstStyle/>
          <a:p>
            <a:pPr algn="ctr"/>
            <a:r>
              <a:rPr sz="1200" b="1" i="0">
                <a:solidFill>
                  <a:srgbClr val="F0F4FF"/>
                </a:solidFill>
              </a:rPr>
              <a:t>Firebase RTDB</a:t>
            </a:r>
          </a:p>
        </p:txBody>
      </p:sp>
      <p:sp>
        <p:nvSpPr>
          <p:cNvPr id="23" name="TextBox 22"/>
          <p:cNvSpPr txBox="1"/>
          <p:nvPr/>
        </p:nvSpPr>
        <p:spPr>
          <a:xfrm>
            <a:off x="7435717" y="2596896"/>
            <a:ext cx="1911644" cy="1188720"/>
          </a:xfrm>
          <a:prstGeom prst="rect">
            <a:avLst/>
          </a:prstGeom>
          <a:noFill/>
        </p:spPr>
        <p:txBody>
          <a:bodyPr wrap="square">
            <a:spAutoFit/>
          </a:bodyPr>
          <a:lstStyle/>
          <a:p>
            <a:pPr algn="ctr"/>
            <a:r>
              <a:rPr sz="1000" b="0" i="0">
                <a:solidFill>
                  <a:srgbClr val="8B9AB0"/>
                </a:solidFill>
              </a:rPr>
              <a:t>Instant push to all
connected clients</a:t>
            </a:r>
          </a:p>
        </p:txBody>
      </p:sp>
      <p:sp>
        <p:nvSpPr>
          <p:cNvPr id="24" name="TextBox 23"/>
          <p:cNvSpPr txBox="1"/>
          <p:nvPr/>
        </p:nvSpPr>
        <p:spPr>
          <a:xfrm>
            <a:off x="9475378" y="2779775"/>
            <a:ext cx="164592" cy="219456"/>
          </a:xfrm>
          <a:prstGeom prst="rect">
            <a:avLst/>
          </a:prstGeom>
          <a:noFill/>
        </p:spPr>
        <p:txBody>
          <a:bodyPr wrap="square">
            <a:spAutoFit/>
          </a:bodyPr>
          <a:lstStyle/>
          <a:p>
            <a:pPr algn="ctr"/>
            <a:r>
              <a:rPr sz="1200" b="0" i="0">
                <a:solidFill>
                  <a:srgbClr val="4A5568"/>
                </a:solidFill>
              </a:rPr>
              <a:t>→</a:t>
            </a:r>
          </a:p>
        </p:txBody>
      </p:sp>
      <p:sp>
        <p:nvSpPr>
          <p:cNvPr id="25" name="Rounded Rectangle 24"/>
          <p:cNvSpPr/>
          <p:nvPr/>
        </p:nvSpPr>
        <p:spPr>
          <a:xfrm>
            <a:off x="9639970" y="1847088"/>
            <a:ext cx="2094524" cy="2084831"/>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31410" y="1938528"/>
            <a:ext cx="1911644" cy="201168"/>
          </a:xfrm>
          <a:prstGeom prst="rect">
            <a:avLst/>
          </a:prstGeom>
          <a:noFill/>
        </p:spPr>
        <p:txBody>
          <a:bodyPr wrap="square">
            <a:spAutoFit/>
          </a:bodyPr>
          <a:lstStyle/>
          <a:p>
            <a:pPr algn="ctr"/>
            <a:r>
              <a:rPr sz="700" b="0" i="0">
                <a:solidFill>
                  <a:srgbClr val="4A5568"/>
                </a:solidFill>
              </a:rPr>
              <a:t>DISPLAY</a:t>
            </a:r>
          </a:p>
        </p:txBody>
      </p:sp>
      <p:sp>
        <p:nvSpPr>
          <p:cNvPr id="27" name="TextBox 26"/>
          <p:cNvSpPr txBox="1"/>
          <p:nvPr/>
        </p:nvSpPr>
        <p:spPr>
          <a:xfrm>
            <a:off x="9731410" y="2176272"/>
            <a:ext cx="1911644" cy="347472"/>
          </a:xfrm>
          <a:prstGeom prst="rect">
            <a:avLst/>
          </a:prstGeom>
          <a:noFill/>
        </p:spPr>
        <p:txBody>
          <a:bodyPr wrap="square">
            <a:spAutoFit/>
          </a:bodyPr>
          <a:lstStyle/>
          <a:p>
            <a:pPr algn="ctr"/>
            <a:r>
              <a:rPr sz="1200" b="1" i="0">
                <a:solidFill>
                  <a:srgbClr val="F0F4FF"/>
                </a:solidFill>
              </a:rPr>
              <a:t>Leaflet map</a:t>
            </a:r>
          </a:p>
        </p:txBody>
      </p:sp>
      <p:sp>
        <p:nvSpPr>
          <p:cNvPr id="28" name="TextBox 27"/>
          <p:cNvSpPr txBox="1"/>
          <p:nvPr/>
        </p:nvSpPr>
        <p:spPr>
          <a:xfrm>
            <a:off x="9731410" y="2596896"/>
            <a:ext cx="1911644" cy="1188720"/>
          </a:xfrm>
          <a:prstGeom prst="rect">
            <a:avLst/>
          </a:prstGeom>
          <a:noFill/>
        </p:spPr>
        <p:txBody>
          <a:bodyPr wrap="square">
            <a:spAutoFit/>
          </a:bodyPr>
          <a:lstStyle/>
          <a:p>
            <a:pPr algn="ctr"/>
            <a:r>
              <a:rPr sz="1000" b="0" i="0">
                <a:solidFill>
                  <a:srgbClr val="8B9AB0"/>
                </a:solidFill>
              </a:rPr>
              <a:t>Color-coded markers
+ alert bar</a:t>
            </a:r>
          </a:p>
        </p:txBody>
      </p:sp>
      <p:sp>
        <p:nvSpPr>
          <p:cNvPr id="29" name="Rounded Rectangle 28"/>
          <p:cNvSpPr/>
          <p:nvPr/>
        </p:nvSpPr>
        <p:spPr>
          <a:xfrm>
            <a:off x="-58064" y="4133087"/>
            <a:ext cx="1664208" cy="274320"/>
          </a:xfrm>
          <a:prstGeom prst="roundRect">
            <a:avLst/>
          </a:prstGeom>
          <a:solidFill>
            <a:srgbClr val="05182A"/>
          </a:solidFill>
          <a:ln w="9525">
            <a:solidFill>
              <a:srgbClr val="1A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44" y="4178807"/>
            <a:ext cx="1572768" cy="201168"/>
          </a:xfrm>
          <a:prstGeom prst="rect">
            <a:avLst/>
          </a:prstGeom>
          <a:noFill/>
        </p:spPr>
        <p:txBody>
          <a:bodyPr wrap="square">
            <a:spAutoFit/>
          </a:bodyPr>
          <a:lstStyle/>
          <a:p>
            <a:pPr algn="ctr"/>
            <a:r>
              <a:rPr sz="800" b="0" i="0">
                <a:solidFill>
                  <a:srgbClr val="4EA8DE"/>
                </a:solidFill>
              </a:rPr>
              <a:t>Flask REST API</a:t>
            </a:r>
          </a:p>
        </p:txBody>
      </p:sp>
      <p:sp>
        <p:nvSpPr>
          <p:cNvPr id="31" name="Rounded Rectangle 30"/>
          <p:cNvSpPr/>
          <p:nvPr/>
        </p:nvSpPr>
        <p:spPr>
          <a:xfrm>
            <a:off x="1715871" y="4133087"/>
            <a:ext cx="1664208" cy="274320"/>
          </a:xfrm>
          <a:prstGeom prst="roundRect">
            <a:avLst/>
          </a:prstGeom>
          <a:solidFill>
            <a:srgbClr val="05182A"/>
          </a:solidFill>
          <a:ln w="9525">
            <a:solidFill>
              <a:srgbClr val="1A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761591" y="4178807"/>
            <a:ext cx="1572768" cy="201168"/>
          </a:xfrm>
          <a:prstGeom prst="rect">
            <a:avLst/>
          </a:prstGeom>
          <a:noFill/>
        </p:spPr>
        <p:txBody>
          <a:bodyPr wrap="square">
            <a:spAutoFit/>
          </a:bodyPr>
          <a:lstStyle/>
          <a:p>
            <a:pPr algn="ctr"/>
            <a:r>
              <a:rPr sz="800" b="0" i="0">
                <a:solidFill>
                  <a:srgbClr val="4EA8DE"/>
                </a:solidFill>
              </a:rPr>
              <a:t>Firebase RTDB</a:t>
            </a:r>
          </a:p>
        </p:txBody>
      </p:sp>
      <p:sp>
        <p:nvSpPr>
          <p:cNvPr id="33" name="Rounded Rectangle 32"/>
          <p:cNvSpPr/>
          <p:nvPr/>
        </p:nvSpPr>
        <p:spPr>
          <a:xfrm>
            <a:off x="3489807" y="4133087"/>
            <a:ext cx="1664208" cy="274320"/>
          </a:xfrm>
          <a:prstGeom prst="roundRect">
            <a:avLst/>
          </a:prstGeom>
          <a:solidFill>
            <a:srgbClr val="05182A"/>
          </a:solidFill>
          <a:ln w="9525">
            <a:solidFill>
              <a:srgbClr val="1A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35527" y="4178807"/>
            <a:ext cx="1572768" cy="201168"/>
          </a:xfrm>
          <a:prstGeom prst="rect">
            <a:avLst/>
          </a:prstGeom>
          <a:noFill/>
        </p:spPr>
        <p:txBody>
          <a:bodyPr wrap="square">
            <a:spAutoFit/>
          </a:bodyPr>
          <a:lstStyle/>
          <a:p>
            <a:pPr algn="ctr"/>
            <a:r>
              <a:rPr sz="800" b="0" i="0">
                <a:solidFill>
                  <a:srgbClr val="4EA8DE"/>
                </a:solidFill>
              </a:rPr>
              <a:t>Leaflet.js + OSM</a:t>
            </a:r>
          </a:p>
        </p:txBody>
      </p:sp>
      <p:sp>
        <p:nvSpPr>
          <p:cNvPr id="35" name="Rounded Rectangle 34"/>
          <p:cNvSpPr/>
          <p:nvPr/>
        </p:nvSpPr>
        <p:spPr>
          <a:xfrm>
            <a:off x="5263743" y="4133087"/>
            <a:ext cx="1664208" cy="27432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09463" y="4178807"/>
            <a:ext cx="1572768" cy="201168"/>
          </a:xfrm>
          <a:prstGeom prst="rect">
            <a:avLst/>
          </a:prstGeom>
          <a:noFill/>
        </p:spPr>
        <p:txBody>
          <a:bodyPr wrap="square">
            <a:spAutoFit/>
          </a:bodyPr>
          <a:lstStyle/>
          <a:p>
            <a:pPr algn="ctr"/>
            <a:r>
              <a:rPr sz="800" b="0" i="0">
                <a:solidFill>
                  <a:srgbClr val="4A5568"/>
                </a:solidFill>
              </a:rPr>
              <a:t>ESP32 C++</a:t>
            </a:r>
          </a:p>
        </p:txBody>
      </p:sp>
      <p:sp>
        <p:nvSpPr>
          <p:cNvPr id="37" name="Rounded Rectangle 36"/>
          <p:cNvSpPr/>
          <p:nvPr/>
        </p:nvSpPr>
        <p:spPr>
          <a:xfrm>
            <a:off x="7037679" y="4133087"/>
            <a:ext cx="1664208" cy="27432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83399" y="4178807"/>
            <a:ext cx="1572768" cy="201168"/>
          </a:xfrm>
          <a:prstGeom prst="rect">
            <a:avLst/>
          </a:prstGeom>
          <a:noFill/>
        </p:spPr>
        <p:txBody>
          <a:bodyPr wrap="square">
            <a:spAutoFit/>
          </a:bodyPr>
          <a:lstStyle/>
          <a:p>
            <a:pPr algn="ctr"/>
            <a:r>
              <a:rPr sz="800" b="0" i="0">
                <a:solidFill>
                  <a:srgbClr val="4A5568"/>
                </a:solidFill>
              </a:rPr>
              <a:t>SQLite</a:t>
            </a:r>
          </a:p>
        </p:txBody>
      </p:sp>
      <p:sp>
        <p:nvSpPr>
          <p:cNvPr id="39" name="Rounded Rectangle 38"/>
          <p:cNvSpPr/>
          <p:nvPr/>
        </p:nvSpPr>
        <p:spPr>
          <a:xfrm>
            <a:off x="8811615" y="4133087"/>
            <a:ext cx="1664208" cy="27432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57335" y="4178807"/>
            <a:ext cx="1572768" cy="201168"/>
          </a:xfrm>
          <a:prstGeom prst="rect">
            <a:avLst/>
          </a:prstGeom>
          <a:noFill/>
        </p:spPr>
        <p:txBody>
          <a:bodyPr wrap="square">
            <a:spAutoFit/>
          </a:bodyPr>
          <a:lstStyle/>
          <a:p>
            <a:pPr algn="ctr"/>
            <a:r>
              <a:rPr sz="800" b="0" i="0">
                <a:solidFill>
                  <a:srgbClr val="4A5568"/>
                </a:solidFill>
              </a:rPr>
              <a:t>Vercel + Render</a:t>
            </a:r>
          </a:p>
        </p:txBody>
      </p:sp>
      <p:sp>
        <p:nvSpPr>
          <p:cNvPr id="41" name="Rounded Rectangle 40"/>
          <p:cNvSpPr/>
          <p:nvPr/>
        </p:nvSpPr>
        <p:spPr>
          <a:xfrm>
            <a:off x="10585551" y="4133087"/>
            <a:ext cx="1664208" cy="27432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631271" y="4178807"/>
            <a:ext cx="1572768" cy="201168"/>
          </a:xfrm>
          <a:prstGeom prst="rect">
            <a:avLst/>
          </a:prstGeom>
          <a:noFill/>
        </p:spPr>
        <p:txBody>
          <a:bodyPr wrap="square">
            <a:spAutoFit/>
          </a:bodyPr>
          <a:lstStyle/>
          <a:p>
            <a:pPr algn="ctr"/>
            <a:r>
              <a:rPr sz="800" b="0" i="0">
                <a:solidFill>
                  <a:srgbClr val="4A5568"/>
                </a:solidFill>
              </a:rPr>
              <a:t>Wokwi sim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810"/>
        </a:solidFill>
        <a:effectLst/>
      </p:bgPr>
    </p:bg>
    <p:spTree>
      <p:nvGrpSpPr>
        <p:cNvPr id="1" name=""/>
        <p:cNvGrpSpPr/>
        <p:nvPr/>
      </p:nvGrpSpPr>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A5568"/>
                </a:solidFill>
              </a:rPr>
              <a:t>WHAT MAKES IT DIFFERENT</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Three decisions that actually matter</a:t>
            </a:r>
          </a:p>
        </p:txBody>
      </p:sp>
      <p:sp>
        <p:nvSpPr>
          <p:cNvPr id="4" name="Rounded Rectangle 3"/>
          <p:cNvSpPr/>
          <p:nvPr/>
        </p:nvSpPr>
        <p:spPr>
          <a:xfrm>
            <a:off x="457200" y="1847088"/>
            <a:ext cx="3624986" cy="448056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956816"/>
            <a:ext cx="502920" cy="566928"/>
          </a:xfrm>
          <a:prstGeom prst="rect">
            <a:avLst/>
          </a:prstGeom>
          <a:noFill/>
        </p:spPr>
        <p:txBody>
          <a:bodyPr wrap="square">
            <a:spAutoFit/>
          </a:bodyPr>
          <a:lstStyle/>
          <a:p>
            <a:pPr algn="l"/>
            <a:r>
              <a:rPr sz="3000" b="1" i="0">
                <a:solidFill>
                  <a:srgbClr val="4A5568"/>
                </a:solidFill>
              </a:rPr>
              <a:t>01</a:t>
            </a:r>
          </a:p>
        </p:txBody>
      </p:sp>
      <p:sp>
        <p:nvSpPr>
          <p:cNvPr id="6" name="TextBox 5"/>
          <p:cNvSpPr txBox="1"/>
          <p:nvPr/>
        </p:nvSpPr>
        <p:spPr>
          <a:xfrm>
            <a:off x="621792" y="2560320"/>
            <a:ext cx="3295802" cy="347472"/>
          </a:xfrm>
          <a:prstGeom prst="rect">
            <a:avLst/>
          </a:prstGeom>
          <a:noFill/>
        </p:spPr>
        <p:txBody>
          <a:bodyPr wrap="square">
            <a:spAutoFit/>
          </a:bodyPr>
          <a:lstStyle/>
          <a:p>
            <a:pPr algn="l"/>
            <a:r>
              <a:rPr sz="1300" b="1" i="0">
                <a:solidFill>
                  <a:srgbClr val="4EA8DE"/>
                </a:solidFill>
              </a:rPr>
              <a:t>Depth classification</a:t>
            </a:r>
          </a:p>
        </p:txBody>
      </p:sp>
      <p:sp>
        <p:nvSpPr>
          <p:cNvPr id="7" name="TextBox 6"/>
          <p:cNvSpPr txBox="1"/>
          <p:nvPr/>
        </p:nvSpPr>
        <p:spPr>
          <a:xfrm>
            <a:off x="621792" y="2962656"/>
            <a:ext cx="3295802" cy="3273552"/>
          </a:xfrm>
          <a:prstGeom prst="rect">
            <a:avLst/>
          </a:prstGeom>
          <a:noFill/>
        </p:spPr>
        <p:txBody>
          <a:bodyPr wrap="square">
            <a:spAutoFit/>
          </a:bodyPr>
          <a:lstStyle/>
          <a:p>
            <a:pPr algn="l"/>
            <a:r>
              <a:rPr sz="1000" b="0" i="0">
                <a:solidFill>
                  <a:srgbClr val="8B9AB0"/>
                </a:solidFill>
              </a:rPr>
              <a:t>The sensor measures how far the road surface drops against a rolling 10-reading baseline. Delta above 25 cm = deep pothole. 8-15 cm = speedbreaker. Objective depth — not a user guess.
Why it matters: repairs can be prioritised by severity, not just location.</a:t>
            </a:r>
          </a:p>
        </p:txBody>
      </p:sp>
      <p:sp>
        <p:nvSpPr>
          <p:cNvPr id="8" name="Rounded Rectangle 7"/>
          <p:cNvSpPr/>
          <p:nvPr/>
        </p:nvSpPr>
        <p:spPr>
          <a:xfrm>
            <a:off x="4283354" y="1847088"/>
            <a:ext cx="3624986" cy="448056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47946" y="1956816"/>
            <a:ext cx="502920" cy="566928"/>
          </a:xfrm>
          <a:prstGeom prst="rect">
            <a:avLst/>
          </a:prstGeom>
          <a:noFill/>
        </p:spPr>
        <p:txBody>
          <a:bodyPr wrap="square">
            <a:spAutoFit/>
          </a:bodyPr>
          <a:lstStyle/>
          <a:p>
            <a:pPr algn="l"/>
            <a:r>
              <a:rPr sz="3000" b="1" i="0">
                <a:solidFill>
                  <a:srgbClr val="4A5568"/>
                </a:solidFill>
              </a:rPr>
              <a:t>02</a:t>
            </a:r>
          </a:p>
        </p:txBody>
      </p:sp>
      <p:sp>
        <p:nvSpPr>
          <p:cNvPr id="10" name="TextBox 9"/>
          <p:cNvSpPr txBox="1"/>
          <p:nvPr/>
        </p:nvSpPr>
        <p:spPr>
          <a:xfrm>
            <a:off x="4447946" y="2560320"/>
            <a:ext cx="3295802" cy="347472"/>
          </a:xfrm>
          <a:prstGeom prst="rect">
            <a:avLst/>
          </a:prstGeom>
          <a:noFill/>
        </p:spPr>
        <p:txBody>
          <a:bodyPr wrap="square">
            <a:spAutoFit/>
          </a:bodyPr>
          <a:lstStyle/>
          <a:p>
            <a:pPr algn="l"/>
            <a:r>
              <a:rPr sz="1300" b="1" i="0">
                <a:solidFill>
                  <a:srgbClr val="FF8C42"/>
                </a:solidFill>
              </a:rPr>
              <a:t>Crowd verification</a:t>
            </a:r>
          </a:p>
        </p:txBody>
      </p:sp>
      <p:sp>
        <p:nvSpPr>
          <p:cNvPr id="11" name="TextBox 10"/>
          <p:cNvSpPr txBox="1"/>
          <p:nvPr/>
        </p:nvSpPr>
        <p:spPr>
          <a:xfrm>
            <a:off x="4447946" y="2962656"/>
            <a:ext cx="3295802" cy="3273552"/>
          </a:xfrm>
          <a:prstGeom prst="rect">
            <a:avLst/>
          </a:prstGeom>
          <a:noFill/>
        </p:spPr>
        <p:txBody>
          <a:bodyPr wrap="square">
            <a:spAutoFit/>
          </a:bodyPr>
          <a:lstStyle/>
          <a:p>
            <a:pPr algn="l"/>
            <a:r>
              <a:rPr sz="1000" b="0" i="0">
                <a:solidFill>
                  <a:srgbClr val="8B9AB0"/>
                </a:solidFill>
              </a:rPr>
              <a:t>A hazard only gets published after 3 independent vehicles detect it within a 15-metre radius (Haversine formula). One vehicle hitting a bump does not trigger alerts. Three independent detections does. The system self-validates.
Why it matters: alert fatigue is why drivers stop trusting hazard apps.</a:t>
            </a:r>
          </a:p>
        </p:txBody>
      </p:sp>
      <p:sp>
        <p:nvSpPr>
          <p:cNvPr id="12" name="Rounded Rectangle 11"/>
          <p:cNvSpPr/>
          <p:nvPr/>
        </p:nvSpPr>
        <p:spPr>
          <a:xfrm>
            <a:off x="8109508" y="1847088"/>
            <a:ext cx="3624986" cy="448056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4100" y="1956816"/>
            <a:ext cx="502920" cy="566928"/>
          </a:xfrm>
          <a:prstGeom prst="rect">
            <a:avLst/>
          </a:prstGeom>
          <a:noFill/>
        </p:spPr>
        <p:txBody>
          <a:bodyPr wrap="square">
            <a:spAutoFit/>
          </a:bodyPr>
          <a:lstStyle/>
          <a:p>
            <a:pPr algn="l"/>
            <a:r>
              <a:rPr sz="3000" b="1" i="0">
                <a:solidFill>
                  <a:srgbClr val="4A5568"/>
                </a:solidFill>
              </a:rPr>
              <a:t>03</a:t>
            </a:r>
          </a:p>
        </p:txBody>
      </p:sp>
      <p:sp>
        <p:nvSpPr>
          <p:cNvPr id="14" name="TextBox 13"/>
          <p:cNvSpPr txBox="1"/>
          <p:nvPr/>
        </p:nvSpPr>
        <p:spPr>
          <a:xfrm>
            <a:off x="8274100" y="2560320"/>
            <a:ext cx="3295802" cy="347472"/>
          </a:xfrm>
          <a:prstGeom prst="rect">
            <a:avLst/>
          </a:prstGeom>
          <a:noFill/>
        </p:spPr>
        <p:txBody>
          <a:bodyPr wrap="square">
            <a:spAutoFit/>
          </a:bodyPr>
          <a:lstStyle/>
          <a:p>
            <a:pPr algn="l"/>
            <a:r>
              <a:rPr sz="1300" b="1" i="0">
                <a:solidFill>
                  <a:srgbClr val="FFD166"/>
                </a:solidFill>
              </a:rPr>
              <a:t>Shadow alerts</a:t>
            </a:r>
          </a:p>
        </p:txBody>
      </p:sp>
      <p:sp>
        <p:nvSpPr>
          <p:cNvPr id="15" name="TextBox 14"/>
          <p:cNvSpPr txBox="1"/>
          <p:nvPr/>
        </p:nvSpPr>
        <p:spPr>
          <a:xfrm>
            <a:off x="8274100" y="2962656"/>
            <a:ext cx="3295802" cy="3273552"/>
          </a:xfrm>
          <a:prstGeom prst="rect">
            <a:avLst/>
          </a:prstGeom>
          <a:noFill/>
        </p:spPr>
        <p:txBody>
          <a:bodyPr wrap="square">
            <a:spAutoFit/>
          </a:bodyPr>
          <a:lstStyle/>
          <a:p>
            <a:pPr algn="l"/>
            <a:r>
              <a:rPr sz="1000" b="0" i="0">
                <a:solidFill>
                  <a:srgbClr val="8B9AB0"/>
                </a:solidFill>
              </a:rPr>
              <a:t>When a medium or deep pothole is verified, the dashboard fires a warning banner that auto-dismisses in 5 seconds. Specifically helps drivers behind trucks and buses who cannot see the road surface ahead of them.
Why it matters: the most dangerous potholes are the ones you can't see coming.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810"/>
        </a:solidFill>
        <a:effectLst/>
      </p:bgPr>
    </p:bg>
    <p:spTree>
      <p:nvGrpSpPr>
        <p:cNvPr id="1" name=""/>
        <p:cNvGrpSpPr/>
        <p:nvPr/>
      </p:nvGrpSpPr>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A5568"/>
                </a:solidFill>
              </a:rPr>
              <a:t>HARDWARE LAYER</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The sensor setup</a:t>
            </a:r>
          </a:p>
        </p:txBody>
      </p:sp>
      <p:sp>
        <p:nvSpPr>
          <p:cNvPr id="4" name="TextBox 3"/>
          <p:cNvSpPr txBox="1"/>
          <p:nvPr/>
        </p:nvSpPr>
        <p:spPr>
          <a:xfrm>
            <a:off x="1554480" y="1335024"/>
            <a:ext cx="9082735" cy="438912"/>
          </a:xfrm>
          <a:prstGeom prst="rect">
            <a:avLst/>
          </a:prstGeom>
          <a:noFill/>
        </p:spPr>
        <p:txBody>
          <a:bodyPr wrap="square">
            <a:spAutoFit/>
          </a:bodyPr>
          <a:lstStyle/>
          <a:p>
            <a:pPr algn="ctr"/>
            <a:r>
              <a:rPr sz="1100" b="0" i="0">
                <a:solidFill>
                  <a:srgbClr val="8B9AB0"/>
                </a:solidFill>
              </a:rPr>
              <a:t>Simulated entirely in Wokwi. Same firmware would run on a real vehicle mount. No physical hardware needed to run, test, or demo the system.</a:t>
            </a:r>
          </a:p>
        </p:txBody>
      </p:sp>
      <p:sp>
        <p:nvSpPr>
          <p:cNvPr id="5" name="Rounded Rectangle 4"/>
          <p:cNvSpPr/>
          <p:nvPr/>
        </p:nvSpPr>
        <p:spPr>
          <a:xfrm>
            <a:off x="457200" y="1847088"/>
            <a:ext cx="5538063" cy="329184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84248"/>
            <a:ext cx="5172303" cy="310896"/>
          </a:xfrm>
          <a:prstGeom prst="rect">
            <a:avLst/>
          </a:prstGeom>
          <a:noFill/>
        </p:spPr>
        <p:txBody>
          <a:bodyPr wrap="square">
            <a:spAutoFit/>
          </a:bodyPr>
          <a:lstStyle/>
          <a:p>
            <a:pPr algn="l"/>
            <a:r>
              <a:rPr sz="1300" b="1" i="0">
                <a:solidFill>
                  <a:srgbClr val="4EA8DE"/>
                </a:solidFill>
              </a:rPr>
              <a:t>Components</a:t>
            </a:r>
          </a:p>
        </p:txBody>
      </p:sp>
      <p:sp>
        <p:nvSpPr>
          <p:cNvPr id="7" name="TextBox 6"/>
          <p:cNvSpPr txBox="1"/>
          <p:nvPr/>
        </p:nvSpPr>
        <p:spPr>
          <a:xfrm>
            <a:off x="640080" y="2377440"/>
            <a:ext cx="5172303" cy="329184"/>
          </a:xfrm>
          <a:prstGeom prst="rect">
            <a:avLst/>
          </a:prstGeom>
          <a:noFill/>
        </p:spPr>
        <p:txBody>
          <a:bodyPr wrap="square">
            <a:spAutoFit/>
          </a:bodyPr>
          <a:lstStyle/>
          <a:p>
            <a:pPr algn="l"/>
            <a:r>
              <a:rPr sz="1100" b="0" i="0">
                <a:solidFill>
                  <a:srgbClr val="8B9AB0"/>
                </a:solidFill>
              </a:rPr>
              <a:t>• ESP32 microcontroller</a:t>
            </a:r>
          </a:p>
        </p:txBody>
      </p:sp>
      <p:sp>
        <p:nvSpPr>
          <p:cNvPr id="8" name="TextBox 7"/>
          <p:cNvSpPr txBox="1"/>
          <p:nvPr/>
        </p:nvSpPr>
        <p:spPr>
          <a:xfrm>
            <a:off x="640080" y="2743200"/>
            <a:ext cx="5172303" cy="329184"/>
          </a:xfrm>
          <a:prstGeom prst="rect">
            <a:avLst/>
          </a:prstGeom>
          <a:noFill/>
        </p:spPr>
        <p:txBody>
          <a:bodyPr wrap="square">
            <a:spAutoFit/>
          </a:bodyPr>
          <a:lstStyle/>
          <a:p>
            <a:pPr algn="l"/>
            <a:r>
              <a:rPr sz="1100" b="0" i="0">
                <a:solidFill>
                  <a:srgbClr val="8B9AB0"/>
                </a:solidFill>
              </a:rPr>
              <a:t>• HC-SR04 ultrasonic sensor</a:t>
            </a:r>
          </a:p>
        </p:txBody>
      </p:sp>
      <p:sp>
        <p:nvSpPr>
          <p:cNvPr id="9" name="TextBox 8"/>
          <p:cNvSpPr txBox="1"/>
          <p:nvPr/>
        </p:nvSpPr>
        <p:spPr>
          <a:xfrm>
            <a:off x="640080" y="3108960"/>
            <a:ext cx="5172303" cy="329184"/>
          </a:xfrm>
          <a:prstGeom prst="rect">
            <a:avLst/>
          </a:prstGeom>
          <a:noFill/>
        </p:spPr>
        <p:txBody>
          <a:bodyPr wrap="square">
            <a:spAutoFit/>
          </a:bodyPr>
          <a:lstStyle/>
          <a:p>
            <a:pPr algn="l"/>
            <a:r>
              <a:rPr sz="1100" b="0" i="0">
                <a:solidFill>
                  <a:srgbClr val="8B9AB0"/>
                </a:solidFill>
              </a:rPr>
              <a:t>• SSD1306 OLED display</a:t>
            </a:r>
          </a:p>
        </p:txBody>
      </p:sp>
      <p:sp>
        <p:nvSpPr>
          <p:cNvPr id="10" name="TextBox 9"/>
          <p:cNvSpPr txBox="1"/>
          <p:nvPr/>
        </p:nvSpPr>
        <p:spPr>
          <a:xfrm>
            <a:off x="640080" y="3474720"/>
            <a:ext cx="5172303" cy="329184"/>
          </a:xfrm>
          <a:prstGeom prst="rect">
            <a:avLst/>
          </a:prstGeom>
          <a:noFill/>
        </p:spPr>
        <p:txBody>
          <a:bodyPr wrap="square">
            <a:spAutoFit/>
          </a:bodyPr>
          <a:lstStyle/>
          <a:p>
            <a:pPr algn="l"/>
            <a:r>
              <a:rPr sz="1100" b="0" i="0">
                <a:solidFill>
                  <a:srgbClr val="8B9AB0"/>
                </a:solidFill>
              </a:rPr>
              <a:t>• 3 status LEDs  (Red / Green / Blue)</a:t>
            </a:r>
          </a:p>
        </p:txBody>
      </p:sp>
      <p:sp>
        <p:nvSpPr>
          <p:cNvPr id="11" name="TextBox 10"/>
          <p:cNvSpPr txBox="1"/>
          <p:nvPr/>
        </p:nvSpPr>
        <p:spPr>
          <a:xfrm>
            <a:off x="640080" y="3895344"/>
            <a:ext cx="5172303" cy="1078992"/>
          </a:xfrm>
          <a:prstGeom prst="rect">
            <a:avLst/>
          </a:prstGeom>
          <a:noFill/>
        </p:spPr>
        <p:txBody>
          <a:bodyPr wrap="square">
            <a:spAutoFit/>
          </a:bodyPr>
          <a:lstStyle/>
          <a:p>
            <a:pPr algn="l"/>
            <a:r>
              <a:rPr sz="1000" b="0" i="0">
                <a:solidFill>
                  <a:srgbClr val="4A5568"/>
                </a:solidFill>
              </a:rPr>
              <a:t>Trigger: GPIO 5  ·  Echo: GPIO 18
Baseline: average of first 10 readings.
All subsequent readings are deltas against that baseline.</a:t>
            </a:r>
          </a:p>
        </p:txBody>
      </p:sp>
      <p:sp>
        <p:nvSpPr>
          <p:cNvPr id="12" name="Rounded Rectangle 11"/>
          <p:cNvSpPr/>
          <p:nvPr/>
        </p:nvSpPr>
        <p:spPr>
          <a:xfrm>
            <a:off x="6196431" y="1847088"/>
            <a:ext cx="5538063" cy="329184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9311" y="1984248"/>
            <a:ext cx="5172303" cy="310896"/>
          </a:xfrm>
          <a:prstGeom prst="rect">
            <a:avLst/>
          </a:prstGeom>
          <a:noFill/>
        </p:spPr>
        <p:txBody>
          <a:bodyPr wrap="square">
            <a:spAutoFit/>
          </a:bodyPr>
          <a:lstStyle/>
          <a:p>
            <a:pPr algn="l"/>
            <a:r>
              <a:rPr sz="1300" b="1" i="0">
                <a:solidFill>
                  <a:srgbClr val="4EA8DE"/>
                </a:solidFill>
              </a:rPr>
              <a:t>Classification logic</a:t>
            </a:r>
          </a:p>
        </p:txBody>
      </p:sp>
      <p:sp>
        <p:nvSpPr>
          <p:cNvPr id="14" name="TextBox 13"/>
          <p:cNvSpPr txBox="1"/>
          <p:nvPr/>
        </p:nvSpPr>
        <p:spPr>
          <a:xfrm>
            <a:off x="6379311" y="2395728"/>
            <a:ext cx="5172303" cy="347472"/>
          </a:xfrm>
          <a:prstGeom prst="rect">
            <a:avLst/>
          </a:prstGeom>
          <a:noFill/>
        </p:spPr>
        <p:txBody>
          <a:bodyPr wrap="square">
            <a:spAutoFit/>
          </a:bodyPr>
          <a:lstStyle/>
          <a:p>
            <a:pPr algn="l"/>
            <a:r>
              <a:rPr sz="1100" b="0" i="0">
                <a:solidFill>
                  <a:srgbClr val="FF4D4D"/>
                </a:solidFill>
              </a:rPr>
              <a:t>delta &gt; 25 cm       →   DEEP POTHOLE</a:t>
            </a:r>
          </a:p>
        </p:txBody>
      </p:sp>
      <p:sp>
        <p:nvSpPr>
          <p:cNvPr id="15" name="TextBox 14"/>
          <p:cNvSpPr txBox="1"/>
          <p:nvPr/>
        </p:nvSpPr>
        <p:spPr>
          <a:xfrm>
            <a:off x="6379311" y="2798064"/>
            <a:ext cx="5172303" cy="347472"/>
          </a:xfrm>
          <a:prstGeom prst="rect">
            <a:avLst/>
          </a:prstGeom>
          <a:noFill/>
        </p:spPr>
        <p:txBody>
          <a:bodyPr wrap="square">
            <a:spAutoFit/>
          </a:bodyPr>
          <a:lstStyle/>
          <a:p>
            <a:pPr algn="l"/>
            <a:r>
              <a:rPr sz="1100" b="0" i="0">
                <a:solidFill>
                  <a:srgbClr val="FF8C42"/>
                </a:solidFill>
              </a:rPr>
              <a:t>delta 15 – 25 cm  →   MEDIUM POTHOLE</a:t>
            </a:r>
          </a:p>
        </p:txBody>
      </p:sp>
      <p:sp>
        <p:nvSpPr>
          <p:cNvPr id="16" name="TextBox 15"/>
          <p:cNvSpPr txBox="1"/>
          <p:nvPr/>
        </p:nvSpPr>
        <p:spPr>
          <a:xfrm>
            <a:off x="6379311" y="3200400"/>
            <a:ext cx="5172303" cy="347472"/>
          </a:xfrm>
          <a:prstGeom prst="rect">
            <a:avLst/>
          </a:prstGeom>
          <a:noFill/>
        </p:spPr>
        <p:txBody>
          <a:bodyPr wrap="square">
            <a:spAutoFit/>
          </a:bodyPr>
          <a:lstStyle/>
          <a:p>
            <a:pPr algn="l"/>
            <a:r>
              <a:rPr sz="1100" b="0" i="0">
                <a:solidFill>
                  <a:srgbClr val="FFD166"/>
                </a:solidFill>
              </a:rPr>
              <a:t>delta 5 – 15 cm   →   SHALLOW POTHOLE</a:t>
            </a:r>
          </a:p>
        </p:txBody>
      </p:sp>
      <p:sp>
        <p:nvSpPr>
          <p:cNvPr id="17" name="TextBox 16"/>
          <p:cNvSpPr txBox="1"/>
          <p:nvPr/>
        </p:nvSpPr>
        <p:spPr>
          <a:xfrm>
            <a:off x="6379311" y="3602736"/>
            <a:ext cx="5172303" cy="347472"/>
          </a:xfrm>
          <a:prstGeom prst="rect">
            <a:avLst/>
          </a:prstGeom>
          <a:noFill/>
        </p:spPr>
        <p:txBody>
          <a:bodyPr wrap="square">
            <a:spAutoFit/>
          </a:bodyPr>
          <a:lstStyle/>
          <a:p>
            <a:pPr algn="l"/>
            <a:r>
              <a:rPr sz="1100" b="0" i="0">
                <a:solidFill>
                  <a:srgbClr val="4EA8DE"/>
                </a:solidFill>
              </a:rPr>
              <a:t>delta −5 to −15   →   SPEED BREAKER</a:t>
            </a:r>
          </a:p>
        </p:txBody>
      </p:sp>
      <p:sp>
        <p:nvSpPr>
          <p:cNvPr id="18" name="TextBox 17"/>
          <p:cNvSpPr txBox="1"/>
          <p:nvPr/>
        </p:nvSpPr>
        <p:spPr>
          <a:xfrm>
            <a:off x="6379311" y="4005072"/>
            <a:ext cx="5172303" cy="347472"/>
          </a:xfrm>
          <a:prstGeom prst="rect">
            <a:avLst/>
          </a:prstGeom>
          <a:noFill/>
        </p:spPr>
        <p:txBody>
          <a:bodyPr wrap="square">
            <a:spAutoFit/>
          </a:bodyPr>
          <a:lstStyle/>
          <a:p>
            <a:pPr algn="l"/>
            <a:r>
              <a:rPr sz="1100" b="0" i="0">
                <a:solidFill>
                  <a:srgbClr val="4A5568"/>
                </a:solidFill>
              </a:rPr>
              <a:t>| delta | &lt; 5 cm   →   CLEAR ROAD</a:t>
            </a:r>
          </a:p>
        </p:txBody>
      </p:sp>
      <p:sp>
        <p:nvSpPr>
          <p:cNvPr id="19" name="TextBox 18"/>
          <p:cNvSpPr txBox="1"/>
          <p:nvPr/>
        </p:nvSpPr>
        <p:spPr>
          <a:xfrm>
            <a:off x="6379311" y="4700016"/>
            <a:ext cx="5172303" cy="329184"/>
          </a:xfrm>
          <a:prstGeom prst="rect">
            <a:avLst/>
          </a:prstGeom>
          <a:noFill/>
        </p:spPr>
        <p:txBody>
          <a:bodyPr wrap="square">
            <a:spAutoFit/>
          </a:bodyPr>
          <a:lstStyle/>
          <a:p>
            <a:pPr algn="l"/>
            <a:r>
              <a:rPr sz="1000" b="0" i="0">
                <a:solidFill>
                  <a:srgbClr val="A8FF78"/>
                </a:solidFill>
              </a:rPr>
              <a:t>Serial output:  "POTHOLE,DEEP,21.1458,79.0882"</a:t>
            </a:r>
          </a:p>
        </p:txBody>
      </p:sp>
      <p:sp>
        <p:nvSpPr>
          <p:cNvPr id="20" name="Rectangle 19"/>
          <p:cNvSpPr/>
          <p:nvPr/>
        </p:nvSpPr>
        <p:spPr>
          <a:xfrm>
            <a:off x="929487" y="5340096"/>
            <a:ext cx="1956816" cy="292608"/>
          </a:xfrm>
          <a:prstGeom prst="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39215" y="5422392"/>
            <a:ext cx="128016" cy="128016"/>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49527" y="5394960"/>
            <a:ext cx="1591056" cy="201168"/>
          </a:xfrm>
          <a:prstGeom prst="rect">
            <a:avLst/>
          </a:prstGeom>
          <a:noFill/>
        </p:spPr>
        <p:txBody>
          <a:bodyPr wrap="square">
            <a:spAutoFit/>
          </a:bodyPr>
          <a:lstStyle/>
          <a:p>
            <a:pPr algn="l"/>
            <a:r>
              <a:rPr sz="900" b="0" i="0">
                <a:solidFill>
                  <a:srgbClr val="8B9AB0"/>
                </a:solidFill>
              </a:rPr>
              <a:t>Deep pothole</a:t>
            </a:r>
          </a:p>
        </p:txBody>
      </p:sp>
      <p:sp>
        <p:nvSpPr>
          <p:cNvPr id="23" name="Rectangle 22"/>
          <p:cNvSpPr/>
          <p:nvPr/>
        </p:nvSpPr>
        <p:spPr>
          <a:xfrm>
            <a:off x="3023463" y="5340096"/>
            <a:ext cx="1956816" cy="292608"/>
          </a:xfrm>
          <a:prstGeom prst="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133191" y="5422392"/>
            <a:ext cx="128016" cy="128016"/>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43503" y="5394960"/>
            <a:ext cx="1591056" cy="201168"/>
          </a:xfrm>
          <a:prstGeom prst="rect">
            <a:avLst/>
          </a:prstGeom>
          <a:noFill/>
        </p:spPr>
        <p:txBody>
          <a:bodyPr wrap="square">
            <a:spAutoFit/>
          </a:bodyPr>
          <a:lstStyle/>
          <a:p>
            <a:pPr algn="l"/>
            <a:r>
              <a:rPr sz="900" b="0" i="0">
                <a:solidFill>
                  <a:srgbClr val="8B9AB0"/>
                </a:solidFill>
              </a:rPr>
              <a:t>Medium pothole</a:t>
            </a:r>
          </a:p>
        </p:txBody>
      </p:sp>
      <p:sp>
        <p:nvSpPr>
          <p:cNvPr id="26" name="Rectangle 25"/>
          <p:cNvSpPr/>
          <p:nvPr/>
        </p:nvSpPr>
        <p:spPr>
          <a:xfrm>
            <a:off x="5117439" y="5340096"/>
            <a:ext cx="1956816" cy="292608"/>
          </a:xfrm>
          <a:prstGeom prst="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227167" y="5422392"/>
            <a:ext cx="128016" cy="128016"/>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37479" y="5394960"/>
            <a:ext cx="1591056" cy="201168"/>
          </a:xfrm>
          <a:prstGeom prst="rect">
            <a:avLst/>
          </a:prstGeom>
          <a:noFill/>
        </p:spPr>
        <p:txBody>
          <a:bodyPr wrap="square">
            <a:spAutoFit/>
          </a:bodyPr>
          <a:lstStyle/>
          <a:p>
            <a:pPr algn="l"/>
            <a:r>
              <a:rPr sz="900" b="0" i="0">
                <a:solidFill>
                  <a:srgbClr val="8B9AB0"/>
                </a:solidFill>
              </a:rPr>
              <a:t>Shallow pothole</a:t>
            </a:r>
          </a:p>
        </p:txBody>
      </p:sp>
      <p:sp>
        <p:nvSpPr>
          <p:cNvPr id="29" name="Rectangle 28"/>
          <p:cNvSpPr/>
          <p:nvPr/>
        </p:nvSpPr>
        <p:spPr>
          <a:xfrm>
            <a:off x="7211415" y="5340096"/>
            <a:ext cx="1956816" cy="292608"/>
          </a:xfrm>
          <a:prstGeom prst="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321143" y="5422392"/>
            <a:ext cx="128016" cy="128016"/>
          </a:xfrm>
          <a:prstGeom prst="ellipse">
            <a:avLst/>
          </a:prstGeom>
          <a:solidFill>
            <a:srgbClr val="4EA8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31455" y="5394960"/>
            <a:ext cx="1591056" cy="201168"/>
          </a:xfrm>
          <a:prstGeom prst="rect">
            <a:avLst/>
          </a:prstGeom>
          <a:noFill/>
        </p:spPr>
        <p:txBody>
          <a:bodyPr wrap="square">
            <a:spAutoFit/>
          </a:bodyPr>
          <a:lstStyle/>
          <a:p>
            <a:pPr algn="l"/>
            <a:r>
              <a:rPr sz="900" b="0" i="0">
                <a:solidFill>
                  <a:srgbClr val="8B9AB0"/>
                </a:solidFill>
              </a:rPr>
              <a:t>Speed breaker</a:t>
            </a:r>
          </a:p>
        </p:txBody>
      </p:sp>
      <p:sp>
        <p:nvSpPr>
          <p:cNvPr id="32" name="Rectangle 31"/>
          <p:cNvSpPr/>
          <p:nvPr/>
        </p:nvSpPr>
        <p:spPr>
          <a:xfrm>
            <a:off x="9305391" y="5340096"/>
            <a:ext cx="1956816" cy="292608"/>
          </a:xfrm>
          <a:prstGeom prst="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415119" y="5422392"/>
            <a:ext cx="128016" cy="128016"/>
          </a:xfrm>
          <a:prstGeom prst="ellipse">
            <a:avLst/>
          </a:prstGeom>
          <a:solidFill>
            <a:srgbClr val="8B9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25431" y="5394960"/>
            <a:ext cx="1591056" cy="201168"/>
          </a:xfrm>
          <a:prstGeom prst="rect">
            <a:avLst/>
          </a:prstGeom>
          <a:noFill/>
        </p:spPr>
        <p:txBody>
          <a:bodyPr wrap="square">
            <a:spAutoFit/>
          </a:bodyPr>
          <a:lstStyle/>
          <a:p>
            <a:pPr algn="l"/>
            <a:r>
              <a:rPr sz="900" b="0" i="0">
                <a:solidFill>
                  <a:srgbClr val="8B9AB0"/>
                </a:solidFill>
              </a:rPr>
              <a:t>Unverified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810"/>
        </a:solidFill>
        <a:effectLst/>
      </p:bgPr>
    </p:bg>
    <p:spTree>
      <p:nvGrpSpPr>
        <p:cNvPr id="1" name=""/>
        <p:cNvGrpSpPr/>
        <p:nvPr/>
      </p:nvGrpSpPr>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A5568"/>
                </a:solidFill>
              </a:rPr>
              <a:t>BACKEND</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Where the verification logic lives</a:t>
            </a:r>
          </a:p>
        </p:txBody>
      </p:sp>
      <p:sp>
        <p:nvSpPr>
          <p:cNvPr id="4" name="TextBox 3"/>
          <p:cNvSpPr txBox="1"/>
          <p:nvPr/>
        </p:nvSpPr>
        <p:spPr>
          <a:xfrm>
            <a:off x="2103120" y="1335024"/>
            <a:ext cx="7985455" cy="438912"/>
          </a:xfrm>
          <a:prstGeom prst="rect">
            <a:avLst/>
          </a:prstGeom>
          <a:noFill/>
        </p:spPr>
        <p:txBody>
          <a:bodyPr wrap="square">
            <a:spAutoFit/>
          </a:bodyPr>
          <a:lstStyle/>
          <a:p>
            <a:pPr algn="ctr"/>
            <a:r>
              <a:rPr sz="1100" b="0" i="0">
                <a:solidFill>
                  <a:srgbClr val="8B9AB0"/>
                </a:solidFill>
              </a:rPr>
              <a:t>Three Python files. The crowd-verification inside database.py is the core of the whole system.</a:t>
            </a:r>
          </a:p>
        </p:txBody>
      </p:sp>
      <p:sp>
        <p:nvSpPr>
          <p:cNvPr id="5" name="Rounded Rectangle 4"/>
          <p:cNvSpPr/>
          <p:nvPr/>
        </p:nvSpPr>
        <p:spPr>
          <a:xfrm>
            <a:off x="457200" y="1847088"/>
            <a:ext cx="3624986" cy="237744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956816"/>
            <a:ext cx="3350666" cy="292608"/>
          </a:xfrm>
          <a:prstGeom prst="rect">
            <a:avLst/>
          </a:prstGeom>
          <a:noFill/>
        </p:spPr>
        <p:txBody>
          <a:bodyPr wrap="square">
            <a:spAutoFit/>
          </a:bodyPr>
          <a:lstStyle/>
          <a:p>
            <a:pPr algn="l"/>
            <a:r>
              <a:rPr sz="1100" b="1" i="1">
                <a:solidFill>
                  <a:srgbClr val="8B9AB0"/>
                </a:solidFill>
              </a:rPr>
              <a:t>bridge.py</a:t>
            </a:r>
          </a:p>
        </p:txBody>
      </p:sp>
      <p:sp>
        <p:nvSpPr>
          <p:cNvPr id="7" name="TextBox 6"/>
          <p:cNvSpPr txBox="1"/>
          <p:nvPr/>
        </p:nvSpPr>
        <p:spPr>
          <a:xfrm>
            <a:off x="594360" y="2322576"/>
            <a:ext cx="3350666" cy="1810512"/>
          </a:xfrm>
          <a:prstGeom prst="rect">
            <a:avLst/>
          </a:prstGeom>
          <a:noFill/>
        </p:spPr>
        <p:txBody>
          <a:bodyPr wrap="square">
            <a:spAutoFit/>
          </a:bodyPr>
          <a:lstStyle/>
          <a:p>
            <a:pPr algn="l"/>
            <a:r>
              <a:rPr sz="1000" b="0" i="0">
                <a:solidFill>
                  <a:srgbClr val="8B9AB0"/>
                </a:solidFill>
              </a:rPr>
              <a:t>Reads serial output from ESP32 (or generates realistic Nagpur route data in demo mode). Pushes detections to the Flask API and Firebase simultaneously.</a:t>
            </a:r>
          </a:p>
        </p:txBody>
      </p:sp>
      <p:sp>
        <p:nvSpPr>
          <p:cNvPr id="8" name="Rounded Rectangle 7"/>
          <p:cNvSpPr/>
          <p:nvPr/>
        </p:nvSpPr>
        <p:spPr>
          <a:xfrm>
            <a:off x="4283354" y="1847088"/>
            <a:ext cx="3624986" cy="2377440"/>
          </a:xfrm>
          <a:prstGeom prst="roundRect">
            <a:avLst/>
          </a:prstGeom>
          <a:solidFill>
            <a:srgbClr val="061630"/>
          </a:solidFill>
          <a:ln w="9525">
            <a:solidFill>
              <a:srgbClr val="4EA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20514" y="1956816"/>
            <a:ext cx="3350666" cy="292608"/>
          </a:xfrm>
          <a:prstGeom prst="rect">
            <a:avLst/>
          </a:prstGeom>
          <a:noFill/>
        </p:spPr>
        <p:txBody>
          <a:bodyPr wrap="square">
            <a:spAutoFit/>
          </a:bodyPr>
          <a:lstStyle/>
          <a:p>
            <a:pPr algn="l"/>
            <a:r>
              <a:rPr sz="1100" b="1" i="1">
                <a:solidFill>
                  <a:srgbClr val="4EA8DE"/>
                </a:solidFill>
              </a:rPr>
              <a:t>database.py</a:t>
            </a:r>
          </a:p>
        </p:txBody>
      </p:sp>
      <p:sp>
        <p:nvSpPr>
          <p:cNvPr id="10" name="TextBox 9"/>
          <p:cNvSpPr txBox="1"/>
          <p:nvPr/>
        </p:nvSpPr>
        <p:spPr>
          <a:xfrm>
            <a:off x="4420514" y="2322576"/>
            <a:ext cx="3350666" cy="1810512"/>
          </a:xfrm>
          <a:prstGeom prst="rect">
            <a:avLst/>
          </a:prstGeom>
          <a:noFill/>
        </p:spPr>
        <p:txBody>
          <a:bodyPr wrap="square">
            <a:spAutoFit/>
          </a:bodyPr>
          <a:lstStyle/>
          <a:p>
            <a:pPr algn="l"/>
            <a:r>
              <a:rPr sz="1000" b="0" i="0">
                <a:solidFill>
                  <a:srgbClr val="8B9AB0"/>
                </a:solidFill>
              </a:rPr>
              <a:t>Every new detection calls add_detection(). It checks existing records within 15 m using Haversine. If the count hits 3, the 'verified' flag flips to 1 and the alert becomes active. That is the entire algorithm.</a:t>
            </a:r>
          </a:p>
        </p:txBody>
      </p:sp>
      <p:sp>
        <p:nvSpPr>
          <p:cNvPr id="11" name="Rounded Rectangle 10"/>
          <p:cNvSpPr/>
          <p:nvPr/>
        </p:nvSpPr>
        <p:spPr>
          <a:xfrm>
            <a:off x="8109508" y="1847088"/>
            <a:ext cx="3624986" cy="237744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46668" y="1956816"/>
            <a:ext cx="3350666" cy="292608"/>
          </a:xfrm>
          <a:prstGeom prst="rect">
            <a:avLst/>
          </a:prstGeom>
          <a:noFill/>
        </p:spPr>
        <p:txBody>
          <a:bodyPr wrap="square">
            <a:spAutoFit/>
          </a:bodyPr>
          <a:lstStyle/>
          <a:p>
            <a:pPr algn="l"/>
            <a:r>
              <a:rPr sz="1100" b="1" i="1">
                <a:solidFill>
                  <a:srgbClr val="FF8C42"/>
                </a:solidFill>
              </a:rPr>
              <a:t>server.py</a:t>
            </a:r>
          </a:p>
        </p:txBody>
      </p:sp>
      <p:sp>
        <p:nvSpPr>
          <p:cNvPr id="13" name="TextBox 12"/>
          <p:cNvSpPr txBox="1"/>
          <p:nvPr/>
        </p:nvSpPr>
        <p:spPr>
          <a:xfrm>
            <a:off x="8246668" y="2322576"/>
            <a:ext cx="3350666" cy="1810512"/>
          </a:xfrm>
          <a:prstGeom prst="rect">
            <a:avLst/>
          </a:prstGeom>
          <a:noFill/>
        </p:spPr>
        <p:txBody>
          <a:bodyPr wrap="square">
            <a:spAutoFit/>
          </a:bodyPr>
          <a:lstStyle/>
          <a:p>
            <a:pPr algn="l"/>
            <a:r>
              <a:rPr sz="1000" b="0" i="0">
                <a:solidFill>
                  <a:srgbClr val="8B9AB0"/>
                </a:solidFill>
              </a:rPr>
              <a:t>Flask REST API — 5 endpoints, full CORS enabled.
GET   /api/hazards   — verified hazards only
POST  /api/hazards   — submit a new detection
Deployed: Render  ·  Port 5001</a:t>
            </a:r>
          </a:p>
        </p:txBody>
      </p:sp>
      <p:sp>
        <p:nvSpPr>
          <p:cNvPr id="14" name="Rectangle 13"/>
          <p:cNvSpPr/>
          <p:nvPr/>
        </p:nvSpPr>
        <p:spPr>
          <a:xfrm>
            <a:off x="2804007" y="4407408"/>
            <a:ext cx="6583680" cy="1170432"/>
          </a:xfrm>
          <a:prstGeom prst="rect">
            <a:avLst/>
          </a:prstGeom>
          <a:solidFill>
            <a:srgbClr val="020408"/>
          </a:solidFill>
          <a:ln w="9525">
            <a:solidFill>
              <a:srgbClr val="1A2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86887" y="4498848"/>
            <a:ext cx="6217920" cy="1033272"/>
          </a:xfrm>
          <a:prstGeom prst="rect">
            <a:avLst/>
          </a:prstGeom>
          <a:noFill/>
        </p:spPr>
        <p:txBody>
          <a:bodyPr wrap="square">
            <a:spAutoFit/>
          </a:bodyPr>
          <a:lstStyle/>
          <a:p>
            <a:pPr algn="l"/>
            <a:r>
              <a:rPr sz="1000" b="0" i="0">
                <a:solidFill>
                  <a:srgbClr val="A8FF78"/>
                </a:solidFill>
              </a:rPr>
              <a:t># Verification logic (simplified)
nearby  = db.query('SELECT * FROM hazards')
matches = [h for h in nearby
              if haversine(h, new) &lt; 15]
if len(matches) &gt;= 3:
    mark_verified(hazard_id)   # alert fires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810"/>
        </a:solidFill>
        <a:effectLst/>
      </p:bgPr>
    </p:bg>
    <p:spTree>
      <p:nvGrpSpPr>
        <p:cNvPr id="1" name=""/>
        <p:cNvGrpSpPr/>
        <p:nvPr/>
      </p:nvGrpSpPr>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A5568"/>
                </a:solidFill>
              </a:rPr>
              <a:t>FRONTEND</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The live map dashboard</a:t>
            </a:r>
          </a:p>
        </p:txBody>
      </p:sp>
      <p:sp>
        <p:nvSpPr>
          <p:cNvPr id="4" name="TextBox 3"/>
          <p:cNvSpPr txBox="1"/>
          <p:nvPr/>
        </p:nvSpPr>
        <p:spPr>
          <a:xfrm>
            <a:off x="1188720" y="1335024"/>
            <a:ext cx="9814255" cy="438912"/>
          </a:xfrm>
          <a:prstGeom prst="rect">
            <a:avLst/>
          </a:prstGeom>
          <a:noFill/>
        </p:spPr>
        <p:txBody>
          <a:bodyPr wrap="square">
            <a:spAutoFit/>
          </a:bodyPr>
          <a:lstStyle/>
          <a:p>
            <a:pPr algn="ctr"/>
            <a:r>
              <a:rPr sz="1100" b="0" i="0">
                <a:solidFill>
                  <a:srgbClr val="8B9AB0"/>
                </a:solidFill>
              </a:rPr>
              <a:t>Runs entirely in the browser. No app install. No API key. No billing account. Leaflet.js on OpenStreetMap — free, fast, deployable on Vercel in under a minute.</a:t>
            </a:r>
          </a:p>
        </p:txBody>
      </p:sp>
      <p:sp>
        <p:nvSpPr>
          <p:cNvPr id="5" name="Rounded Rectangle 4"/>
          <p:cNvSpPr/>
          <p:nvPr/>
        </p:nvSpPr>
        <p:spPr>
          <a:xfrm>
            <a:off x="457200" y="1847088"/>
            <a:ext cx="5538063" cy="402336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84248"/>
            <a:ext cx="5172303" cy="310896"/>
          </a:xfrm>
          <a:prstGeom prst="rect">
            <a:avLst/>
          </a:prstGeom>
          <a:noFill/>
        </p:spPr>
        <p:txBody>
          <a:bodyPr wrap="square">
            <a:spAutoFit/>
          </a:bodyPr>
          <a:lstStyle/>
          <a:p>
            <a:pPr algn="l"/>
            <a:r>
              <a:rPr sz="1300" b="1" i="0">
                <a:solidFill>
                  <a:srgbClr val="4EA8DE"/>
                </a:solidFill>
              </a:rPr>
              <a:t>What the map shows</a:t>
            </a:r>
          </a:p>
        </p:txBody>
      </p:sp>
      <p:sp>
        <p:nvSpPr>
          <p:cNvPr id="7" name="Oval 6"/>
          <p:cNvSpPr/>
          <p:nvPr/>
        </p:nvSpPr>
        <p:spPr>
          <a:xfrm>
            <a:off x="640080" y="2468880"/>
            <a:ext cx="146304" cy="146304"/>
          </a:xfrm>
          <a:prstGeom prst="ellipse">
            <a:avLst/>
          </a:prstGeom>
          <a:solidFill>
            <a:srgbClr val="8B9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395728"/>
            <a:ext cx="1097280" cy="256032"/>
          </a:xfrm>
          <a:prstGeom prst="rect">
            <a:avLst/>
          </a:prstGeom>
          <a:noFill/>
        </p:spPr>
        <p:txBody>
          <a:bodyPr wrap="square">
            <a:spAutoFit/>
          </a:bodyPr>
          <a:lstStyle/>
          <a:p>
            <a:pPr algn="l"/>
            <a:r>
              <a:rPr sz="1100" b="1" i="0">
                <a:solidFill>
                  <a:srgbClr val="F0F4FF"/>
                </a:solidFill>
              </a:rPr>
              <a:t>Grey</a:t>
            </a:r>
          </a:p>
        </p:txBody>
      </p:sp>
      <p:sp>
        <p:nvSpPr>
          <p:cNvPr id="9" name="TextBox 8"/>
          <p:cNvSpPr txBox="1"/>
          <p:nvPr/>
        </p:nvSpPr>
        <p:spPr>
          <a:xfrm>
            <a:off x="877824" y="2651760"/>
            <a:ext cx="4989423" cy="274320"/>
          </a:xfrm>
          <a:prstGeom prst="rect">
            <a:avLst/>
          </a:prstGeom>
          <a:noFill/>
        </p:spPr>
        <p:txBody>
          <a:bodyPr wrap="square">
            <a:spAutoFit/>
          </a:bodyPr>
          <a:lstStyle/>
          <a:p>
            <a:pPr algn="l"/>
            <a:r>
              <a:rPr sz="1000" b="0" i="0">
                <a:solidFill>
                  <a:srgbClr val="8B9AB0"/>
                </a:solidFill>
              </a:rPr>
              <a:t>1-2 detections — not yet confirmed</a:t>
            </a:r>
          </a:p>
        </p:txBody>
      </p:sp>
      <p:sp>
        <p:nvSpPr>
          <p:cNvPr id="10" name="Oval 9"/>
          <p:cNvSpPr/>
          <p:nvPr/>
        </p:nvSpPr>
        <p:spPr>
          <a:xfrm>
            <a:off x="640080" y="3108959"/>
            <a:ext cx="146304" cy="146304"/>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3035807"/>
            <a:ext cx="1097280" cy="256032"/>
          </a:xfrm>
          <a:prstGeom prst="rect">
            <a:avLst/>
          </a:prstGeom>
          <a:noFill/>
        </p:spPr>
        <p:txBody>
          <a:bodyPr wrap="square">
            <a:spAutoFit/>
          </a:bodyPr>
          <a:lstStyle/>
          <a:p>
            <a:pPr algn="l"/>
            <a:r>
              <a:rPr sz="1100" b="1" i="0">
                <a:solidFill>
                  <a:srgbClr val="F0F4FF"/>
                </a:solidFill>
              </a:rPr>
              <a:t>Yellow</a:t>
            </a:r>
          </a:p>
        </p:txBody>
      </p:sp>
      <p:sp>
        <p:nvSpPr>
          <p:cNvPr id="12" name="TextBox 11"/>
          <p:cNvSpPr txBox="1"/>
          <p:nvPr/>
        </p:nvSpPr>
        <p:spPr>
          <a:xfrm>
            <a:off x="877824" y="3291839"/>
            <a:ext cx="4989423" cy="274320"/>
          </a:xfrm>
          <a:prstGeom prst="rect">
            <a:avLst/>
          </a:prstGeom>
          <a:noFill/>
        </p:spPr>
        <p:txBody>
          <a:bodyPr wrap="square">
            <a:spAutoFit/>
          </a:bodyPr>
          <a:lstStyle/>
          <a:p>
            <a:pPr algn="l"/>
            <a:r>
              <a:rPr sz="1000" b="0" i="0">
                <a:solidFill>
                  <a:srgbClr val="8B9AB0"/>
                </a:solidFill>
              </a:rPr>
              <a:t>Shallow pothole  (verified)</a:t>
            </a:r>
          </a:p>
        </p:txBody>
      </p:sp>
      <p:sp>
        <p:nvSpPr>
          <p:cNvPr id="13" name="Oval 12"/>
          <p:cNvSpPr/>
          <p:nvPr/>
        </p:nvSpPr>
        <p:spPr>
          <a:xfrm>
            <a:off x="640080" y="3749040"/>
            <a:ext cx="146304" cy="146304"/>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3675888"/>
            <a:ext cx="1097280" cy="256032"/>
          </a:xfrm>
          <a:prstGeom prst="rect">
            <a:avLst/>
          </a:prstGeom>
          <a:noFill/>
        </p:spPr>
        <p:txBody>
          <a:bodyPr wrap="square">
            <a:spAutoFit/>
          </a:bodyPr>
          <a:lstStyle/>
          <a:p>
            <a:pPr algn="l"/>
            <a:r>
              <a:rPr sz="1100" b="1" i="0">
                <a:solidFill>
                  <a:srgbClr val="F0F4FF"/>
                </a:solidFill>
              </a:rPr>
              <a:t>Orange</a:t>
            </a:r>
          </a:p>
        </p:txBody>
      </p:sp>
      <p:sp>
        <p:nvSpPr>
          <p:cNvPr id="15" name="TextBox 14"/>
          <p:cNvSpPr txBox="1"/>
          <p:nvPr/>
        </p:nvSpPr>
        <p:spPr>
          <a:xfrm>
            <a:off x="877824" y="3931920"/>
            <a:ext cx="4989423" cy="274320"/>
          </a:xfrm>
          <a:prstGeom prst="rect">
            <a:avLst/>
          </a:prstGeom>
          <a:noFill/>
        </p:spPr>
        <p:txBody>
          <a:bodyPr wrap="square">
            <a:spAutoFit/>
          </a:bodyPr>
          <a:lstStyle/>
          <a:p>
            <a:pPr algn="l"/>
            <a:r>
              <a:rPr sz="1000" b="0" i="0">
                <a:solidFill>
                  <a:srgbClr val="8B9AB0"/>
                </a:solidFill>
              </a:rPr>
              <a:t>Medium pothole — shadow alert fires</a:t>
            </a:r>
          </a:p>
        </p:txBody>
      </p:sp>
      <p:sp>
        <p:nvSpPr>
          <p:cNvPr id="16" name="Oval 15"/>
          <p:cNvSpPr/>
          <p:nvPr/>
        </p:nvSpPr>
        <p:spPr>
          <a:xfrm>
            <a:off x="640080" y="4389119"/>
            <a:ext cx="146304" cy="146304"/>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4315967"/>
            <a:ext cx="1097280" cy="256032"/>
          </a:xfrm>
          <a:prstGeom prst="rect">
            <a:avLst/>
          </a:prstGeom>
          <a:noFill/>
        </p:spPr>
        <p:txBody>
          <a:bodyPr wrap="square">
            <a:spAutoFit/>
          </a:bodyPr>
          <a:lstStyle/>
          <a:p>
            <a:pPr algn="l"/>
            <a:r>
              <a:rPr sz="1100" b="1" i="0">
                <a:solidFill>
                  <a:srgbClr val="F0F4FF"/>
                </a:solidFill>
              </a:rPr>
              <a:t>Red</a:t>
            </a:r>
          </a:p>
        </p:txBody>
      </p:sp>
      <p:sp>
        <p:nvSpPr>
          <p:cNvPr id="18" name="TextBox 17"/>
          <p:cNvSpPr txBox="1"/>
          <p:nvPr/>
        </p:nvSpPr>
        <p:spPr>
          <a:xfrm>
            <a:off x="877824" y="4571999"/>
            <a:ext cx="4989423" cy="274320"/>
          </a:xfrm>
          <a:prstGeom prst="rect">
            <a:avLst/>
          </a:prstGeom>
          <a:noFill/>
        </p:spPr>
        <p:txBody>
          <a:bodyPr wrap="square">
            <a:spAutoFit/>
          </a:bodyPr>
          <a:lstStyle/>
          <a:p>
            <a:pPr algn="l"/>
            <a:r>
              <a:rPr sz="1000" b="0" i="0">
                <a:solidFill>
                  <a:srgbClr val="8B9AB0"/>
                </a:solidFill>
              </a:rPr>
              <a:t>Deep pothole — highest priority alert</a:t>
            </a:r>
          </a:p>
        </p:txBody>
      </p:sp>
      <p:sp>
        <p:nvSpPr>
          <p:cNvPr id="19" name="Oval 18"/>
          <p:cNvSpPr/>
          <p:nvPr/>
        </p:nvSpPr>
        <p:spPr>
          <a:xfrm>
            <a:off x="640080" y="5029200"/>
            <a:ext cx="146304" cy="146304"/>
          </a:xfrm>
          <a:prstGeom prst="ellipse">
            <a:avLst/>
          </a:prstGeom>
          <a:solidFill>
            <a:srgbClr val="4EA8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4956048"/>
            <a:ext cx="1097280" cy="256032"/>
          </a:xfrm>
          <a:prstGeom prst="rect">
            <a:avLst/>
          </a:prstGeom>
          <a:noFill/>
        </p:spPr>
        <p:txBody>
          <a:bodyPr wrap="square">
            <a:spAutoFit/>
          </a:bodyPr>
          <a:lstStyle/>
          <a:p>
            <a:pPr algn="l"/>
            <a:r>
              <a:rPr sz="1100" b="1" i="0">
                <a:solidFill>
                  <a:srgbClr val="F0F4FF"/>
                </a:solidFill>
              </a:rPr>
              <a:t>Blue</a:t>
            </a:r>
          </a:p>
        </p:txBody>
      </p:sp>
      <p:sp>
        <p:nvSpPr>
          <p:cNvPr id="21" name="TextBox 20"/>
          <p:cNvSpPr txBox="1"/>
          <p:nvPr/>
        </p:nvSpPr>
        <p:spPr>
          <a:xfrm>
            <a:off x="877824" y="5212080"/>
            <a:ext cx="4989423" cy="274320"/>
          </a:xfrm>
          <a:prstGeom prst="rect">
            <a:avLst/>
          </a:prstGeom>
          <a:noFill/>
        </p:spPr>
        <p:txBody>
          <a:bodyPr wrap="square">
            <a:spAutoFit/>
          </a:bodyPr>
          <a:lstStyle/>
          <a:p>
            <a:pPr algn="l"/>
            <a:r>
              <a:rPr sz="1000" b="0" i="0">
                <a:solidFill>
                  <a:srgbClr val="8B9AB0"/>
                </a:solidFill>
              </a:rPr>
              <a:t>Speed breaker</a:t>
            </a:r>
          </a:p>
        </p:txBody>
      </p:sp>
      <p:sp>
        <p:nvSpPr>
          <p:cNvPr id="22" name="Rounded Rectangle 21"/>
          <p:cNvSpPr/>
          <p:nvPr/>
        </p:nvSpPr>
        <p:spPr>
          <a:xfrm>
            <a:off x="6196431" y="1847088"/>
            <a:ext cx="5538063" cy="402336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9311" y="2011680"/>
            <a:ext cx="5172303" cy="274320"/>
          </a:xfrm>
          <a:prstGeom prst="rect">
            <a:avLst/>
          </a:prstGeom>
          <a:noFill/>
        </p:spPr>
        <p:txBody>
          <a:bodyPr wrap="square">
            <a:spAutoFit/>
          </a:bodyPr>
          <a:lstStyle/>
          <a:p>
            <a:pPr algn="l"/>
            <a:r>
              <a:rPr sz="1200" b="1" i="0">
                <a:solidFill>
                  <a:srgbClr val="4EA8DE"/>
                </a:solidFill>
              </a:rPr>
              <a:t>Live sync</a:t>
            </a:r>
          </a:p>
        </p:txBody>
      </p:sp>
      <p:sp>
        <p:nvSpPr>
          <p:cNvPr id="24" name="TextBox 23"/>
          <p:cNvSpPr txBox="1"/>
          <p:nvPr/>
        </p:nvSpPr>
        <p:spPr>
          <a:xfrm>
            <a:off x="6379311" y="2304288"/>
            <a:ext cx="5172303" cy="493776"/>
          </a:xfrm>
          <a:prstGeom prst="rect">
            <a:avLst/>
          </a:prstGeom>
          <a:noFill/>
        </p:spPr>
        <p:txBody>
          <a:bodyPr wrap="square">
            <a:spAutoFit/>
          </a:bodyPr>
          <a:lstStyle/>
          <a:p>
            <a:pPr algn="l"/>
            <a:r>
              <a:rPr sz="1000" b="0" i="0">
                <a:solidFill>
                  <a:srgbClr val="8B9AB0"/>
                </a:solidFill>
              </a:rPr>
              <a:t>Firebase listener mode keeps all open browser tabs updated in real time. Local mode polls the API every 2 seconds as a fallback.</a:t>
            </a:r>
          </a:p>
        </p:txBody>
      </p:sp>
      <p:sp>
        <p:nvSpPr>
          <p:cNvPr id="25" name="TextBox 24"/>
          <p:cNvSpPr txBox="1"/>
          <p:nvPr/>
        </p:nvSpPr>
        <p:spPr>
          <a:xfrm>
            <a:off x="6379311" y="2944368"/>
            <a:ext cx="5172303" cy="274320"/>
          </a:xfrm>
          <a:prstGeom prst="rect">
            <a:avLst/>
          </a:prstGeom>
          <a:noFill/>
        </p:spPr>
        <p:txBody>
          <a:bodyPr wrap="square">
            <a:spAutoFit/>
          </a:bodyPr>
          <a:lstStyle/>
          <a:p>
            <a:pPr algn="l"/>
            <a:r>
              <a:rPr sz="1200" b="1" i="0">
                <a:solidFill>
                  <a:srgbClr val="FF8C42"/>
                </a:solidFill>
              </a:rPr>
              <a:t>Shadow alert bar</a:t>
            </a:r>
          </a:p>
        </p:txBody>
      </p:sp>
      <p:sp>
        <p:nvSpPr>
          <p:cNvPr id="26" name="TextBox 25"/>
          <p:cNvSpPr txBox="1"/>
          <p:nvPr/>
        </p:nvSpPr>
        <p:spPr>
          <a:xfrm>
            <a:off x="6379311" y="3236976"/>
            <a:ext cx="5172303" cy="493776"/>
          </a:xfrm>
          <a:prstGeom prst="rect">
            <a:avLst/>
          </a:prstGeom>
          <a:noFill/>
        </p:spPr>
        <p:txBody>
          <a:bodyPr wrap="square">
            <a:spAutoFit/>
          </a:bodyPr>
          <a:lstStyle/>
          <a:p>
            <a:pPr algn="l"/>
            <a:r>
              <a:rPr sz="1000" b="0" i="0">
                <a:solidFill>
                  <a:srgbClr val="8B9AB0"/>
                </a:solidFill>
              </a:rPr>
              <a:t>Warning banner slides in when a medium or deep hazard is verified. Auto-dismisses in 5 seconds — enough time to slow down, not enough to annoy.</a:t>
            </a:r>
          </a:p>
        </p:txBody>
      </p:sp>
      <p:sp>
        <p:nvSpPr>
          <p:cNvPr id="27" name="TextBox 26"/>
          <p:cNvSpPr txBox="1"/>
          <p:nvPr/>
        </p:nvSpPr>
        <p:spPr>
          <a:xfrm>
            <a:off x="6379311" y="3877056"/>
            <a:ext cx="5172303" cy="274320"/>
          </a:xfrm>
          <a:prstGeom prst="rect">
            <a:avLst/>
          </a:prstGeom>
          <a:noFill/>
        </p:spPr>
        <p:txBody>
          <a:bodyPr wrap="square">
            <a:spAutoFit/>
          </a:bodyPr>
          <a:lstStyle/>
          <a:p>
            <a:pPr algn="l"/>
            <a:r>
              <a:rPr sz="1200" b="1" i="0">
                <a:solidFill>
                  <a:srgbClr val="FFD166"/>
                </a:solidFill>
              </a:rPr>
              <a:t>Tooltip detail</a:t>
            </a:r>
          </a:p>
        </p:txBody>
      </p:sp>
      <p:sp>
        <p:nvSpPr>
          <p:cNvPr id="28" name="TextBox 27"/>
          <p:cNvSpPr txBox="1"/>
          <p:nvPr/>
        </p:nvSpPr>
        <p:spPr>
          <a:xfrm>
            <a:off x="6379311" y="4169664"/>
            <a:ext cx="5172303" cy="493776"/>
          </a:xfrm>
          <a:prstGeom prst="rect">
            <a:avLst/>
          </a:prstGeom>
          <a:noFill/>
        </p:spPr>
        <p:txBody>
          <a:bodyPr wrap="square">
            <a:spAutoFit/>
          </a:bodyPr>
          <a:lstStyle/>
          <a:p>
            <a:pPr algn="l"/>
            <a:r>
              <a:rPr sz="1000" b="0" i="0">
                <a:solidFill>
                  <a:srgbClr val="8B9AB0"/>
                </a:solidFill>
              </a:rPr>
              <a:t>Hover any marker: type, severity, and verification progress (e.g. '2/3 verified' or '✓ Verified').</a:t>
            </a:r>
          </a:p>
        </p:txBody>
      </p:sp>
      <p:sp>
        <p:nvSpPr>
          <p:cNvPr id="29" name="TextBox 28"/>
          <p:cNvSpPr txBox="1"/>
          <p:nvPr/>
        </p:nvSpPr>
        <p:spPr>
          <a:xfrm>
            <a:off x="6379311" y="4809744"/>
            <a:ext cx="5172303" cy="274320"/>
          </a:xfrm>
          <a:prstGeom prst="rect">
            <a:avLst/>
          </a:prstGeom>
          <a:noFill/>
        </p:spPr>
        <p:txBody>
          <a:bodyPr wrap="square">
            <a:spAutoFit/>
          </a:bodyPr>
          <a:lstStyle/>
          <a:p>
            <a:pPr algn="l"/>
            <a:r>
              <a:rPr sz="1200" b="1" i="0">
                <a:solidFill>
                  <a:srgbClr val="8B9AB0"/>
                </a:solidFill>
              </a:rPr>
              <a:t>No API keys</a:t>
            </a:r>
          </a:p>
        </p:txBody>
      </p:sp>
      <p:sp>
        <p:nvSpPr>
          <p:cNvPr id="30" name="TextBox 29"/>
          <p:cNvSpPr txBox="1"/>
          <p:nvPr/>
        </p:nvSpPr>
        <p:spPr>
          <a:xfrm>
            <a:off x="6379311" y="5102352"/>
            <a:ext cx="5172303" cy="493776"/>
          </a:xfrm>
          <a:prstGeom prst="rect">
            <a:avLst/>
          </a:prstGeom>
          <a:noFill/>
        </p:spPr>
        <p:txBody>
          <a:bodyPr wrap="square">
            <a:spAutoFit/>
          </a:bodyPr>
          <a:lstStyle/>
          <a:p>
            <a:pPr algn="l"/>
            <a:r>
              <a:rPr sz="1000" b="0" i="0">
                <a:solidFill>
                  <a:srgbClr val="8B9AB0"/>
                </a:solidFill>
              </a:rPr>
              <a:t>Switched from Google Maps (requires billing) to Leaflet.js + OpenStreetMap. Free, no account, deployable by anyone with zero setup.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810"/>
        </a:solidFill>
        <a:effectLst/>
      </p:bgPr>
    </p:bg>
    <p:spTree>
      <p:nvGrpSpPr>
        <p:cNvPr id="1" name=""/>
        <p:cNvGrpSpPr/>
        <p:nvPr/>
      </p:nvGrpSpPr>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A5568"/>
                </a:solidFill>
              </a:rPr>
              <a:t>DEMO WALKTHROUGH</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Running it yourself</a:t>
            </a:r>
          </a:p>
        </p:txBody>
      </p:sp>
      <p:sp>
        <p:nvSpPr>
          <p:cNvPr id="4" name="TextBox 3"/>
          <p:cNvSpPr txBox="1"/>
          <p:nvPr/>
        </p:nvSpPr>
        <p:spPr>
          <a:xfrm>
            <a:off x="2103120" y="1335024"/>
            <a:ext cx="7985455" cy="438912"/>
          </a:xfrm>
          <a:prstGeom prst="rect">
            <a:avLst/>
          </a:prstGeom>
          <a:noFill/>
        </p:spPr>
        <p:txBody>
          <a:bodyPr wrap="square">
            <a:spAutoFit/>
          </a:bodyPr>
          <a:lstStyle/>
          <a:p>
            <a:pPr algn="ctr"/>
            <a:r>
              <a:rPr sz="1100" b="0" i="0">
                <a:solidFill>
                  <a:srgbClr val="8B9AB0"/>
                </a:solidFill>
              </a:rPr>
              <a:t>Two paths: Wokwi (full end-to-end) or keyboard simulator (faster for live demos).</a:t>
            </a:r>
          </a:p>
        </p:txBody>
      </p:sp>
      <p:sp>
        <p:nvSpPr>
          <p:cNvPr id="5" name="Rounded Rectangle 4"/>
          <p:cNvSpPr/>
          <p:nvPr/>
        </p:nvSpPr>
        <p:spPr>
          <a:xfrm>
            <a:off x="1752447" y="1847088"/>
            <a:ext cx="8686800" cy="7132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880463" y="2002536"/>
            <a:ext cx="402336" cy="402336"/>
          </a:xfrm>
          <a:prstGeom prst="roundRect">
            <a:avLst/>
          </a:prstGeom>
          <a:solidFill>
            <a:srgbClr val="062038"/>
          </a:solidFill>
          <a:ln w="9525">
            <a:solidFill>
              <a:srgbClr val="4EA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80463" y="2020824"/>
            <a:ext cx="402336" cy="329184"/>
          </a:xfrm>
          <a:prstGeom prst="rect">
            <a:avLst/>
          </a:prstGeom>
          <a:noFill/>
        </p:spPr>
        <p:txBody>
          <a:bodyPr wrap="square">
            <a:spAutoFit/>
          </a:bodyPr>
          <a:lstStyle/>
          <a:p>
            <a:pPr algn="ctr"/>
            <a:r>
              <a:rPr sz="1100" b="1" i="0">
                <a:solidFill>
                  <a:srgbClr val="4EA8DE"/>
                </a:solidFill>
              </a:rPr>
              <a:t>1</a:t>
            </a:r>
          </a:p>
        </p:txBody>
      </p:sp>
      <p:sp>
        <p:nvSpPr>
          <p:cNvPr id="8" name="TextBox 7"/>
          <p:cNvSpPr txBox="1"/>
          <p:nvPr/>
        </p:nvSpPr>
        <p:spPr>
          <a:xfrm>
            <a:off x="2410815" y="1993392"/>
            <a:ext cx="7900416" cy="475488"/>
          </a:xfrm>
          <a:prstGeom prst="rect">
            <a:avLst/>
          </a:prstGeom>
          <a:noFill/>
        </p:spPr>
        <p:txBody>
          <a:bodyPr wrap="square">
            <a:spAutoFit/>
          </a:bodyPr>
          <a:lstStyle/>
          <a:p>
            <a:pPr algn="l"/>
            <a:r>
              <a:rPr sz="1100" b="0" i="0">
                <a:solidFill>
                  <a:srgbClr val="8B9AB0"/>
                </a:solidFill>
              </a:rPr>
              <a:t>Open Wokwi simulation at  wokwi.com/projects/458668521911516161  and drag the HC-SR04 distance slider to trigger detections.</a:t>
            </a:r>
          </a:p>
        </p:txBody>
      </p:sp>
      <p:sp>
        <p:nvSpPr>
          <p:cNvPr id="9" name="Rounded Rectangle 8"/>
          <p:cNvSpPr/>
          <p:nvPr/>
        </p:nvSpPr>
        <p:spPr>
          <a:xfrm>
            <a:off x="1752447" y="2651760"/>
            <a:ext cx="8686800" cy="7132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880463" y="2807208"/>
            <a:ext cx="402336" cy="402336"/>
          </a:xfrm>
          <a:prstGeom prst="roundRect">
            <a:avLst/>
          </a:prstGeom>
          <a:solidFill>
            <a:srgbClr val="062038"/>
          </a:solidFill>
          <a:ln w="9525">
            <a:solidFill>
              <a:srgbClr val="4EA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80463" y="2825496"/>
            <a:ext cx="402336" cy="329184"/>
          </a:xfrm>
          <a:prstGeom prst="rect">
            <a:avLst/>
          </a:prstGeom>
          <a:noFill/>
        </p:spPr>
        <p:txBody>
          <a:bodyPr wrap="square">
            <a:spAutoFit/>
          </a:bodyPr>
          <a:lstStyle/>
          <a:p>
            <a:pPr algn="ctr"/>
            <a:r>
              <a:rPr sz="1100" b="1" i="0">
                <a:solidFill>
                  <a:srgbClr val="4EA8DE"/>
                </a:solidFill>
              </a:rPr>
              <a:t>2</a:t>
            </a:r>
          </a:p>
        </p:txBody>
      </p:sp>
      <p:sp>
        <p:nvSpPr>
          <p:cNvPr id="12" name="TextBox 11"/>
          <p:cNvSpPr txBox="1"/>
          <p:nvPr/>
        </p:nvSpPr>
        <p:spPr>
          <a:xfrm>
            <a:off x="2410815" y="2798064"/>
            <a:ext cx="7900416" cy="475488"/>
          </a:xfrm>
          <a:prstGeom prst="rect">
            <a:avLst/>
          </a:prstGeom>
          <a:noFill/>
        </p:spPr>
        <p:txBody>
          <a:bodyPr wrap="square">
            <a:spAutoFit/>
          </a:bodyPr>
          <a:lstStyle/>
          <a:p>
            <a:pPr algn="l"/>
            <a:r>
              <a:rPr sz="1100" b="0" i="0">
                <a:solidFill>
                  <a:srgbClr val="8B9AB0"/>
                </a:solidFill>
              </a:rPr>
              <a:t>Open the live dashboard at  smart-road-hazard.vercel.app  in a second tab.</a:t>
            </a:r>
          </a:p>
        </p:txBody>
      </p:sp>
      <p:sp>
        <p:nvSpPr>
          <p:cNvPr id="13" name="Rounded Rectangle 12"/>
          <p:cNvSpPr/>
          <p:nvPr/>
        </p:nvSpPr>
        <p:spPr>
          <a:xfrm>
            <a:off x="1752447" y="3456432"/>
            <a:ext cx="8686800" cy="7132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80463" y="3611880"/>
            <a:ext cx="402336" cy="402336"/>
          </a:xfrm>
          <a:prstGeom prst="roundRect">
            <a:avLst/>
          </a:prstGeom>
          <a:solidFill>
            <a:srgbClr val="062038"/>
          </a:solidFill>
          <a:ln w="9525">
            <a:solidFill>
              <a:srgbClr val="4EA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80463" y="3630168"/>
            <a:ext cx="402336" cy="329184"/>
          </a:xfrm>
          <a:prstGeom prst="rect">
            <a:avLst/>
          </a:prstGeom>
          <a:noFill/>
        </p:spPr>
        <p:txBody>
          <a:bodyPr wrap="square">
            <a:spAutoFit/>
          </a:bodyPr>
          <a:lstStyle/>
          <a:p>
            <a:pPr algn="ctr"/>
            <a:r>
              <a:rPr sz="1100" b="1" i="0">
                <a:solidFill>
                  <a:srgbClr val="4EA8DE"/>
                </a:solidFill>
              </a:rPr>
              <a:t>3</a:t>
            </a:r>
          </a:p>
        </p:txBody>
      </p:sp>
      <p:sp>
        <p:nvSpPr>
          <p:cNvPr id="16" name="TextBox 15"/>
          <p:cNvSpPr txBox="1"/>
          <p:nvPr/>
        </p:nvSpPr>
        <p:spPr>
          <a:xfrm>
            <a:off x="2410815" y="3602736"/>
            <a:ext cx="7900416" cy="475488"/>
          </a:xfrm>
          <a:prstGeom prst="rect">
            <a:avLst/>
          </a:prstGeom>
          <a:noFill/>
        </p:spPr>
        <p:txBody>
          <a:bodyPr wrap="square">
            <a:spAutoFit/>
          </a:bodyPr>
          <a:lstStyle/>
          <a:p>
            <a:pPr algn="l"/>
            <a:r>
              <a:rPr sz="1100" b="0" i="0">
                <a:solidFill>
                  <a:srgbClr val="8B9AB0"/>
                </a:solidFill>
              </a:rPr>
              <a:t>Trigger the same location 3 times — watch the grey pin change colour and the shadow alert bar appear at the bottom of the screen.</a:t>
            </a:r>
          </a:p>
        </p:txBody>
      </p:sp>
      <p:sp>
        <p:nvSpPr>
          <p:cNvPr id="17" name="Rounded Rectangle 16"/>
          <p:cNvSpPr/>
          <p:nvPr/>
        </p:nvSpPr>
        <p:spPr>
          <a:xfrm>
            <a:off x="1752447" y="4261104"/>
            <a:ext cx="8686800" cy="7132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880463" y="4416552"/>
            <a:ext cx="402336" cy="402336"/>
          </a:xfrm>
          <a:prstGeom prst="roundRect">
            <a:avLst/>
          </a:prstGeom>
          <a:solidFill>
            <a:srgbClr val="062038"/>
          </a:solidFill>
          <a:ln w="9525">
            <a:solidFill>
              <a:srgbClr val="4EA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80463" y="4434840"/>
            <a:ext cx="402336" cy="329184"/>
          </a:xfrm>
          <a:prstGeom prst="rect">
            <a:avLst/>
          </a:prstGeom>
          <a:noFill/>
        </p:spPr>
        <p:txBody>
          <a:bodyPr wrap="square">
            <a:spAutoFit/>
          </a:bodyPr>
          <a:lstStyle/>
          <a:p>
            <a:pPr algn="ctr"/>
            <a:r>
              <a:rPr sz="1100" b="1" i="0">
                <a:solidFill>
                  <a:srgbClr val="4EA8DE"/>
                </a:solidFill>
              </a:rPr>
              <a:t>4</a:t>
            </a:r>
          </a:p>
        </p:txBody>
      </p:sp>
      <p:sp>
        <p:nvSpPr>
          <p:cNvPr id="20" name="TextBox 19"/>
          <p:cNvSpPr txBox="1"/>
          <p:nvPr/>
        </p:nvSpPr>
        <p:spPr>
          <a:xfrm>
            <a:off x="2410815" y="4407408"/>
            <a:ext cx="7900416" cy="475488"/>
          </a:xfrm>
          <a:prstGeom prst="rect">
            <a:avLst/>
          </a:prstGeom>
          <a:noFill/>
        </p:spPr>
        <p:txBody>
          <a:bodyPr wrap="square">
            <a:spAutoFit/>
          </a:bodyPr>
          <a:lstStyle/>
          <a:p>
            <a:pPr algn="l"/>
            <a:r>
              <a:rPr sz="1100" b="0" i="0">
                <a:solidFill>
                  <a:srgbClr val="8B9AB0"/>
                </a:solidFill>
              </a:rPr>
              <a:t>Alternatively: run  python simulator.py  locally and press 1 (deep pothole) or 4 (speedbreaker) to inject test detections via keyboard.</a:t>
            </a:r>
          </a:p>
        </p:txBody>
      </p:sp>
      <p:sp>
        <p:nvSpPr>
          <p:cNvPr id="21" name="Rectangle 20"/>
          <p:cNvSpPr/>
          <p:nvPr/>
        </p:nvSpPr>
        <p:spPr>
          <a:xfrm>
            <a:off x="2346808" y="5193792"/>
            <a:ext cx="7498079" cy="868680"/>
          </a:xfrm>
          <a:prstGeom prst="rect">
            <a:avLst/>
          </a:prstGeom>
          <a:solidFill>
            <a:srgbClr val="020408"/>
          </a:solidFill>
          <a:ln w="9525">
            <a:solidFill>
              <a:srgbClr val="1A2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1400" y="5285232"/>
            <a:ext cx="7168895" cy="740664"/>
          </a:xfrm>
          <a:prstGeom prst="rect">
            <a:avLst/>
          </a:prstGeom>
          <a:noFill/>
        </p:spPr>
        <p:txBody>
          <a:bodyPr wrap="square">
            <a:spAutoFit/>
          </a:bodyPr>
          <a:lstStyle/>
          <a:p>
            <a:pPr algn="l"/>
            <a:r>
              <a:rPr sz="1000" b="0" i="0">
                <a:solidFill>
                  <a:srgbClr val="A8FF78"/>
                </a:solidFill>
              </a:rPr>
              <a:t># Local demo — no hardware needed
cd backend &amp;&amp; python server.py
python bridge.py --demo       # auto-generates Nagpur route data
# open frontend/index.html in browser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810"/>
        </a:solidFill>
        <a:effectLst/>
      </p:bgPr>
    </p:bg>
    <p:spTree>
      <p:nvGrpSpPr>
        <p:cNvPr id="1" name=""/>
        <p:cNvGrpSpPr/>
        <p:nvPr/>
      </p:nvGrpSpPr>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A5568"/>
                </a:solidFill>
              </a:rPr>
              <a:t>RESULTS &amp; METRICS</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What the system delivers</a:t>
            </a:r>
          </a:p>
        </p:txBody>
      </p:sp>
      <p:sp>
        <p:nvSpPr>
          <p:cNvPr id="4" name="TextBox 3"/>
          <p:cNvSpPr txBox="1"/>
          <p:nvPr/>
        </p:nvSpPr>
        <p:spPr>
          <a:xfrm>
            <a:off x="1554480" y="1335024"/>
            <a:ext cx="9082735" cy="438912"/>
          </a:xfrm>
          <a:prstGeom prst="rect">
            <a:avLst/>
          </a:prstGeom>
          <a:noFill/>
        </p:spPr>
        <p:txBody>
          <a:bodyPr wrap="square">
            <a:spAutoFit/>
          </a:bodyPr>
          <a:lstStyle/>
          <a:p>
            <a:pPr algn="ctr"/>
            <a:r>
              <a:rPr sz="1100" b="0" i="0">
                <a:solidFill>
                  <a:srgbClr val="8B9AB0"/>
                </a:solidFill>
              </a:rPr>
              <a:t>These are engineering parameters, not marketing claims. Every number is a deliberate design choice that can be tuned.</a:t>
            </a:r>
          </a:p>
        </p:txBody>
      </p:sp>
      <p:sp>
        <p:nvSpPr>
          <p:cNvPr id="5" name="Rounded Rectangle 4"/>
          <p:cNvSpPr/>
          <p:nvPr/>
        </p:nvSpPr>
        <p:spPr>
          <a:xfrm>
            <a:off x="457200" y="1847088"/>
            <a:ext cx="3624986" cy="16276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93392"/>
            <a:ext cx="3259226" cy="566928"/>
          </a:xfrm>
          <a:prstGeom prst="rect">
            <a:avLst/>
          </a:prstGeom>
          <a:noFill/>
        </p:spPr>
        <p:txBody>
          <a:bodyPr wrap="square">
            <a:spAutoFit/>
          </a:bodyPr>
          <a:lstStyle/>
          <a:p>
            <a:pPr algn="l"/>
            <a:r>
              <a:rPr sz="3000" b="1" i="0">
                <a:solidFill>
                  <a:srgbClr val="4EA8DE"/>
                </a:solidFill>
              </a:rPr>
              <a:t>2 sec</a:t>
            </a:r>
          </a:p>
        </p:txBody>
      </p:sp>
      <p:sp>
        <p:nvSpPr>
          <p:cNvPr id="7" name="TextBox 6"/>
          <p:cNvSpPr txBox="1"/>
          <p:nvPr/>
        </p:nvSpPr>
        <p:spPr>
          <a:xfrm>
            <a:off x="640080" y="2633472"/>
            <a:ext cx="3259226" cy="713232"/>
          </a:xfrm>
          <a:prstGeom prst="rect">
            <a:avLst/>
          </a:prstGeom>
          <a:noFill/>
        </p:spPr>
        <p:txBody>
          <a:bodyPr wrap="square">
            <a:spAutoFit/>
          </a:bodyPr>
          <a:lstStyle/>
          <a:p>
            <a:pPr algn="l"/>
            <a:r>
              <a:rPr sz="1100" b="0" i="0">
                <a:solidFill>
                  <a:srgbClr val="8B9AB0"/>
                </a:solidFill>
              </a:rPr>
              <a:t>Map update latency
(polling interval)</a:t>
            </a:r>
          </a:p>
        </p:txBody>
      </p:sp>
      <p:sp>
        <p:nvSpPr>
          <p:cNvPr id="8" name="Rounded Rectangle 7"/>
          <p:cNvSpPr/>
          <p:nvPr/>
        </p:nvSpPr>
        <p:spPr>
          <a:xfrm>
            <a:off x="4283354" y="1847088"/>
            <a:ext cx="3624986" cy="16276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66234" y="1993392"/>
            <a:ext cx="3259226" cy="566928"/>
          </a:xfrm>
          <a:prstGeom prst="rect">
            <a:avLst/>
          </a:prstGeom>
          <a:noFill/>
        </p:spPr>
        <p:txBody>
          <a:bodyPr wrap="square">
            <a:spAutoFit/>
          </a:bodyPr>
          <a:lstStyle/>
          <a:p>
            <a:pPr algn="l"/>
            <a:r>
              <a:rPr sz="3000" b="1" i="0">
                <a:solidFill>
                  <a:srgbClr val="4EA8DE"/>
                </a:solidFill>
              </a:rPr>
              <a:t>15 m</a:t>
            </a:r>
          </a:p>
        </p:txBody>
      </p:sp>
      <p:sp>
        <p:nvSpPr>
          <p:cNvPr id="10" name="TextBox 9"/>
          <p:cNvSpPr txBox="1"/>
          <p:nvPr/>
        </p:nvSpPr>
        <p:spPr>
          <a:xfrm>
            <a:off x="4466234" y="2633472"/>
            <a:ext cx="3259226" cy="713232"/>
          </a:xfrm>
          <a:prstGeom prst="rect">
            <a:avLst/>
          </a:prstGeom>
          <a:noFill/>
        </p:spPr>
        <p:txBody>
          <a:bodyPr wrap="square">
            <a:spAutoFit/>
          </a:bodyPr>
          <a:lstStyle/>
          <a:p>
            <a:pPr algn="l"/>
            <a:r>
              <a:rPr sz="1100" b="0" i="0">
                <a:solidFill>
                  <a:srgbClr val="8B9AB0"/>
                </a:solidFill>
              </a:rPr>
              <a:t>Crowd verification radius
(Haversine formula)</a:t>
            </a:r>
          </a:p>
        </p:txBody>
      </p:sp>
      <p:sp>
        <p:nvSpPr>
          <p:cNvPr id="11" name="Rounded Rectangle 10"/>
          <p:cNvSpPr/>
          <p:nvPr/>
        </p:nvSpPr>
        <p:spPr>
          <a:xfrm>
            <a:off x="8109508" y="1847088"/>
            <a:ext cx="3624986" cy="16276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92388" y="1993392"/>
            <a:ext cx="3259226" cy="566928"/>
          </a:xfrm>
          <a:prstGeom prst="rect">
            <a:avLst/>
          </a:prstGeom>
          <a:noFill/>
        </p:spPr>
        <p:txBody>
          <a:bodyPr wrap="square">
            <a:spAutoFit/>
          </a:bodyPr>
          <a:lstStyle/>
          <a:p>
            <a:pPr algn="l"/>
            <a:r>
              <a:rPr sz="3000" b="1" i="0">
                <a:solidFill>
                  <a:srgbClr val="4EA8DE"/>
                </a:solidFill>
              </a:rPr>
              <a:t>3</a:t>
            </a:r>
          </a:p>
        </p:txBody>
      </p:sp>
      <p:sp>
        <p:nvSpPr>
          <p:cNvPr id="13" name="TextBox 12"/>
          <p:cNvSpPr txBox="1"/>
          <p:nvPr/>
        </p:nvSpPr>
        <p:spPr>
          <a:xfrm>
            <a:off x="8292388" y="2633472"/>
            <a:ext cx="3259226" cy="713232"/>
          </a:xfrm>
          <a:prstGeom prst="rect">
            <a:avLst/>
          </a:prstGeom>
          <a:noFill/>
        </p:spPr>
        <p:txBody>
          <a:bodyPr wrap="square">
            <a:spAutoFit/>
          </a:bodyPr>
          <a:lstStyle/>
          <a:p>
            <a:pPr algn="l"/>
            <a:r>
              <a:rPr sz="1100" b="0" i="0">
                <a:solidFill>
                  <a:srgbClr val="8B9AB0"/>
                </a:solidFill>
              </a:rPr>
              <a:t>Independent detections required
before any alert fires</a:t>
            </a:r>
          </a:p>
        </p:txBody>
      </p:sp>
      <p:sp>
        <p:nvSpPr>
          <p:cNvPr id="14" name="Rounded Rectangle 13"/>
          <p:cNvSpPr/>
          <p:nvPr/>
        </p:nvSpPr>
        <p:spPr>
          <a:xfrm>
            <a:off x="457200" y="3657600"/>
            <a:ext cx="3624986" cy="16276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803904"/>
            <a:ext cx="3259226" cy="566928"/>
          </a:xfrm>
          <a:prstGeom prst="rect">
            <a:avLst/>
          </a:prstGeom>
          <a:noFill/>
        </p:spPr>
        <p:txBody>
          <a:bodyPr wrap="square">
            <a:spAutoFit/>
          </a:bodyPr>
          <a:lstStyle/>
          <a:p>
            <a:pPr algn="l"/>
            <a:r>
              <a:rPr sz="3000" b="1" i="0">
                <a:solidFill>
                  <a:srgbClr val="4EA8DE"/>
                </a:solidFill>
              </a:rPr>
              <a:t>4 types</a:t>
            </a:r>
          </a:p>
        </p:txBody>
      </p:sp>
      <p:sp>
        <p:nvSpPr>
          <p:cNvPr id="16" name="TextBox 15"/>
          <p:cNvSpPr txBox="1"/>
          <p:nvPr/>
        </p:nvSpPr>
        <p:spPr>
          <a:xfrm>
            <a:off x="640080" y="4443984"/>
            <a:ext cx="3259226" cy="713232"/>
          </a:xfrm>
          <a:prstGeom prst="rect">
            <a:avLst/>
          </a:prstGeom>
          <a:noFill/>
        </p:spPr>
        <p:txBody>
          <a:bodyPr wrap="square">
            <a:spAutoFit/>
          </a:bodyPr>
          <a:lstStyle/>
          <a:p>
            <a:pPr algn="l"/>
            <a:r>
              <a:rPr sz="1100" b="0" i="0">
                <a:solidFill>
                  <a:srgbClr val="8B9AB0"/>
                </a:solidFill>
              </a:rPr>
              <a:t>Deep / Medium / Shallow
/ Speedbreaker</a:t>
            </a:r>
          </a:p>
        </p:txBody>
      </p:sp>
      <p:sp>
        <p:nvSpPr>
          <p:cNvPr id="17" name="Rounded Rectangle 16"/>
          <p:cNvSpPr/>
          <p:nvPr/>
        </p:nvSpPr>
        <p:spPr>
          <a:xfrm>
            <a:off x="4283354" y="3657600"/>
            <a:ext cx="3624986" cy="16276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6234" y="3803904"/>
            <a:ext cx="3259226" cy="566928"/>
          </a:xfrm>
          <a:prstGeom prst="rect">
            <a:avLst/>
          </a:prstGeom>
          <a:noFill/>
        </p:spPr>
        <p:txBody>
          <a:bodyPr wrap="square">
            <a:spAutoFit/>
          </a:bodyPr>
          <a:lstStyle/>
          <a:p>
            <a:pPr algn="l"/>
            <a:r>
              <a:rPr sz="3000" b="1" i="0">
                <a:solidFill>
                  <a:srgbClr val="4EA8DE"/>
                </a:solidFill>
              </a:rPr>
              <a:t>5 cm</a:t>
            </a:r>
          </a:p>
        </p:txBody>
      </p:sp>
      <p:sp>
        <p:nvSpPr>
          <p:cNvPr id="19" name="TextBox 18"/>
          <p:cNvSpPr txBox="1"/>
          <p:nvPr/>
        </p:nvSpPr>
        <p:spPr>
          <a:xfrm>
            <a:off x="4466234" y="4443984"/>
            <a:ext cx="3259226" cy="713232"/>
          </a:xfrm>
          <a:prstGeom prst="rect">
            <a:avLst/>
          </a:prstGeom>
          <a:noFill/>
        </p:spPr>
        <p:txBody>
          <a:bodyPr wrap="square">
            <a:spAutoFit/>
          </a:bodyPr>
          <a:lstStyle/>
          <a:p>
            <a:pPr algn="l"/>
            <a:r>
              <a:rPr sz="1100" b="0" i="0">
                <a:solidFill>
                  <a:srgbClr val="8B9AB0"/>
                </a:solidFill>
              </a:rPr>
              <a:t>Minimum distance delta
that registers as a hazard</a:t>
            </a:r>
          </a:p>
        </p:txBody>
      </p:sp>
      <p:sp>
        <p:nvSpPr>
          <p:cNvPr id="20" name="Rounded Rectangle 19"/>
          <p:cNvSpPr/>
          <p:nvPr/>
        </p:nvSpPr>
        <p:spPr>
          <a:xfrm>
            <a:off x="8109508" y="3657600"/>
            <a:ext cx="3624986" cy="16276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2388" y="3803904"/>
            <a:ext cx="3259226" cy="566928"/>
          </a:xfrm>
          <a:prstGeom prst="rect">
            <a:avLst/>
          </a:prstGeom>
          <a:noFill/>
        </p:spPr>
        <p:txBody>
          <a:bodyPr wrap="square">
            <a:spAutoFit/>
          </a:bodyPr>
          <a:lstStyle/>
          <a:p>
            <a:pPr algn="l"/>
            <a:r>
              <a:rPr sz="3000" b="1" i="0">
                <a:solidFill>
                  <a:srgbClr val="4EA8DE"/>
                </a:solidFill>
              </a:rPr>
              <a:t>0</a:t>
            </a:r>
          </a:p>
        </p:txBody>
      </p:sp>
      <p:sp>
        <p:nvSpPr>
          <p:cNvPr id="22" name="TextBox 21"/>
          <p:cNvSpPr txBox="1"/>
          <p:nvPr/>
        </p:nvSpPr>
        <p:spPr>
          <a:xfrm>
            <a:off x="8292388" y="4443984"/>
            <a:ext cx="3259226" cy="713232"/>
          </a:xfrm>
          <a:prstGeom prst="rect">
            <a:avLst/>
          </a:prstGeom>
          <a:noFill/>
        </p:spPr>
        <p:txBody>
          <a:bodyPr wrap="square">
            <a:spAutoFit/>
          </a:bodyPr>
          <a:lstStyle/>
          <a:p>
            <a:pPr algn="l"/>
            <a:r>
              <a:rPr sz="1100" b="0" i="0">
                <a:solidFill>
                  <a:srgbClr val="8B9AB0"/>
                </a:solidFill>
              </a:rPr>
              <a:t>External API keys or billing
accounts required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810"/>
        </a:solidFill>
        <a:effectLst/>
      </p:bgPr>
    </p:bg>
    <p:spTree>
      <p:nvGrpSpPr>
        <p:cNvPr id="1" name=""/>
        <p:cNvGrpSpPr/>
        <p:nvPr/>
      </p:nvGrpSpPr>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A5568"/>
                </a:solidFill>
              </a:rPr>
              <a:t>CHALLENGES</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Three walls we actually hit</a:t>
            </a:r>
          </a:p>
        </p:txBody>
      </p:sp>
      <p:sp>
        <p:nvSpPr>
          <p:cNvPr id="4" name="TextBox 3"/>
          <p:cNvSpPr txBox="1"/>
          <p:nvPr/>
        </p:nvSpPr>
        <p:spPr>
          <a:xfrm>
            <a:off x="1828800" y="1335024"/>
            <a:ext cx="8534095" cy="438912"/>
          </a:xfrm>
          <a:prstGeom prst="rect">
            <a:avLst/>
          </a:prstGeom>
          <a:noFill/>
        </p:spPr>
        <p:txBody>
          <a:bodyPr wrap="square">
            <a:spAutoFit/>
          </a:bodyPr>
          <a:lstStyle/>
          <a:p>
            <a:pPr algn="ctr"/>
            <a:r>
              <a:rPr sz="1100" b="0" i="0">
                <a:solidFill>
                  <a:srgbClr val="8B9AB0"/>
                </a:solidFill>
              </a:rPr>
              <a:t>None of these were theoretical. Each one blocked progress and needed a real fix.</a:t>
            </a:r>
          </a:p>
        </p:txBody>
      </p:sp>
      <p:sp>
        <p:nvSpPr>
          <p:cNvPr id="5" name="Rounded Rectangle 4"/>
          <p:cNvSpPr/>
          <p:nvPr/>
        </p:nvSpPr>
        <p:spPr>
          <a:xfrm>
            <a:off x="457200" y="1847088"/>
            <a:ext cx="3624986" cy="3529584"/>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993392"/>
            <a:ext cx="3295802" cy="329184"/>
          </a:xfrm>
          <a:prstGeom prst="rect">
            <a:avLst/>
          </a:prstGeom>
          <a:noFill/>
        </p:spPr>
        <p:txBody>
          <a:bodyPr wrap="square">
            <a:spAutoFit/>
          </a:bodyPr>
          <a:lstStyle/>
          <a:p>
            <a:pPr algn="l"/>
            <a:r>
              <a:rPr sz="1200" b="1" i="0">
                <a:solidFill>
                  <a:srgbClr val="FF8C42"/>
                </a:solidFill>
              </a:rPr>
              <a:t>macOS blocked port 5000</a:t>
            </a:r>
          </a:p>
        </p:txBody>
      </p:sp>
      <p:sp>
        <p:nvSpPr>
          <p:cNvPr id="7" name="TextBox 6"/>
          <p:cNvSpPr txBox="1"/>
          <p:nvPr/>
        </p:nvSpPr>
        <p:spPr>
          <a:xfrm>
            <a:off x="621792" y="2395728"/>
            <a:ext cx="3295802" cy="2871216"/>
          </a:xfrm>
          <a:prstGeom prst="rect">
            <a:avLst/>
          </a:prstGeom>
          <a:noFill/>
        </p:spPr>
        <p:txBody>
          <a:bodyPr wrap="square">
            <a:spAutoFit/>
          </a:bodyPr>
          <a:lstStyle/>
          <a:p>
            <a:pPr algn="l"/>
            <a:r>
              <a:rPr sz="1000" b="0" i="0">
                <a:solidFill>
                  <a:srgbClr val="8B9AB0"/>
                </a:solidFill>
              </a:rPr>
              <a:t>AirPlay Receiver on macOS Monterey silently occupies port 5000 — Flask's default. The app would start, appear to work, then randomly fail. Moved to port 5001.
Lesson: when something works in CI and fails on a dev machine, check what else is listening on that port.</a:t>
            </a:r>
          </a:p>
        </p:txBody>
      </p:sp>
      <p:sp>
        <p:nvSpPr>
          <p:cNvPr id="8" name="Rounded Rectangle 7"/>
          <p:cNvSpPr/>
          <p:nvPr/>
        </p:nvSpPr>
        <p:spPr>
          <a:xfrm>
            <a:off x="4283354" y="1847088"/>
            <a:ext cx="3624986" cy="3529584"/>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47946" y="1993392"/>
            <a:ext cx="3295802" cy="329184"/>
          </a:xfrm>
          <a:prstGeom prst="rect">
            <a:avLst/>
          </a:prstGeom>
          <a:noFill/>
        </p:spPr>
        <p:txBody>
          <a:bodyPr wrap="square">
            <a:spAutoFit/>
          </a:bodyPr>
          <a:lstStyle/>
          <a:p>
            <a:pPr algn="l"/>
            <a:r>
              <a:rPr sz="1200" b="1" i="0">
                <a:solidFill>
                  <a:srgbClr val="FF4D4D"/>
                </a:solidFill>
              </a:rPr>
              <a:t>Google Maps requires billing</a:t>
            </a:r>
          </a:p>
        </p:txBody>
      </p:sp>
      <p:sp>
        <p:nvSpPr>
          <p:cNvPr id="10" name="TextBox 9"/>
          <p:cNvSpPr txBox="1"/>
          <p:nvPr/>
        </p:nvSpPr>
        <p:spPr>
          <a:xfrm>
            <a:off x="4447946" y="2395728"/>
            <a:ext cx="3295802" cy="2871216"/>
          </a:xfrm>
          <a:prstGeom prst="rect">
            <a:avLst/>
          </a:prstGeom>
          <a:noFill/>
        </p:spPr>
        <p:txBody>
          <a:bodyPr wrap="square">
            <a:spAutoFit/>
          </a:bodyPr>
          <a:lstStyle/>
          <a:p>
            <a:pPr algn="l"/>
            <a:r>
              <a:rPr sz="1000" b="0" i="0">
                <a:solidFill>
                  <a:srgbClr val="8B9AB0"/>
                </a:solidFill>
              </a:rPr>
              <a:t>The original design used Google Maps. Midway through, billing became mandatory even for free-tier usage. Switched to Leaflet.js + OpenStreetMap — no key, no account, no surprises. Also made the project deployable by anyone with zero setup.</a:t>
            </a:r>
          </a:p>
        </p:txBody>
      </p:sp>
      <p:sp>
        <p:nvSpPr>
          <p:cNvPr id="11" name="Rounded Rectangle 10"/>
          <p:cNvSpPr/>
          <p:nvPr/>
        </p:nvSpPr>
        <p:spPr>
          <a:xfrm>
            <a:off x="8109508" y="1847088"/>
            <a:ext cx="3624986" cy="3529584"/>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4100" y="1993392"/>
            <a:ext cx="3295802" cy="329184"/>
          </a:xfrm>
          <a:prstGeom prst="rect">
            <a:avLst/>
          </a:prstGeom>
          <a:noFill/>
        </p:spPr>
        <p:txBody>
          <a:bodyPr wrap="square">
            <a:spAutoFit/>
          </a:bodyPr>
          <a:lstStyle/>
          <a:p>
            <a:pPr algn="l"/>
            <a:r>
              <a:rPr sz="1200" b="1" i="0">
                <a:solidFill>
                  <a:srgbClr val="4EA8DE"/>
                </a:solidFill>
              </a:rPr>
              <a:t>Wokwi serial output too fast to demo</a:t>
            </a:r>
          </a:p>
        </p:txBody>
      </p:sp>
      <p:sp>
        <p:nvSpPr>
          <p:cNvPr id="13" name="TextBox 12"/>
          <p:cNvSpPr txBox="1"/>
          <p:nvPr/>
        </p:nvSpPr>
        <p:spPr>
          <a:xfrm>
            <a:off x="8274100" y="2395728"/>
            <a:ext cx="3295802" cy="2871216"/>
          </a:xfrm>
          <a:prstGeom prst="rect">
            <a:avLst/>
          </a:prstGeom>
          <a:noFill/>
        </p:spPr>
        <p:txBody>
          <a:bodyPr wrap="square">
            <a:spAutoFit/>
          </a:bodyPr>
          <a:lstStyle/>
          <a:p>
            <a:pPr algn="l"/>
            <a:r>
              <a:rPr sz="1000" b="0" i="0">
                <a:solidFill>
                  <a:srgbClr val="8B9AB0"/>
                </a:solidFill>
              </a:rPr>
              <a:t>When the simulation runs at full speed, serial data floods the bridge faster than a live demo can follow. Built simulator.py — keyboard-driven, press 1-4 to fire specific hazard types on demand. Better than real hardware for presentations.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810"/>
        </a:solidFill>
        <a:effectLst/>
      </p:bgPr>
    </p:bg>
    <p:spTree>
      <p:nvGrpSpPr>
        <p:cNvPr id="1" name=""/>
        <p:cNvGrpSpPr/>
        <p:nvPr/>
      </p:nvGrpSpPr>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A5568"/>
                </a:solidFill>
              </a:rPr>
              <a:t>WHAT COMES NEXT</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From simulation to road</a:t>
            </a:r>
          </a:p>
        </p:txBody>
      </p:sp>
      <p:sp>
        <p:nvSpPr>
          <p:cNvPr id="4" name="TextBox 3"/>
          <p:cNvSpPr txBox="1"/>
          <p:nvPr/>
        </p:nvSpPr>
        <p:spPr>
          <a:xfrm>
            <a:off x="1371600" y="1335024"/>
            <a:ext cx="9448495" cy="438912"/>
          </a:xfrm>
          <a:prstGeom prst="rect">
            <a:avLst/>
          </a:prstGeom>
          <a:noFill/>
        </p:spPr>
        <p:txBody>
          <a:bodyPr wrap="square">
            <a:spAutoFit/>
          </a:bodyPr>
          <a:lstStyle/>
          <a:p>
            <a:pPr algn="ctr"/>
            <a:r>
              <a:rPr sz="1100" b="0" i="0">
                <a:solidFill>
                  <a:srgbClr val="8B9AB0"/>
                </a:solidFill>
              </a:rPr>
              <a:t>The gap between 'working demo' and 'deployed on real vehicles' is two steps: real GPS hardware and an actual road test in Nagpur.</a:t>
            </a:r>
          </a:p>
        </p:txBody>
      </p:sp>
      <p:sp>
        <p:nvSpPr>
          <p:cNvPr id="5" name="TextBox 4"/>
          <p:cNvSpPr txBox="1"/>
          <p:nvPr/>
        </p:nvSpPr>
        <p:spPr>
          <a:xfrm>
            <a:off x="457200" y="1847088"/>
            <a:ext cx="11277295" cy="237744"/>
          </a:xfrm>
          <a:prstGeom prst="rect">
            <a:avLst/>
          </a:prstGeom>
          <a:noFill/>
        </p:spPr>
        <p:txBody>
          <a:bodyPr wrap="square">
            <a:spAutoFit/>
          </a:bodyPr>
          <a:lstStyle/>
          <a:p>
            <a:pPr algn="l"/>
            <a:r>
              <a:rPr sz="700" b="0" i="0">
                <a:solidFill>
                  <a:srgbClr val="4EA8DE"/>
                </a:solidFill>
              </a:rPr>
              <a:t>NEXT 2 WEEKS</a:t>
            </a:r>
          </a:p>
        </p:txBody>
      </p:sp>
      <p:sp>
        <p:nvSpPr>
          <p:cNvPr id="6" name="Rounded Rectangle 5"/>
          <p:cNvSpPr/>
          <p:nvPr/>
        </p:nvSpPr>
        <p:spPr>
          <a:xfrm>
            <a:off x="457200" y="2157984"/>
            <a:ext cx="3661562" cy="1207008"/>
          </a:xfrm>
          <a:prstGeom prst="roundRect">
            <a:avLst/>
          </a:prstGeom>
          <a:solidFill>
            <a:srgbClr val="0E162A"/>
          </a:solidFill>
          <a:ln w="9525">
            <a:solidFill>
              <a:srgbClr val="1A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322576"/>
            <a:ext cx="3387242" cy="950976"/>
          </a:xfrm>
          <a:prstGeom prst="rect">
            <a:avLst/>
          </a:prstGeom>
          <a:noFill/>
        </p:spPr>
        <p:txBody>
          <a:bodyPr wrap="square">
            <a:spAutoFit/>
          </a:bodyPr>
          <a:lstStyle/>
          <a:p>
            <a:pPr algn="l"/>
            <a:r>
              <a:rPr sz="1000" b="0" i="0">
                <a:solidFill>
                  <a:srgbClr val="8B9AB0"/>
                </a:solidFill>
              </a:rPr>
              <a:t>Replace simulated GPS with a NEO-6M real GPS module on physical ESP32 hardware</a:t>
            </a:r>
          </a:p>
        </p:txBody>
      </p:sp>
      <p:sp>
        <p:nvSpPr>
          <p:cNvPr id="8" name="Rounded Rectangle 7"/>
          <p:cNvSpPr/>
          <p:nvPr/>
        </p:nvSpPr>
        <p:spPr>
          <a:xfrm>
            <a:off x="4265066" y="2157984"/>
            <a:ext cx="3661562" cy="1207008"/>
          </a:xfrm>
          <a:prstGeom prst="roundRect">
            <a:avLst/>
          </a:prstGeom>
          <a:solidFill>
            <a:srgbClr val="0E162A"/>
          </a:solidFill>
          <a:ln w="9525">
            <a:solidFill>
              <a:srgbClr val="1A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02226" y="2322576"/>
            <a:ext cx="3387242" cy="950976"/>
          </a:xfrm>
          <a:prstGeom prst="rect">
            <a:avLst/>
          </a:prstGeom>
          <a:noFill/>
        </p:spPr>
        <p:txBody>
          <a:bodyPr wrap="square">
            <a:spAutoFit/>
          </a:bodyPr>
          <a:lstStyle/>
          <a:p>
            <a:pPr algn="l"/>
            <a:r>
              <a:rPr sz="1000" b="0" i="0">
                <a:solidFill>
                  <a:srgbClr val="8B9AB0"/>
                </a:solidFill>
              </a:rPr>
              <a:t>Switch from 2-second polling to WebSocket push for sub-second map updates</a:t>
            </a:r>
          </a:p>
        </p:txBody>
      </p:sp>
      <p:sp>
        <p:nvSpPr>
          <p:cNvPr id="10" name="Rounded Rectangle 9"/>
          <p:cNvSpPr/>
          <p:nvPr/>
        </p:nvSpPr>
        <p:spPr>
          <a:xfrm>
            <a:off x="8072932" y="2157984"/>
            <a:ext cx="3661562" cy="1207008"/>
          </a:xfrm>
          <a:prstGeom prst="roundRect">
            <a:avLst/>
          </a:prstGeom>
          <a:solidFill>
            <a:srgbClr val="0E162A"/>
          </a:solidFill>
          <a:ln w="9525">
            <a:solidFill>
              <a:srgbClr val="1A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0092" y="2322576"/>
            <a:ext cx="3387242" cy="950976"/>
          </a:xfrm>
          <a:prstGeom prst="rect">
            <a:avLst/>
          </a:prstGeom>
          <a:noFill/>
        </p:spPr>
        <p:txBody>
          <a:bodyPr wrap="square">
            <a:spAutoFit/>
          </a:bodyPr>
          <a:lstStyle/>
          <a:p>
            <a:pPr algn="l"/>
            <a:r>
              <a:rPr sz="1000" b="0" i="0">
                <a:solidFill>
                  <a:srgbClr val="8B9AB0"/>
                </a:solidFill>
              </a:rPr>
              <a:t>Road test: mount sensor on a bicycle, run on Nagpur streets, compare to simulation</a:t>
            </a:r>
          </a:p>
        </p:txBody>
      </p:sp>
      <p:sp>
        <p:nvSpPr>
          <p:cNvPr id="12" name="TextBox 11"/>
          <p:cNvSpPr txBox="1"/>
          <p:nvPr/>
        </p:nvSpPr>
        <p:spPr>
          <a:xfrm>
            <a:off x="457200" y="3566160"/>
            <a:ext cx="11277295" cy="237744"/>
          </a:xfrm>
          <a:prstGeom prst="rect">
            <a:avLst/>
          </a:prstGeom>
          <a:noFill/>
        </p:spPr>
        <p:txBody>
          <a:bodyPr wrap="square">
            <a:spAutoFit/>
          </a:bodyPr>
          <a:lstStyle/>
          <a:p>
            <a:pPr algn="l"/>
            <a:r>
              <a:rPr sz="700" b="0" i="0">
                <a:solidFill>
                  <a:srgbClr val="FF8C42"/>
                </a:solidFill>
              </a:rPr>
              <a:t>NEXT 1 – 3 MONTHS</a:t>
            </a:r>
          </a:p>
        </p:txBody>
      </p:sp>
      <p:sp>
        <p:nvSpPr>
          <p:cNvPr id="13" name="Rounded Rectangle 12"/>
          <p:cNvSpPr/>
          <p:nvPr/>
        </p:nvSpPr>
        <p:spPr>
          <a:xfrm>
            <a:off x="457200" y="3877056"/>
            <a:ext cx="5565495" cy="1207008"/>
          </a:xfrm>
          <a:prstGeom prst="roundRect">
            <a:avLst/>
          </a:prstGeom>
          <a:solidFill>
            <a:srgbClr val="0E162A"/>
          </a:solidFill>
          <a:ln w="9525">
            <a:solidFill>
              <a:srgbClr val="3A2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4041648"/>
            <a:ext cx="5291175" cy="950976"/>
          </a:xfrm>
          <a:prstGeom prst="rect">
            <a:avLst/>
          </a:prstGeom>
          <a:noFill/>
        </p:spPr>
        <p:txBody>
          <a:bodyPr wrap="square">
            <a:spAutoFit/>
          </a:bodyPr>
          <a:lstStyle/>
          <a:p>
            <a:pPr algn="l"/>
            <a:r>
              <a:rPr sz="1000" b="0" i="0">
                <a:solidFill>
                  <a:srgbClr val="8B9AB0"/>
                </a:solidFill>
              </a:rPr>
              <a:t>React Native / Flutter mobile app — detection on-device, no ESP32 needed for consumer use</a:t>
            </a:r>
          </a:p>
        </p:txBody>
      </p:sp>
      <p:sp>
        <p:nvSpPr>
          <p:cNvPr id="15" name="Rounded Rectangle 14"/>
          <p:cNvSpPr/>
          <p:nvPr/>
        </p:nvSpPr>
        <p:spPr>
          <a:xfrm>
            <a:off x="6168999" y="3877056"/>
            <a:ext cx="5565495" cy="1207008"/>
          </a:xfrm>
          <a:prstGeom prst="roundRect">
            <a:avLst/>
          </a:prstGeom>
          <a:solidFill>
            <a:srgbClr val="0E162A"/>
          </a:solidFill>
          <a:ln w="9525">
            <a:solidFill>
              <a:srgbClr val="3A2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6159" y="4041648"/>
            <a:ext cx="5291175" cy="950976"/>
          </a:xfrm>
          <a:prstGeom prst="rect">
            <a:avLst/>
          </a:prstGeom>
          <a:noFill/>
        </p:spPr>
        <p:txBody>
          <a:bodyPr wrap="square">
            <a:spAutoFit/>
          </a:bodyPr>
          <a:lstStyle/>
          <a:p>
            <a:pPr algn="l"/>
            <a:r>
              <a:rPr sz="1000" b="0" i="0">
                <a:solidFill>
                  <a:srgbClr val="8B9AB0"/>
                </a:solidFill>
              </a:rPr>
              <a:t>Fleet management view: all vehicle positions + hazards on one screen</a:t>
            </a:r>
          </a:p>
        </p:txBody>
      </p:sp>
      <p:sp>
        <p:nvSpPr>
          <p:cNvPr id="17" name="TextBox 16"/>
          <p:cNvSpPr txBox="1"/>
          <p:nvPr/>
        </p:nvSpPr>
        <p:spPr>
          <a:xfrm>
            <a:off x="457200" y="5285232"/>
            <a:ext cx="11277295" cy="237744"/>
          </a:xfrm>
          <a:prstGeom prst="rect">
            <a:avLst/>
          </a:prstGeom>
          <a:noFill/>
        </p:spPr>
        <p:txBody>
          <a:bodyPr wrap="square">
            <a:spAutoFit/>
          </a:bodyPr>
          <a:lstStyle/>
          <a:p>
            <a:pPr algn="l"/>
            <a:r>
              <a:rPr sz="700" b="0" i="0">
                <a:solidFill>
                  <a:srgbClr val="FF4D4D"/>
                </a:solidFill>
              </a:rPr>
              <a:t>RESEARCH DIRECTION  (AI / ML ALIGNMENT)</a:t>
            </a:r>
          </a:p>
        </p:txBody>
      </p:sp>
      <p:sp>
        <p:nvSpPr>
          <p:cNvPr id="18" name="Rounded Rectangle 17"/>
          <p:cNvSpPr/>
          <p:nvPr/>
        </p:nvSpPr>
        <p:spPr>
          <a:xfrm>
            <a:off x="457200" y="5596128"/>
            <a:ext cx="5565495" cy="1207008"/>
          </a:xfrm>
          <a:prstGeom prst="roundRect">
            <a:avLst/>
          </a:prstGeom>
          <a:solidFill>
            <a:srgbClr val="0E162A"/>
          </a:solidFill>
          <a:ln w="9525">
            <a:solidFill>
              <a:srgbClr val="3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5760720"/>
            <a:ext cx="5291175" cy="950976"/>
          </a:xfrm>
          <a:prstGeom prst="rect">
            <a:avLst/>
          </a:prstGeom>
          <a:noFill/>
        </p:spPr>
        <p:txBody>
          <a:bodyPr wrap="square">
            <a:spAutoFit/>
          </a:bodyPr>
          <a:lstStyle/>
          <a:p>
            <a:pPr algn="l"/>
            <a:r>
              <a:rPr sz="1000" b="0" i="0">
                <a:solidFill>
                  <a:srgbClr val="8B9AB0"/>
                </a:solidFill>
              </a:rPr>
              <a:t>Camera + YOLO object detection to visually confirm potholes alongside ultrasonic data</a:t>
            </a:r>
          </a:p>
        </p:txBody>
      </p:sp>
      <p:sp>
        <p:nvSpPr>
          <p:cNvPr id="20" name="Rounded Rectangle 19"/>
          <p:cNvSpPr/>
          <p:nvPr/>
        </p:nvSpPr>
        <p:spPr>
          <a:xfrm>
            <a:off x="6168999" y="5596128"/>
            <a:ext cx="5565495" cy="1207008"/>
          </a:xfrm>
          <a:prstGeom prst="roundRect">
            <a:avLst/>
          </a:prstGeom>
          <a:solidFill>
            <a:srgbClr val="0E162A"/>
          </a:solidFill>
          <a:ln w="9525">
            <a:solidFill>
              <a:srgbClr val="3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6159" y="5760720"/>
            <a:ext cx="5291175" cy="950976"/>
          </a:xfrm>
          <a:prstGeom prst="rect">
            <a:avLst/>
          </a:prstGeom>
          <a:noFill/>
        </p:spPr>
        <p:txBody>
          <a:bodyPr wrap="square">
            <a:spAutoFit/>
          </a:bodyPr>
          <a:lstStyle/>
          <a:p>
            <a:pPr algn="l"/>
            <a:r>
              <a:rPr sz="1000" b="0" i="0">
                <a:solidFill>
                  <a:srgbClr val="8B9AB0"/>
                </a:solidFill>
              </a:rPr>
              <a:t>Push verified hazards to NHAI or Smart City municipal APIs automatically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0810"/>
        </a:solidFill>
        <a:effectLst/>
      </p:bgPr>
    </p:bg>
    <p:spTree>
      <p:nvGrpSpPr>
        <p:cNvPr id="1" name=""/>
        <p:cNvGrpSpPr/>
        <p:nvPr/>
      </p:nvGrpSpPr>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A5568"/>
                </a:solidFill>
              </a:rPr>
              <a:t>CONCLUSION</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What we built, and why it works</a:t>
            </a:r>
          </a:p>
        </p:txBody>
      </p:sp>
      <p:sp>
        <p:nvSpPr>
          <p:cNvPr id="4" name="TextBox 3"/>
          <p:cNvSpPr txBox="1"/>
          <p:nvPr/>
        </p:nvSpPr>
        <p:spPr>
          <a:xfrm>
            <a:off x="1371600" y="1353312"/>
            <a:ext cx="9448495" cy="822960"/>
          </a:xfrm>
          <a:prstGeom prst="rect">
            <a:avLst/>
          </a:prstGeom>
          <a:noFill/>
        </p:spPr>
        <p:txBody>
          <a:bodyPr wrap="square">
            <a:spAutoFit/>
          </a:bodyPr>
          <a:lstStyle/>
          <a:p>
            <a:pPr algn="ctr"/>
            <a:r>
              <a:rPr sz="1300" b="0" i="0">
                <a:solidFill>
                  <a:srgbClr val="8B9AB0"/>
                </a:solidFill>
              </a:rPr>
              <a:t>Most road hazard systems either need a human to file a report, or accept every sensor reading as ground truth. This system does neither. It collects sensor data automatically and only acts when three independent vehicles agree on the same hazard within 15 metres. That one design decision — crowd verification before alerting — is what keeps it usable on real roads.</a:t>
            </a:r>
          </a:p>
        </p:txBody>
      </p:sp>
      <p:sp>
        <p:nvSpPr>
          <p:cNvPr id="5" name="Rounded Rectangle 4"/>
          <p:cNvSpPr/>
          <p:nvPr/>
        </p:nvSpPr>
        <p:spPr>
          <a:xfrm>
            <a:off x="457200" y="2304288"/>
            <a:ext cx="3624986" cy="128016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432304"/>
            <a:ext cx="3259226" cy="310896"/>
          </a:xfrm>
          <a:prstGeom prst="rect">
            <a:avLst/>
          </a:prstGeom>
          <a:noFill/>
        </p:spPr>
        <p:txBody>
          <a:bodyPr wrap="square">
            <a:spAutoFit/>
          </a:bodyPr>
          <a:lstStyle/>
          <a:p>
            <a:pPr algn="l"/>
            <a:r>
              <a:rPr sz="1300" b="1" i="0">
                <a:solidFill>
                  <a:srgbClr val="4EA8DE"/>
                </a:solidFill>
              </a:rPr>
              <a:t>Depth classification</a:t>
            </a:r>
          </a:p>
        </p:txBody>
      </p:sp>
      <p:sp>
        <p:nvSpPr>
          <p:cNvPr id="7" name="TextBox 6"/>
          <p:cNvSpPr txBox="1"/>
          <p:nvPr/>
        </p:nvSpPr>
        <p:spPr>
          <a:xfrm>
            <a:off x="640080" y="2807208"/>
            <a:ext cx="3259226" cy="676656"/>
          </a:xfrm>
          <a:prstGeom prst="rect">
            <a:avLst/>
          </a:prstGeom>
          <a:noFill/>
        </p:spPr>
        <p:txBody>
          <a:bodyPr wrap="square">
            <a:spAutoFit/>
          </a:bodyPr>
          <a:lstStyle/>
          <a:p>
            <a:pPr algn="l"/>
            <a:r>
              <a:rPr sz="1100" b="0" i="0">
                <a:solidFill>
                  <a:srgbClr val="8B9AB0"/>
                </a:solidFill>
              </a:rPr>
              <a:t>Objective severity grading from sensor data, not user judgment</a:t>
            </a:r>
          </a:p>
        </p:txBody>
      </p:sp>
      <p:sp>
        <p:nvSpPr>
          <p:cNvPr id="8" name="Rounded Rectangle 7"/>
          <p:cNvSpPr/>
          <p:nvPr/>
        </p:nvSpPr>
        <p:spPr>
          <a:xfrm>
            <a:off x="4283354" y="2304288"/>
            <a:ext cx="3624986" cy="128016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66234" y="2432304"/>
            <a:ext cx="3259226" cy="310896"/>
          </a:xfrm>
          <a:prstGeom prst="rect">
            <a:avLst/>
          </a:prstGeom>
          <a:noFill/>
        </p:spPr>
        <p:txBody>
          <a:bodyPr wrap="square">
            <a:spAutoFit/>
          </a:bodyPr>
          <a:lstStyle/>
          <a:p>
            <a:pPr algn="l"/>
            <a:r>
              <a:rPr sz="1300" b="1" i="0">
                <a:solidFill>
                  <a:srgbClr val="FF8C42"/>
                </a:solidFill>
              </a:rPr>
              <a:t>Crowd verification</a:t>
            </a:r>
          </a:p>
        </p:txBody>
      </p:sp>
      <p:sp>
        <p:nvSpPr>
          <p:cNvPr id="10" name="TextBox 9"/>
          <p:cNvSpPr txBox="1"/>
          <p:nvPr/>
        </p:nvSpPr>
        <p:spPr>
          <a:xfrm>
            <a:off x="4466234" y="2807208"/>
            <a:ext cx="3259226" cy="676656"/>
          </a:xfrm>
          <a:prstGeom prst="rect">
            <a:avLst/>
          </a:prstGeom>
          <a:noFill/>
        </p:spPr>
        <p:txBody>
          <a:bodyPr wrap="square">
            <a:spAutoFit/>
          </a:bodyPr>
          <a:lstStyle/>
          <a:p>
            <a:pPr algn="l"/>
            <a:r>
              <a:rPr sz="1100" b="0" i="0">
                <a:solidFill>
                  <a:srgbClr val="8B9AB0"/>
                </a:solidFill>
              </a:rPr>
              <a:t>Three independent detections before any alert reaches a driver</a:t>
            </a:r>
          </a:p>
        </p:txBody>
      </p:sp>
      <p:sp>
        <p:nvSpPr>
          <p:cNvPr id="11" name="Rounded Rectangle 10"/>
          <p:cNvSpPr/>
          <p:nvPr/>
        </p:nvSpPr>
        <p:spPr>
          <a:xfrm>
            <a:off x="8109508" y="2304288"/>
            <a:ext cx="3624986" cy="128016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92388" y="2432304"/>
            <a:ext cx="3259226" cy="310896"/>
          </a:xfrm>
          <a:prstGeom prst="rect">
            <a:avLst/>
          </a:prstGeom>
          <a:noFill/>
        </p:spPr>
        <p:txBody>
          <a:bodyPr wrap="square">
            <a:spAutoFit/>
          </a:bodyPr>
          <a:lstStyle/>
          <a:p>
            <a:pPr algn="l"/>
            <a:r>
              <a:rPr sz="1300" b="1" i="0">
                <a:solidFill>
                  <a:srgbClr val="FFD166"/>
                </a:solidFill>
              </a:rPr>
              <a:t>Shadow alerts</a:t>
            </a:r>
          </a:p>
        </p:txBody>
      </p:sp>
      <p:sp>
        <p:nvSpPr>
          <p:cNvPr id="13" name="TextBox 12"/>
          <p:cNvSpPr txBox="1"/>
          <p:nvPr/>
        </p:nvSpPr>
        <p:spPr>
          <a:xfrm>
            <a:off x="8292388" y="2807208"/>
            <a:ext cx="3259226" cy="676656"/>
          </a:xfrm>
          <a:prstGeom prst="rect">
            <a:avLst/>
          </a:prstGeom>
          <a:noFill/>
        </p:spPr>
        <p:txBody>
          <a:bodyPr wrap="square">
            <a:spAutoFit/>
          </a:bodyPr>
          <a:lstStyle/>
          <a:p>
            <a:pPr algn="l"/>
            <a:r>
              <a:rPr sz="1100" b="0" i="0">
                <a:solidFill>
                  <a:srgbClr val="8B9AB0"/>
                </a:solidFill>
              </a:rPr>
              <a:t>Real-time warnings for drivers who cannot see the road ahead</a:t>
            </a:r>
          </a:p>
        </p:txBody>
      </p:sp>
      <p:sp>
        <p:nvSpPr>
          <p:cNvPr id="14" name="Rounded Rectangle 13"/>
          <p:cNvSpPr/>
          <p:nvPr/>
        </p:nvSpPr>
        <p:spPr>
          <a:xfrm>
            <a:off x="1853031" y="3913632"/>
            <a:ext cx="4114800" cy="34747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44471" y="3977640"/>
            <a:ext cx="3931920" cy="256032"/>
          </a:xfrm>
          <a:prstGeom prst="rect">
            <a:avLst/>
          </a:prstGeom>
          <a:noFill/>
        </p:spPr>
        <p:txBody>
          <a:bodyPr wrap="square">
            <a:spAutoFit/>
          </a:bodyPr>
          <a:lstStyle/>
          <a:p>
            <a:pPr algn="ctr"/>
            <a:r>
              <a:rPr sz="1000" b="0" i="1">
                <a:solidFill>
                  <a:srgbClr val="4EA8DE"/>
                </a:solidFill>
              </a:rPr>
              <a:t>smart-road-hazard.vercel.app</a:t>
            </a:r>
          </a:p>
        </p:txBody>
      </p:sp>
      <p:sp>
        <p:nvSpPr>
          <p:cNvPr id="16" name="Rounded Rectangle 15"/>
          <p:cNvSpPr/>
          <p:nvPr/>
        </p:nvSpPr>
        <p:spPr>
          <a:xfrm>
            <a:off x="6223863" y="3913632"/>
            <a:ext cx="4114800" cy="34747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5303" y="3977640"/>
            <a:ext cx="3931920" cy="256032"/>
          </a:xfrm>
          <a:prstGeom prst="rect">
            <a:avLst/>
          </a:prstGeom>
          <a:noFill/>
        </p:spPr>
        <p:txBody>
          <a:bodyPr wrap="square">
            <a:spAutoFit/>
          </a:bodyPr>
          <a:lstStyle/>
          <a:p>
            <a:pPr algn="ctr"/>
            <a:r>
              <a:rPr sz="1000" b="0" i="1">
                <a:solidFill>
                  <a:srgbClr val="8B9AB0"/>
                </a:solidFill>
              </a:rPr>
              <a:t>github.com/Krishpotanwar/SmartRoadHazard</a:t>
            </a:r>
          </a:p>
        </p:txBody>
      </p:sp>
      <p:sp>
        <p:nvSpPr>
          <p:cNvPr id="18" name="TextBox 17"/>
          <p:cNvSpPr txBox="1"/>
          <p:nvPr/>
        </p:nvSpPr>
        <p:spPr>
          <a:xfrm>
            <a:off x="457200" y="4462272"/>
            <a:ext cx="11277295" cy="237744"/>
          </a:xfrm>
          <a:prstGeom prst="rect">
            <a:avLst/>
          </a:prstGeom>
          <a:noFill/>
        </p:spPr>
        <p:txBody>
          <a:bodyPr wrap="square">
            <a:spAutoFit/>
          </a:bodyPr>
          <a:lstStyle/>
          <a:p>
            <a:pPr algn="ctr"/>
            <a:r>
              <a:rPr sz="1000" b="0" i="0">
                <a:solidFill>
                  <a:srgbClr val="4A5568"/>
                </a:solidFill>
              </a:rPr>
              <a:t>B.Tech CSE (AI &amp; ML)  ·  Ramdeobaba University, Nagpur  ·  2024 – 25</a:t>
            </a:r>
          </a:p>
        </p:txBody>
      </p:sp>
      <p:sp>
        <p:nvSpPr>
          <p:cNvPr id="19" name="TextBox 18"/>
          <p:cNvSpPr txBox="1"/>
          <p:nvPr/>
        </p:nvSpPr>
        <p:spPr>
          <a:xfrm>
            <a:off x="457200" y="4791456"/>
            <a:ext cx="11277295" cy="512064"/>
          </a:xfrm>
          <a:prstGeom prst="rect">
            <a:avLst/>
          </a:prstGeom>
          <a:noFill/>
        </p:spPr>
        <p:txBody>
          <a:bodyPr wrap="square">
            <a:spAutoFit/>
          </a:bodyPr>
          <a:lstStyle/>
          <a:p>
            <a:pPr algn="ctr"/>
            <a:r>
              <a:rPr sz="2800" b="1" i="0">
                <a:solidFill>
                  <a:srgbClr val="F0F4FF"/>
                </a:solidFil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