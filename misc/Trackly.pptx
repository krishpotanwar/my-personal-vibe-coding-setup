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68"/>
  </p:normalViewPr>
  <p:slideViewPr>
    <p:cSldViewPr snapToGrid="0" snapToObjects="1">
      <p:cViewPr varScale="1">
        <p:scale>
          <a:sx n="95" d="100"/>
          <a:sy n="95" d="100"/>
        </p:scale>
        <p:origin x="200" y="6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80F"/>
        </a:solidFill>
        <a:effectLst/>
      </p:bgPr>
    </p:bg>
    <p:spTree>
      <p:nvGrpSpPr>
        <p:cNvPr id="1" name=""/>
        <p:cNvGrpSpPr/>
        <p:nvPr/>
      </p:nvGrpSpPr>
      <p:grpSpPr>
        <a:xfrm>
          <a:off x="0" y="0"/>
          <a:ext cx="0" cy="0"/>
          <a:chOff x="0" y="0"/>
          <a:chExt cx="0" cy="0"/>
        </a:xfrm>
      </p:grpSpPr>
      <p:sp>
        <p:nvSpPr>
          <p:cNvPr id="2" name="Rounded Rectangle 1"/>
          <p:cNvSpPr/>
          <p:nvPr/>
        </p:nvSpPr>
        <p:spPr>
          <a:xfrm>
            <a:off x="3352647" y="457200"/>
            <a:ext cx="5486400" cy="329184"/>
          </a:xfrm>
          <a:prstGeom prst="roundRect">
            <a:avLst/>
          </a:prstGeom>
          <a:solidFill>
            <a:srgbClr val="071822"/>
          </a:solidFill>
          <a:ln w="9525">
            <a:solidFill>
              <a:srgbClr val="0D3D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444087" y="502920"/>
            <a:ext cx="5303520" cy="237744"/>
          </a:xfrm>
          <a:prstGeom prst="rect">
            <a:avLst/>
          </a:prstGeom>
          <a:noFill/>
        </p:spPr>
        <p:txBody>
          <a:bodyPr wrap="square">
            <a:spAutoFit/>
          </a:bodyPr>
          <a:lstStyle/>
          <a:p>
            <a:pPr algn="ctr"/>
            <a:r>
              <a:rPr sz="800" b="0" i="0">
                <a:solidFill>
                  <a:srgbClr val="34D399"/>
                </a:solidFill>
              </a:rPr>
              <a:t>NGO EVENT MANAGEMENT PLATFORM</a:t>
            </a:r>
          </a:p>
        </p:txBody>
      </p:sp>
      <p:sp>
        <p:nvSpPr>
          <p:cNvPr id="4" name="TextBox 3"/>
          <p:cNvSpPr txBox="1"/>
          <p:nvPr/>
        </p:nvSpPr>
        <p:spPr>
          <a:xfrm>
            <a:off x="457200" y="932688"/>
            <a:ext cx="11277295" cy="777240"/>
          </a:xfrm>
          <a:prstGeom prst="rect">
            <a:avLst/>
          </a:prstGeom>
          <a:noFill/>
        </p:spPr>
        <p:txBody>
          <a:bodyPr wrap="square">
            <a:spAutoFit/>
          </a:bodyPr>
          <a:lstStyle/>
          <a:p>
            <a:pPr algn="ctr"/>
            <a:r>
              <a:rPr sz="5200" b="1" i="0">
                <a:solidFill>
                  <a:srgbClr val="34D399"/>
                </a:solidFill>
              </a:rPr>
              <a:t>Trackly</a:t>
            </a:r>
          </a:p>
        </p:txBody>
      </p:sp>
      <p:sp>
        <p:nvSpPr>
          <p:cNvPr id="5" name="TextBox 4"/>
          <p:cNvSpPr txBox="1"/>
          <p:nvPr/>
        </p:nvSpPr>
        <p:spPr>
          <a:xfrm>
            <a:off x="2103120" y="1847088"/>
            <a:ext cx="7985455" cy="685800"/>
          </a:xfrm>
          <a:prstGeom prst="rect">
            <a:avLst/>
          </a:prstGeom>
          <a:noFill/>
        </p:spPr>
        <p:txBody>
          <a:bodyPr wrap="square">
            <a:spAutoFit/>
          </a:bodyPr>
          <a:lstStyle/>
          <a:p>
            <a:pPr algn="ctr"/>
            <a:r>
              <a:rPr sz="1300" b="0" i="0">
                <a:solidFill>
                  <a:srgbClr val="94A3B8"/>
                </a:solidFill>
              </a:rPr>
              <a:t>Coordinate your volunteers, track your events, and measure your impact — all in one place built for how nonprofits actually work.</a:t>
            </a:r>
          </a:p>
        </p:txBody>
      </p:sp>
      <p:sp>
        <p:nvSpPr>
          <p:cNvPr id="6" name="TextBox 5"/>
          <p:cNvSpPr txBox="1"/>
          <p:nvPr/>
        </p:nvSpPr>
        <p:spPr>
          <a:xfrm>
            <a:off x="457200" y="2688336"/>
            <a:ext cx="11277295" cy="256032"/>
          </a:xfrm>
          <a:prstGeom prst="rect">
            <a:avLst/>
          </a:prstGeom>
          <a:noFill/>
        </p:spPr>
        <p:txBody>
          <a:bodyPr wrap="square">
            <a:spAutoFit/>
          </a:bodyPr>
          <a:lstStyle/>
          <a:p>
            <a:pPr algn="ctr"/>
            <a:r>
              <a:rPr sz="1000" b="0" i="0">
                <a:solidFill>
                  <a:srgbClr val="475569"/>
                </a:solidFill>
              </a:rPr>
              <a:t>Shlok Dwivedi  ·  React + TypeScript + Firebase + Flask  ·  119 commits</a:t>
            </a:r>
          </a:p>
        </p:txBody>
      </p:sp>
      <p:sp>
        <p:nvSpPr>
          <p:cNvPr id="7" name="Rounded Rectangle 6"/>
          <p:cNvSpPr/>
          <p:nvPr/>
        </p:nvSpPr>
        <p:spPr>
          <a:xfrm>
            <a:off x="1853031" y="3108960"/>
            <a:ext cx="4114800" cy="34747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944471" y="3172968"/>
            <a:ext cx="3931920" cy="256032"/>
          </a:xfrm>
          <a:prstGeom prst="rect">
            <a:avLst/>
          </a:prstGeom>
          <a:noFill/>
        </p:spPr>
        <p:txBody>
          <a:bodyPr wrap="square">
            <a:spAutoFit/>
          </a:bodyPr>
          <a:lstStyle/>
          <a:p>
            <a:pPr algn="ctr"/>
            <a:r>
              <a:rPr sz="1000" b="0" i="1">
                <a:solidFill>
                  <a:srgbClr val="34D399"/>
                </a:solidFill>
              </a:rPr>
              <a:t>trackly-phi.vercel.app</a:t>
            </a:r>
          </a:p>
        </p:txBody>
      </p:sp>
      <p:sp>
        <p:nvSpPr>
          <p:cNvPr id="9" name="Rounded Rectangle 8"/>
          <p:cNvSpPr/>
          <p:nvPr/>
        </p:nvSpPr>
        <p:spPr>
          <a:xfrm>
            <a:off x="6223863" y="3108960"/>
            <a:ext cx="4114800" cy="34747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15303" y="3172968"/>
            <a:ext cx="3931920" cy="256032"/>
          </a:xfrm>
          <a:prstGeom prst="rect">
            <a:avLst/>
          </a:prstGeom>
          <a:noFill/>
        </p:spPr>
        <p:txBody>
          <a:bodyPr wrap="square">
            <a:spAutoFit/>
          </a:bodyPr>
          <a:lstStyle/>
          <a:p>
            <a:pPr algn="ctr"/>
            <a:r>
              <a:rPr sz="1000" b="0" i="1">
                <a:solidFill>
                  <a:srgbClr val="94A3B8"/>
                </a:solidFill>
              </a:rPr>
              <a:t>github.com/Shlok-Dwivedi/Trackly</a:t>
            </a:r>
          </a:p>
        </p:txBody>
      </p:sp>
      <p:sp>
        <p:nvSpPr>
          <p:cNvPr id="11" name="Rounded Rectangle 10"/>
          <p:cNvSpPr/>
          <p:nvPr/>
        </p:nvSpPr>
        <p:spPr>
          <a:xfrm>
            <a:off x="591159" y="3639312"/>
            <a:ext cx="1463040" cy="274320"/>
          </a:xfrm>
          <a:prstGeom prst="roundRect">
            <a:avLst/>
          </a:prstGeom>
          <a:solidFill>
            <a:srgbClr val="062016"/>
          </a:solidFill>
          <a:ln w="9525">
            <a:solidFill>
              <a:srgbClr val="0D3D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6879" y="3685032"/>
            <a:ext cx="1371600" cy="201168"/>
          </a:xfrm>
          <a:prstGeom prst="rect">
            <a:avLst/>
          </a:prstGeom>
          <a:noFill/>
        </p:spPr>
        <p:txBody>
          <a:bodyPr wrap="square">
            <a:spAutoFit/>
          </a:bodyPr>
          <a:lstStyle/>
          <a:p>
            <a:pPr algn="ctr"/>
            <a:r>
              <a:rPr sz="900" b="0" i="0">
                <a:solidFill>
                  <a:srgbClr val="34D399"/>
                </a:solidFill>
              </a:rPr>
              <a:t>React 18</a:t>
            </a:r>
          </a:p>
        </p:txBody>
      </p:sp>
      <p:sp>
        <p:nvSpPr>
          <p:cNvPr id="13" name="Rounded Rectangle 12"/>
          <p:cNvSpPr/>
          <p:nvPr/>
        </p:nvSpPr>
        <p:spPr>
          <a:xfrm>
            <a:off x="2182215" y="3639312"/>
            <a:ext cx="1463040" cy="274320"/>
          </a:xfrm>
          <a:prstGeom prst="roundRect">
            <a:avLst/>
          </a:prstGeom>
          <a:solidFill>
            <a:srgbClr val="062016"/>
          </a:solidFill>
          <a:ln w="9525">
            <a:solidFill>
              <a:srgbClr val="0D3D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227935" y="3685032"/>
            <a:ext cx="1371600" cy="201168"/>
          </a:xfrm>
          <a:prstGeom prst="rect">
            <a:avLst/>
          </a:prstGeom>
          <a:noFill/>
        </p:spPr>
        <p:txBody>
          <a:bodyPr wrap="square">
            <a:spAutoFit/>
          </a:bodyPr>
          <a:lstStyle/>
          <a:p>
            <a:pPr algn="ctr"/>
            <a:r>
              <a:rPr sz="900" b="0" i="0">
                <a:solidFill>
                  <a:srgbClr val="34D399"/>
                </a:solidFill>
              </a:rPr>
              <a:t>TypeScript</a:t>
            </a:r>
          </a:p>
        </p:txBody>
      </p:sp>
      <p:sp>
        <p:nvSpPr>
          <p:cNvPr id="15" name="Rounded Rectangle 14"/>
          <p:cNvSpPr/>
          <p:nvPr/>
        </p:nvSpPr>
        <p:spPr>
          <a:xfrm>
            <a:off x="3773271" y="3639312"/>
            <a:ext cx="1463040" cy="274320"/>
          </a:xfrm>
          <a:prstGeom prst="roundRect">
            <a:avLst/>
          </a:prstGeom>
          <a:solidFill>
            <a:srgbClr val="062016"/>
          </a:solidFill>
          <a:ln w="9525">
            <a:solidFill>
              <a:srgbClr val="0D3D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18991" y="3685032"/>
            <a:ext cx="1371600" cy="201168"/>
          </a:xfrm>
          <a:prstGeom prst="rect">
            <a:avLst/>
          </a:prstGeom>
          <a:noFill/>
        </p:spPr>
        <p:txBody>
          <a:bodyPr wrap="square">
            <a:spAutoFit/>
          </a:bodyPr>
          <a:lstStyle/>
          <a:p>
            <a:pPr algn="ctr"/>
            <a:r>
              <a:rPr sz="900" b="0" i="0">
                <a:solidFill>
                  <a:srgbClr val="34D399"/>
                </a:solidFill>
              </a:rPr>
              <a:t>Firebase</a:t>
            </a:r>
          </a:p>
        </p:txBody>
      </p:sp>
      <p:sp>
        <p:nvSpPr>
          <p:cNvPr id="17" name="Rounded Rectangle 16"/>
          <p:cNvSpPr/>
          <p:nvPr/>
        </p:nvSpPr>
        <p:spPr>
          <a:xfrm>
            <a:off x="5364327" y="3639312"/>
            <a:ext cx="1463040" cy="27432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10047" y="3685032"/>
            <a:ext cx="1371600" cy="201168"/>
          </a:xfrm>
          <a:prstGeom prst="rect">
            <a:avLst/>
          </a:prstGeom>
          <a:noFill/>
        </p:spPr>
        <p:txBody>
          <a:bodyPr wrap="square">
            <a:spAutoFit/>
          </a:bodyPr>
          <a:lstStyle/>
          <a:p>
            <a:pPr algn="ctr"/>
            <a:r>
              <a:rPr sz="900" b="0" i="0">
                <a:solidFill>
                  <a:srgbClr val="475569"/>
                </a:solidFill>
              </a:rPr>
              <a:t>Flask</a:t>
            </a:r>
          </a:p>
        </p:txBody>
      </p:sp>
      <p:sp>
        <p:nvSpPr>
          <p:cNvPr id="19" name="Rounded Rectangle 18"/>
          <p:cNvSpPr/>
          <p:nvPr/>
        </p:nvSpPr>
        <p:spPr>
          <a:xfrm>
            <a:off x="6955383" y="3639312"/>
            <a:ext cx="1463040" cy="27432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01103" y="3685032"/>
            <a:ext cx="1371600" cy="201168"/>
          </a:xfrm>
          <a:prstGeom prst="rect">
            <a:avLst/>
          </a:prstGeom>
          <a:noFill/>
        </p:spPr>
        <p:txBody>
          <a:bodyPr wrap="square">
            <a:spAutoFit/>
          </a:bodyPr>
          <a:lstStyle/>
          <a:p>
            <a:pPr algn="ctr"/>
            <a:r>
              <a:rPr sz="900" b="0" i="0">
                <a:solidFill>
                  <a:srgbClr val="475569"/>
                </a:solidFill>
              </a:rPr>
              <a:t>Supabase</a:t>
            </a:r>
          </a:p>
        </p:txBody>
      </p:sp>
      <p:sp>
        <p:nvSpPr>
          <p:cNvPr id="21" name="Rounded Rectangle 20"/>
          <p:cNvSpPr/>
          <p:nvPr/>
        </p:nvSpPr>
        <p:spPr>
          <a:xfrm>
            <a:off x="8546439" y="3639312"/>
            <a:ext cx="1463040" cy="27432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92159" y="3685032"/>
            <a:ext cx="1371600" cy="201168"/>
          </a:xfrm>
          <a:prstGeom prst="rect">
            <a:avLst/>
          </a:prstGeom>
          <a:noFill/>
        </p:spPr>
        <p:txBody>
          <a:bodyPr wrap="square">
            <a:spAutoFit/>
          </a:bodyPr>
          <a:lstStyle/>
          <a:p>
            <a:pPr algn="ctr"/>
            <a:r>
              <a:rPr sz="900" b="0" i="0">
                <a:solidFill>
                  <a:srgbClr val="475569"/>
                </a:solidFill>
              </a:rPr>
              <a:t>Tailwind</a:t>
            </a:r>
          </a:p>
        </p:txBody>
      </p:sp>
      <p:sp>
        <p:nvSpPr>
          <p:cNvPr id="23" name="Rounded Rectangle 22"/>
          <p:cNvSpPr/>
          <p:nvPr/>
        </p:nvSpPr>
        <p:spPr>
          <a:xfrm>
            <a:off x="10137495" y="3639312"/>
            <a:ext cx="1463040" cy="27432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183215" y="3685032"/>
            <a:ext cx="1371600" cy="201168"/>
          </a:xfrm>
          <a:prstGeom prst="rect">
            <a:avLst/>
          </a:prstGeom>
          <a:noFill/>
        </p:spPr>
        <p:txBody>
          <a:bodyPr wrap="square">
            <a:spAutoFit/>
          </a:bodyPr>
          <a:lstStyle/>
          <a:p>
            <a:pPr algn="ctr"/>
            <a:r>
              <a:rPr sz="900" b="0" i="0">
                <a:solidFill>
                  <a:srgbClr val="475569"/>
                </a:solidFill>
              </a:rPr>
              <a:t>Vercel</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80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75569"/>
                </a:solidFill>
              </a:rPr>
              <a:t>THE PROBLEM</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Running an NGO on spreadsheets and WhatsApp groups</a:t>
            </a:r>
          </a:p>
        </p:txBody>
      </p:sp>
      <p:sp>
        <p:nvSpPr>
          <p:cNvPr id="4" name="TextBox 3"/>
          <p:cNvSpPr txBox="1"/>
          <p:nvPr/>
        </p:nvSpPr>
        <p:spPr>
          <a:xfrm>
            <a:off x="1188720" y="1335024"/>
            <a:ext cx="9814255" cy="438912"/>
          </a:xfrm>
          <a:prstGeom prst="rect">
            <a:avLst/>
          </a:prstGeom>
          <a:noFill/>
        </p:spPr>
        <p:txBody>
          <a:bodyPr wrap="square">
            <a:spAutoFit/>
          </a:bodyPr>
          <a:lstStyle/>
          <a:p>
            <a:pPr algn="ctr"/>
            <a:r>
              <a:rPr sz="1100" b="0" i="0">
                <a:solidFill>
                  <a:srgbClr val="94A3B8"/>
                </a:solidFill>
              </a:rPr>
              <a:t>A coordinator managing 12 events, 40 volunteers, and a shared calendar nobody updates spends 3 hours a week chasing status updates over chat.</a:t>
            </a:r>
          </a:p>
        </p:txBody>
      </p:sp>
      <p:sp>
        <p:nvSpPr>
          <p:cNvPr id="5" name="Rounded Rectangle 4"/>
          <p:cNvSpPr/>
          <p:nvPr/>
        </p:nvSpPr>
        <p:spPr>
          <a:xfrm>
            <a:off x="457200" y="1847088"/>
            <a:ext cx="3624986" cy="224028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2167128"/>
            <a:ext cx="3624986" cy="731520"/>
          </a:xfrm>
          <a:prstGeom prst="rect">
            <a:avLst/>
          </a:prstGeom>
          <a:noFill/>
        </p:spPr>
        <p:txBody>
          <a:bodyPr wrap="square">
            <a:spAutoFit/>
          </a:bodyPr>
          <a:lstStyle/>
          <a:p>
            <a:pPr algn="ctr"/>
            <a:r>
              <a:rPr sz="3600" b="1" i="0">
                <a:solidFill>
                  <a:srgbClr val="F87171"/>
                </a:solidFill>
              </a:rPr>
              <a:t>3+</a:t>
            </a:r>
          </a:p>
        </p:txBody>
      </p:sp>
      <p:sp>
        <p:nvSpPr>
          <p:cNvPr id="7" name="TextBox 6"/>
          <p:cNvSpPr txBox="1"/>
          <p:nvPr/>
        </p:nvSpPr>
        <p:spPr>
          <a:xfrm>
            <a:off x="621792" y="2990088"/>
            <a:ext cx="3295802" cy="868680"/>
          </a:xfrm>
          <a:prstGeom prst="rect">
            <a:avLst/>
          </a:prstGeom>
          <a:noFill/>
        </p:spPr>
        <p:txBody>
          <a:bodyPr wrap="square">
            <a:spAutoFit/>
          </a:bodyPr>
          <a:lstStyle/>
          <a:p>
            <a:pPr algn="ctr"/>
            <a:r>
              <a:rPr sz="1100" b="0" i="0">
                <a:solidFill>
                  <a:srgbClr val="94A3B8"/>
                </a:solidFill>
              </a:rPr>
              <a:t>hours a week lost to
coordination overhead</a:t>
            </a:r>
          </a:p>
        </p:txBody>
      </p:sp>
      <p:sp>
        <p:nvSpPr>
          <p:cNvPr id="8" name="Rounded Rectangle 7"/>
          <p:cNvSpPr/>
          <p:nvPr/>
        </p:nvSpPr>
        <p:spPr>
          <a:xfrm>
            <a:off x="4283354" y="1847088"/>
            <a:ext cx="3624986" cy="224028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83354" y="2167128"/>
            <a:ext cx="3624986" cy="731520"/>
          </a:xfrm>
          <a:prstGeom prst="rect">
            <a:avLst/>
          </a:prstGeom>
          <a:noFill/>
        </p:spPr>
        <p:txBody>
          <a:bodyPr wrap="square">
            <a:spAutoFit/>
          </a:bodyPr>
          <a:lstStyle/>
          <a:p>
            <a:pPr algn="ctr"/>
            <a:r>
              <a:rPr sz="3600" b="1" i="0">
                <a:solidFill>
                  <a:srgbClr val="FB923C"/>
                </a:solidFill>
              </a:rPr>
              <a:t>0</a:t>
            </a:r>
          </a:p>
        </p:txBody>
      </p:sp>
      <p:sp>
        <p:nvSpPr>
          <p:cNvPr id="10" name="TextBox 9"/>
          <p:cNvSpPr txBox="1"/>
          <p:nvPr/>
        </p:nvSpPr>
        <p:spPr>
          <a:xfrm>
            <a:off x="4447946" y="2990088"/>
            <a:ext cx="3295802" cy="868680"/>
          </a:xfrm>
          <a:prstGeom prst="rect">
            <a:avLst/>
          </a:prstGeom>
          <a:noFill/>
        </p:spPr>
        <p:txBody>
          <a:bodyPr wrap="square">
            <a:spAutoFit/>
          </a:bodyPr>
          <a:lstStyle/>
          <a:p>
            <a:pPr algn="ctr"/>
            <a:r>
              <a:rPr sz="1100" b="0" i="0">
                <a:solidFill>
                  <a:srgbClr val="94A3B8"/>
                </a:solidFill>
              </a:rPr>
              <a:t>unified place for event data,
attendees, and analytics</a:t>
            </a:r>
          </a:p>
        </p:txBody>
      </p:sp>
      <p:sp>
        <p:nvSpPr>
          <p:cNvPr id="11" name="Rounded Rectangle 10"/>
          <p:cNvSpPr/>
          <p:nvPr/>
        </p:nvSpPr>
        <p:spPr>
          <a:xfrm>
            <a:off x="8109508" y="1847088"/>
            <a:ext cx="3624986" cy="224028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09508" y="2167128"/>
            <a:ext cx="3624986" cy="731520"/>
          </a:xfrm>
          <a:prstGeom prst="rect">
            <a:avLst/>
          </a:prstGeom>
          <a:noFill/>
        </p:spPr>
        <p:txBody>
          <a:bodyPr wrap="square">
            <a:spAutoFit/>
          </a:bodyPr>
          <a:lstStyle/>
          <a:p>
            <a:pPr algn="ctr"/>
            <a:r>
              <a:rPr sz="3600" b="1" i="0">
                <a:solidFill>
                  <a:srgbClr val="818CF8"/>
                </a:solidFill>
              </a:rPr>
              <a:t>4+</a:t>
            </a:r>
          </a:p>
        </p:txBody>
      </p:sp>
      <p:sp>
        <p:nvSpPr>
          <p:cNvPr id="13" name="TextBox 12"/>
          <p:cNvSpPr txBox="1"/>
          <p:nvPr/>
        </p:nvSpPr>
        <p:spPr>
          <a:xfrm>
            <a:off x="8274100" y="2990088"/>
            <a:ext cx="3295802" cy="868680"/>
          </a:xfrm>
          <a:prstGeom prst="rect">
            <a:avLst/>
          </a:prstGeom>
          <a:noFill/>
        </p:spPr>
        <p:txBody>
          <a:bodyPr wrap="square">
            <a:spAutoFit/>
          </a:bodyPr>
          <a:lstStyle/>
          <a:p>
            <a:pPr algn="ctr"/>
            <a:r>
              <a:rPr sz="1100" b="0" i="0">
                <a:solidFill>
                  <a:srgbClr val="94A3B8"/>
                </a:solidFill>
              </a:rPr>
              <a:t>disconnected tools used
for one event lifecycle</a:t>
            </a:r>
          </a:p>
        </p:txBody>
      </p:sp>
      <p:sp>
        <p:nvSpPr>
          <p:cNvPr id="14" name="TextBox 13"/>
          <p:cNvSpPr txBox="1"/>
          <p:nvPr/>
        </p:nvSpPr>
        <p:spPr>
          <a:xfrm>
            <a:off x="1371600" y="4288536"/>
            <a:ext cx="9448495" cy="457200"/>
          </a:xfrm>
          <a:prstGeom prst="rect">
            <a:avLst/>
          </a:prstGeom>
          <a:noFill/>
        </p:spPr>
        <p:txBody>
          <a:bodyPr wrap="square">
            <a:spAutoFit/>
          </a:bodyPr>
          <a:lstStyle/>
          <a:p>
            <a:pPr algn="ctr"/>
            <a:r>
              <a:rPr sz="1200" b="0" i="1">
                <a:solidFill>
                  <a:srgbClr val="94A3B8"/>
                </a:solidFill>
              </a:rPr>
              <a:t>The tools nonprofits use were built for personal task management or enterprise teams. Neither fits a volunteer coordinator managing field events on a tight budget.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80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75569"/>
                </a:solidFill>
              </a:rPr>
              <a:t>THE SOLUTION</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One app. Built specifically for NGO operations.</a:t>
            </a:r>
          </a:p>
        </p:txBody>
      </p:sp>
      <p:sp>
        <p:nvSpPr>
          <p:cNvPr id="4" name="TextBox 3"/>
          <p:cNvSpPr txBox="1"/>
          <p:nvPr/>
        </p:nvSpPr>
        <p:spPr>
          <a:xfrm>
            <a:off x="1188720" y="1335024"/>
            <a:ext cx="9814255" cy="438912"/>
          </a:xfrm>
          <a:prstGeom prst="rect">
            <a:avLst/>
          </a:prstGeom>
          <a:noFill/>
        </p:spPr>
        <p:txBody>
          <a:bodyPr wrap="square">
            <a:spAutoFit/>
          </a:bodyPr>
          <a:lstStyle/>
          <a:p>
            <a:pPr algn="ctr"/>
            <a:r>
              <a:rPr sz="1100" b="0" i="0">
                <a:solidFill>
                  <a:srgbClr val="94A3B8"/>
                </a:solidFill>
              </a:rPr>
              <a:t>Trackly is a web app for nonprofits to plan events, coordinate volunteers, track attendance, and measure impact — with role-based access built in from day one.</a:t>
            </a:r>
          </a:p>
        </p:txBody>
      </p:sp>
      <p:sp>
        <p:nvSpPr>
          <p:cNvPr id="5" name="Rounded Rectangle 4"/>
          <p:cNvSpPr/>
          <p:nvPr/>
        </p:nvSpPr>
        <p:spPr>
          <a:xfrm>
            <a:off x="457200" y="1847088"/>
            <a:ext cx="3624986" cy="2487168"/>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103120"/>
            <a:ext cx="3259226" cy="347472"/>
          </a:xfrm>
          <a:prstGeom prst="rect">
            <a:avLst/>
          </a:prstGeom>
          <a:noFill/>
        </p:spPr>
        <p:txBody>
          <a:bodyPr wrap="square">
            <a:spAutoFit/>
          </a:bodyPr>
          <a:lstStyle/>
          <a:p>
            <a:pPr algn="ctr"/>
            <a:r>
              <a:rPr sz="1600" b="1" i="0">
                <a:solidFill>
                  <a:srgbClr val="34D399"/>
                </a:solidFill>
              </a:rPr>
              <a:t>Organise</a:t>
            </a:r>
          </a:p>
        </p:txBody>
      </p:sp>
      <p:sp>
        <p:nvSpPr>
          <p:cNvPr id="7" name="TextBox 6"/>
          <p:cNvSpPr txBox="1"/>
          <p:nvPr/>
        </p:nvSpPr>
        <p:spPr>
          <a:xfrm>
            <a:off x="640080" y="2560320"/>
            <a:ext cx="3259226" cy="1554480"/>
          </a:xfrm>
          <a:prstGeom prst="rect">
            <a:avLst/>
          </a:prstGeom>
          <a:noFill/>
        </p:spPr>
        <p:txBody>
          <a:bodyPr wrap="square">
            <a:spAutoFit/>
          </a:bodyPr>
          <a:lstStyle/>
          <a:p>
            <a:pPr algn="ctr"/>
            <a:r>
              <a:rPr sz="1100" b="0" i="0">
                <a:solidFill>
                  <a:srgbClr val="94A3B8"/>
                </a:solidFill>
              </a:rPr>
              <a:t>Create and track events with statuses, categories, photos, and capacity limits</a:t>
            </a:r>
          </a:p>
        </p:txBody>
      </p:sp>
      <p:sp>
        <p:nvSpPr>
          <p:cNvPr id="8" name="Rounded Rectangle 7"/>
          <p:cNvSpPr/>
          <p:nvPr/>
        </p:nvSpPr>
        <p:spPr>
          <a:xfrm>
            <a:off x="4283354" y="1847088"/>
            <a:ext cx="3624986" cy="2487168"/>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66234" y="2103120"/>
            <a:ext cx="3259226" cy="347472"/>
          </a:xfrm>
          <a:prstGeom prst="rect">
            <a:avLst/>
          </a:prstGeom>
          <a:noFill/>
        </p:spPr>
        <p:txBody>
          <a:bodyPr wrap="square">
            <a:spAutoFit/>
          </a:bodyPr>
          <a:lstStyle/>
          <a:p>
            <a:pPr algn="ctr"/>
            <a:r>
              <a:rPr sz="1600" b="1" i="0">
                <a:solidFill>
                  <a:srgbClr val="818CF8"/>
                </a:solidFill>
              </a:rPr>
              <a:t>Coordinate</a:t>
            </a:r>
          </a:p>
        </p:txBody>
      </p:sp>
      <p:sp>
        <p:nvSpPr>
          <p:cNvPr id="10" name="TextBox 9"/>
          <p:cNvSpPr txBox="1"/>
          <p:nvPr/>
        </p:nvSpPr>
        <p:spPr>
          <a:xfrm>
            <a:off x="4466234" y="2560320"/>
            <a:ext cx="3259226" cy="1554480"/>
          </a:xfrm>
          <a:prstGeom prst="rect">
            <a:avLst/>
          </a:prstGeom>
          <a:noFill/>
        </p:spPr>
        <p:txBody>
          <a:bodyPr wrap="square">
            <a:spAutoFit/>
          </a:bodyPr>
          <a:lstStyle/>
          <a:p>
            <a:pPr algn="ctr"/>
            <a:r>
              <a:rPr sz="1100" b="0" i="0">
                <a:solidFill>
                  <a:srgbClr val="94A3B8"/>
                </a:solidFill>
              </a:rPr>
              <a:t>Manage volunteer enrollment, approvals, and attendance across your whole team</a:t>
            </a:r>
          </a:p>
        </p:txBody>
      </p:sp>
      <p:sp>
        <p:nvSpPr>
          <p:cNvPr id="11" name="Rounded Rectangle 10"/>
          <p:cNvSpPr/>
          <p:nvPr/>
        </p:nvSpPr>
        <p:spPr>
          <a:xfrm>
            <a:off x="8109508" y="1847088"/>
            <a:ext cx="3624986" cy="2487168"/>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92388" y="2103120"/>
            <a:ext cx="3259226" cy="347472"/>
          </a:xfrm>
          <a:prstGeom prst="rect">
            <a:avLst/>
          </a:prstGeom>
          <a:noFill/>
        </p:spPr>
        <p:txBody>
          <a:bodyPr wrap="square">
            <a:spAutoFit/>
          </a:bodyPr>
          <a:lstStyle/>
          <a:p>
            <a:pPr algn="ctr"/>
            <a:r>
              <a:rPr sz="1600" b="1" i="0">
                <a:solidFill>
                  <a:srgbClr val="FB923C"/>
                </a:solidFill>
              </a:rPr>
              <a:t>Measure</a:t>
            </a:r>
          </a:p>
        </p:txBody>
      </p:sp>
      <p:sp>
        <p:nvSpPr>
          <p:cNvPr id="13" name="TextBox 12"/>
          <p:cNvSpPr txBox="1"/>
          <p:nvPr/>
        </p:nvSpPr>
        <p:spPr>
          <a:xfrm>
            <a:off x="8292388" y="2560320"/>
            <a:ext cx="3259226" cy="1554480"/>
          </a:xfrm>
          <a:prstGeom prst="rect">
            <a:avLst/>
          </a:prstGeom>
          <a:noFill/>
        </p:spPr>
        <p:txBody>
          <a:bodyPr wrap="square">
            <a:spAutoFit/>
          </a:bodyPr>
          <a:lstStyle/>
          <a:p>
            <a:pPr algn="ctr"/>
            <a:r>
              <a:rPr sz="1100" b="0" i="0">
                <a:solidFill>
                  <a:srgbClr val="94A3B8"/>
                </a:solidFill>
              </a:rPr>
              <a:t>Track completion rates, volunteer trends, and event growth with live analytics</a:t>
            </a:r>
          </a:p>
        </p:txBody>
      </p:sp>
      <p:sp>
        <p:nvSpPr>
          <p:cNvPr id="14" name="Rounded Rectangle 13"/>
          <p:cNvSpPr/>
          <p:nvPr/>
        </p:nvSpPr>
        <p:spPr>
          <a:xfrm>
            <a:off x="1853031" y="4572000"/>
            <a:ext cx="4114800" cy="329184"/>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44471" y="4626864"/>
            <a:ext cx="3931920" cy="237744"/>
          </a:xfrm>
          <a:prstGeom prst="rect">
            <a:avLst/>
          </a:prstGeom>
          <a:noFill/>
        </p:spPr>
        <p:txBody>
          <a:bodyPr wrap="square">
            <a:spAutoFit/>
          </a:bodyPr>
          <a:lstStyle/>
          <a:p>
            <a:pPr algn="ctr"/>
            <a:r>
              <a:rPr sz="900" b="0" i="0">
                <a:solidFill>
                  <a:srgbClr val="34D399"/>
                </a:solidFill>
              </a:rPr>
              <a:t>trackly-phi.vercel.app</a:t>
            </a:r>
          </a:p>
        </p:txBody>
      </p:sp>
      <p:sp>
        <p:nvSpPr>
          <p:cNvPr id="16" name="Rounded Rectangle 15"/>
          <p:cNvSpPr/>
          <p:nvPr/>
        </p:nvSpPr>
        <p:spPr>
          <a:xfrm>
            <a:off x="6223863" y="4572000"/>
            <a:ext cx="4114800" cy="329184"/>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15303" y="4626864"/>
            <a:ext cx="3931920" cy="237744"/>
          </a:xfrm>
          <a:prstGeom prst="rect">
            <a:avLst/>
          </a:prstGeom>
          <a:noFill/>
        </p:spPr>
        <p:txBody>
          <a:bodyPr wrap="square">
            <a:spAutoFit/>
          </a:bodyPr>
          <a:lstStyle/>
          <a:p>
            <a:pPr algn="ctr"/>
            <a:r>
              <a:rPr sz="900" b="0" i="0">
                <a:solidFill>
                  <a:srgbClr val="94A3B8"/>
                </a:solidFill>
              </a:rPr>
              <a:t>Live  ·  Deployed on Vercel + Render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080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75569"/>
                </a:solidFill>
              </a:rPr>
              <a:t>CORE WORKFLOW</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From login to live impact data in 4 steps</a:t>
            </a:r>
          </a:p>
        </p:txBody>
      </p:sp>
      <p:sp>
        <p:nvSpPr>
          <p:cNvPr id="4" name="TextBox 3"/>
          <p:cNvSpPr txBox="1"/>
          <p:nvPr/>
        </p:nvSpPr>
        <p:spPr>
          <a:xfrm>
            <a:off x="1828800" y="1335024"/>
            <a:ext cx="8534095" cy="438912"/>
          </a:xfrm>
          <a:prstGeom prst="rect">
            <a:avLst/>
          </a:prstGeom>
          <a:noFill/>
        </p:spPr>
        <p:txBody>
          <a:bodyPr wrap="square">
            <a:spAutoFit/>
          </a:bodyPr>
          <a:lstStyle/>
          <a:p>
            <a:pPr algn="ctr"/>
            <a:r>
              <a:rPr sz="1100" b="0" i="0">
                <a:solidFill>
                  <a:srgbClr val="94A3B8"/>
                </a:solidFill>
              </a:rPr>
              <a:t>This is the loop a coordinator runs every time an event goes live. The dashboard updates in real time as each step happens.</a:t>
            </a:r>
          </a:p>
        </p:txBody>
      </p:sp>
      <p:sp>
        <p:nvSpPr>
          <p:cNvPr id="5" name="Rounded Rectangle 4"/>
          <p:cNvSpPr/>
          <p:nvPr/>
        </p:nvSpPr>
        <p:spPr>
          <a:xfrm>
            <a:off x="1615287" y="1847088"/>
            <a:ext cx="8961120" cy="71323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743303" y="2002536"/>
            <a:ext cx="402336" cy="402336"/>
          </a:xfrm>
          <a:prstGeom prst="roundRect">
            <a:avLst/>
          </a:prstGeom>
          <a:solidFill>
            <a:srgbClr val="062218"/>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743303" y="2020824"/>
            <a:ext cx="402336" cy="329184"/>
          </a:xfrm>
          <a:prstGeom prst="rect">
            <a:avLst/>
          </a:prstGeom>
          <a:noFill/>
        </p:spPr>
        <p:txBody>
          <a:bodyPr wrap="square">
            <a:spAutoFit/>
          </a:bodyPr>
          <a:lstStyle/>
          <a:p>
            <a:pPr algn="ctr"/>
            <a:r>
              <a:rPr sz="1100" b="1" i="0">
                <a:solidFill>
                  <a:srgbClr val="34D399"/>
                </a:solidFill>
              </a:rPr>
              <a:t>1</a:t>
            </a:r>
          </a:p>
        </p:txBody>
      </p:sp>
      <p:sp>
        <p:nvSpPr>
          <p:cNvPr id="8" name="TextBox 7"/>
          <p:cNvSpPr txBox="1"/>
          <p:nvPr/>
        </p:nvSpPr>
        <p:spPr>
          <a:xfrm>
            <a:off x="2273655" y="1975104"/>
            <a:ext cx="8174736" cy="512064"/>
          </a:xfrm>
          <a:prstGeom prst="rect">
            <a:avLst/>
          </a:prstGeom>
          <a:noFill/>
        </p:spPr>
        <p:txBody>
          <a:bodyPr wrap="square">
            <a:spAutoFit/>
          </a:bodyPr>
          <a:lstStyle/>
          <a:p>
            <a:pPr algn="l"/>
            <a:r>
              <a:rPr sz="1100" b="0" i="0">
                <a:solidFill>
                  <a:srgbClr val="94A3B8"/>
                </a:solidFill>
              </a:rPr>
              <a:t>Sign in and land on the dashboard.  The mini calendar shows today's events. Animated stat cards display total events, active volunteers, completion rate, and upcoming events this week.</a:t>
            </a:r>
          </a:p>
        </p:txBody>
      </p:sp>
      <p:sp>
        <p:nvSpPr>
          <p:cNvPr id="9" name="Rounded Rectangle 8"/>
          <p:cNvSpPr/>
          <p:nvPr/>
        </p:nvSpPr>
        <p:spPr>
          <a:xfrm>
            <a:off x="1615287" y="2651760"/>
            <a:ext cx="8961120" cy="71323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743303" y="2807208"/>
            <a:ext cx="402336" cy="402336"/>
          </a:xfrm>
          <a:prstGeom prst="roundRect">
            <a:avLst/>
          </a:prstGeom>
          <a:solidFill>
            <a:srgbClr val="062218"/>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743303" y="2825496"/>
            <a:ext cx="402336" cy="329184"/>
          </a:xfrm>
          <a:prstGeom prst="rect">
            <a:avLst/>
          </a:prstGeom>
          <a:noFill/>
        </p:spPr>
        <p:txBody>
          <a:bodyPr wrap="square">
            <a:spAutoFit/>
          </a:bodyPr>
          <a:lstStyle/>
          <a:p>
            <a:pPr algn="ctr"/>
            <a:r>
              <a:rPr sz="1100" b="1" i="0">
                <a:solidFill>
                  <a:srgbClr val="34D399"/>
                </a:solidFill>
              </a:rPr>
              <a:t>2</a:t>
            </a:r>
          </a:p>
        </p:txBody>
      </p:sp>
      <p:sp>
        <p:nvSpPr>
          <p:cNvPr id="12" name="TextBox 11"/>
          <p:cNvSpPr txBox="1"/>
          <p:nvPr/>
        </p:nvSpPr>
        <p:spPr>
          <a:xfrm>
            <a:off x="2273655" y="2779776"/>
            <a:ext cx="8174736" cy="512064"/>
          </a:xfrm>
          <a:prstGeom prst="rect">
            <a:avLst/>
          </a:prstGeom>
          <a:noFill/>
        </p:spPr>
        <p:txBody>
          <a:bodyPr wrap="square">
            <a:spAutoFit/>
          </a:bodyPr>
          <a:lstStyle/>
          <a:p>
            <a:pPr algn="l"/>
            <a:r>
              <a:rPr sz="1100" b="0" i="0">
                <a:solidFill>
                  <a:srgbClr val="94A3B8"/>
                </a:solidFill>
              </a:rPr>
              <a:t>Staff creates an event.  Category, capacity, location, datetime, cover photo, enrollment type (open or assigned). Status starts as Planned and auto-flips to Ongoing at the event's start time.</a:t>
            </a:r>
          </a:p>
        </p:txBody>
      </p:sp>
      <p:sp>
        <p:nvSpPr>
          <p:cNvPr id="13" name="Rounded Rectangle 12"/>
          <p:cNvSpPr/>
          <p:nvPr/>
        </p:nvSpPr>
        <p:spPr>
          <a:xfrm>
            <a:off x="1615287" y="3456432"/>
            <a:ext cx="8961120" cy="71323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743303" y="3611880"/>
            <a:ext cx="402336" cy="402336"/>
          </a:xfrm>
          <a:prstGeom prst="roundRect">
            <a:avLst/>
          </a:prstGeom>
          <a:solidFill>
            <a:srgbClr val="062218"/>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743303" y="3630168"/>
            <a:ext cx="402336" cy="329184"/>
          </a:xfrm>
          <a:prstGeom prst="rect">
            <a:avLst/>
          </a:prstGeom>
          <a:noFill/>
        </p:spPr>
        <p:txBody>
          <a:bodyPr wrap="square">
            <a:spAutoFit/>
          </a:bodyPr>
          <a:lstStyle/>
          <a:p>
            <a:pPr algn="ctr"/>
            <a:r>
              <a:rPr sz="1100" b="1" i="0">
                <a:solidFill>
                  <a:srgbClr val="34D399"/>
                </a:solidFill>
              </a:rPr>
              <a:t>3</a:t>
            </a:r>
          </a:p>
        </p:txBody>
      </p:sp>
      <p:sp>
        <p:nvSpPr>
          <p:cNvPr id="16" name="TextBox 15"/>
          <p:cNvSpPr txBox="1"/>
          <p:nvPr/>
        </p:nvSpPr>
        <p:spPr>
          <a:xfrm>
            <a:off x="2273655" y="3584448"/>
            <a:ext cx="8174736" cy="512064"/>
          </a:xfrm>
          <a:prstGeom prst="rect">
            <a:avLst/>
          </a:prstGeom>
          <a:noFill/>
        </p:spPr>
        <p:txBody>
          <a:bodyPr wrap="square">
            <a:spAutoFit/>
          </a:bodyPr>
          <a:lstStyle/>
          <a:p>
            <a:pPr algn="l"/>
            <a:r>
              <a:rPr sz="1100" b="0" i="0">
                <a:solidFill>
                  <a:srgbClr val="94A3B8"/>
                </a:solidFill>
              </a:rPr>
              <a:t>Volunteers join.  Open events show a join button. Assigned events have a staff-managed attendee list. Join requests move through pending → approved / rejected, with rejection notes available.</a:t>
            </a:r>
          </a:p>
        </p:txBody>
      </p:sp>
      <p:sp>
        <p:nvSpPr>
          <p:cNvPr id="17" name="Rounded Rectangle 16"/>
          <p:cNvSpPr/>
          <p:nvPr/>
        </p:nvSpPr>
        <p:spPr>
          <a:xfrm>
            <a:off x="1615287" y="4261104"/>
            <a:ext cx="8961120" cy="71323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743303" y="4416552"/>
            <a:ext cx="402336" cy="402336"/>
          </a:xfrm>
          <a:prstGeom prst="roundRect">
            <a:avLst/>
          </a:prstGeom>
          <a:solidFill>
            <a:srgbClr val="062218"/>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743303" y="4434840"/>
            <a:ext cx="402336" cy="329184"/>
          </a:xfrm>
          <a:prstGeom prst="rect">
            <a:avLst/>
          </a:prstGeom>
          <a:noFill/>
        </p:spPr>
        <p:txBody>
          <a:bodyPr wrap="square">
            <a:spAutoFit/>
          </a:bodyPr>
          <a:lstStyle/>
          <a:p>
            <a:pPr algn="ctr"/>
            <a:r>
              <a:rPr sz="1100" b="1" i="0">
                <a:solidFill>
                  <a:srgbClr val="34D399"/>
                </a:solidFill>
              </a:rPr>
              <a:t>4</a:t>
            </a:r>
          </a:p>
        </p:txBody>
      </p:sp>
      <p:sp>
        <p:nvSpPr>
          <p:cNvPr id="20" name="TextBox 19"/>
          <p:cNvSpPr txBox="1"/>
          <p:nvPr/>
        </p:nvSpPr>
        <p:spPr>
          <a:xfrm>
            <a:off x="2273655" y="4389120"/>
            <a:ext cx="8174736" cy="512064"/>
          </a:xfrm>
          <a:prstGeom prst="rect">
            <a:avLst/>
          </a:prstGeom>
          <a:noFill/>
        </p:spPr>
        <p:txBody>
          <a:bodyPr wrap="square">
            <a:spAutoFit/>
          </a:bodyPr>
          <a:lstStyle/>
          <a:p>
            <a:pPr algn="l"/>
            <a:r>
              <a:rPr sz="1100" b="0" i="0">
                <a:solidFill>
                  <a:srgbClr val="94A3B8"/>
                </a:solidFill>
              </a:rPr>
              <a:t>Event completes. Analytics update live.  Donut charts, bar charts, volunteer trend lines. The Reports page gives the full picture across all events, staff, and months — no manual data entry required.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80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75569"/>
                </a:solidFill>
              </a:rPr>
              <a:t>KEY FEATURES</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Six modules. One coherent system.</a:t>
            </a:r>
          </a:p>
        </p:txBody>
      </p:sp>
      <p:sp>
        <p:nvSpPr>
          <p:cNvPr id="4" name="Rounded Rectangle 3"/>
          <p:cNvSpPr/>
          <p:nvPr/>
        </p:nvSpPr>
        <p:spPr>
          <a:xfrm>
            <a:off x="457200" y="1335024"/>
            <a:ext cx="3649370" cy="228600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499616"/>
            <a:ext cx="3283610" cy="310896"/>
          </a:xfrm>
          <a:prstGeom prst="rect">
            <a:avLst/>
          </a:prstGeom>
          <a:noFill/>
        </p:spPr>
        <p:txBody>
          <a:bodyPr wrap="square">
            <a:spAutoFit/>
          </a:bodyPr>
          <a:lstStyle/>
          <a:p>
            <a:pPr algn="l"/>
            <a:r>
              <a:rPr sz="1300" b="1" i="0">
                <a:solidFill>
                  <a:srgbClr val="34D399"/>
                </a:solidFill>
              </a:rPr>
              <a:t>Smart calendar</a:t>
            </a:r>
          </a:p>
        </p:txBody>
      </p:sp>
      <p:sp>
        <p:nvSpPr>
          <p:cNvPr id="6" name="TextBox 5"/>
          <p:cNvSpPr txBox="1"/>
          <p:nvPr/>
        </p:nvSpPr>
        <p:spPr>
          <a:xfrm>
            <a:off x="640080" y="1883664"/>
            <a:ext cx="3283610" cy="1627632"/>
          </a:xfrm>
          <a:prstGeom prst="rect">
            <a:avLst/>
          </a:prstGeom>
          <a:noFill/>
        </p:spPr>
        <p:txBody>
          <a:bodyPr wrap="square">
            <a:spAutoFit/>
          </a:bodyPr>
          <a:lstStyle/>
          <a:p>
            <a:pPr algn="l"/>
            <a:r>
              <a:rPr sz="1000" b="0" i="0">
                <a:solidFill>
                  <a:srgbClr val="94A3B8"/>
                </a:solidFill>
              </a:rPr>
              <a:t>Month, week, and agenda views. Color-coded event categories with auto contrast. Click any day to create an event. Export to shared Google Calendar.</a:t>
            </a:r>
          </a:p>
        </p:txBody>
      </p:sp>
      <p:sp>
        <p:nvSpPr>
          <p:cNvPr id="7" name="Rounded Rectangle 6"/>
          <p:cNvSpPr/>
          <p:nvPr/>
        </p:nvSpPr>
        <p:spPr>
          <a:xfrm>
            <a:off x="4271162" y="1335024"/>
            <a:ext cx="3649370" cy="228600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54042" y="1499616"/>
            <a:ext cx="3283610" cy="310896"/>
          </a:xfrm>
          <a:prstGeom prst="rect">
            <a:avLst/>
          </a:prstGeom>
          <a:noFill/>
        </p:spPr>
        <p:txBody>
          <a:bodyPr wrap="square">
            <a:spAutoFit/>
          </a:bodyPr>
          <a:lstStyle/>
          <a:p>
            <a:pPr algn="l"/>
            <a:r>
              <a:rPr sz="1300" b="1" i="0">
                <a:solidFill>
                  <a:srgbClr val="818CF8"/>
                </a:solidFill>
              </a:rPr>
              <a:t>Role-based access</a:t>
            </a:r>
          </a:p>
        </p:txBody>
      </p:sp>
      <p:sp>
        <p:nvSpPr>
          <p:cNvPr id="9" name="TextBox 8"/>
          <p:cNvSpPr txBox="1"/>
          <p:nvPr/>
        </p:nvSpPr>
        <p:spPr>
          <a:xfrm>
            <a:off x="4454042" y="1883664"/>
            <a:ext cx="3283610" cy="1627632"/>
          </a:xfrm>
          <a:prstGeom prst="rect">
            <a:avLst/>
          </a:prstGeom>
          <a:noFill/>
        </p:spPr>
        <p:txBody>
          <a:bodyPr wrap="square">
            <a:spAutoFit/>
          </a:bodyPr>
          <a:lstStyle/>
          <a:p>
            <a:pPr algn="l"/>
            <a:r>
              <a:rPr sz="1000" b="0" i="0">
                <a:solidFill>
                  <a:srgbClr val="94A3B8"/>
                </a:solidFill>
              </a:rPr>
              <a:t>Four roles: Admin, Staff, Volunteer, Viewer. Custom Firebase claims enforced on both frontend routes and the Flask API. No permission leakage.</a:t>
            </a:r>
          </a:p>
        </p:txBody>
      </p:sp>
      <p:sp>
        <p:nvSpPr>
          <p:cNvPr id="10" name="Rounded Rectangle 9"/>
          <p:cNvSpPr/>
          <p:nvPr/>
        </p:nvSpPr>
        <p:spPr>
          <a:xfrm>
            <a:off x="8085124" y="1335024"/>
            <a:ext cx="3649370" cy="228600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68004" y="1499616"/>
            <a:ext cx="3283610" cy="310896"/>
          </a:xfrm>
          <a:prstGeom prst="rect">
            <a:avLst/>
          </a:prstGeom>
          <a:noFill/>
        </p:spPr>
        <p:txBody>
          <a:bodyPr wrap="square">
            <a:spAutoFit/>
          </a:bodyPr>
          <a:lstStyle/>
          <a:p>
            <a:pPr algn="l"/>
            <a:r>
              <a:rPr sz="1300" b="1" i="0">
                <a:solidFill>
                  <a:srgbClr val="FB923C"/>
                </a:solidFill>
              </a:rPr>
              <a:t>Impact analytics</a:t>
            </a:r>
          </a:p>
        </p:txBody>
      </p:sp>
      <p:sp>
        <p:nvSpPr>
          <p:cNvPr id="12" name="TextBox 11"/>
          <p:cNvSpPr txBox="1"/>
          <p:nvPr/>
        </p:nvSpPr>
        <p:spPr>
          <a:xfrm>
            <a:off x="8268004" y="1883664"/>
            <a:ext cx="3283610" cy="1627632"/>
          </a:xfrm>
          <a:prstGeom prst="rect">
            <a:avLst/>
          </a:prstGeom>
          <a:noFill/>
        </p:spPr>
        <p:txBody>
          <a:bodyPr wrap="square">
            <a:spAutoFit/>
          </a:bodyPr>
          <a:lstStyle/>
          <a:p>
            <a:pPr algn="l"/>
            <a:r>
              <a:rPr sz="1000" b="0" i="0">
                <a:solidFill>
                  <a:srgbClr val="94A3B8"/>
                </a:solidFill>
              </a:rPr>
              <a:t>Donut charts (status/category), bar chart (monthly events), 6-month volunteer participation line chart, and a staff productivity table — all live from Firestore.</a:t>
            </a:r>
          </a:p>
        </p:txBody>
      </p:sp>
      <p:sp>
        <p:nvSpPr>
          <p:cNvPr id="13" name="Rounded Rectangle 12"/>
          <p:cNvSpPr/>
          <p:nvPr/>
        </p:nvSpPr>
        <p:spPr>
          <a:xfrm>
            <a:off x="457200" y="3785616"/>
            <a:ext cx="3649370" cy="228600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3950208"/>
            <a:ext cx="3283610" cy="310896"/>
          </a:xfrm>
          <a:prstGeom prst="rect">
            <a:avLst/>
          </a:prstGeom>
          <a:noFill/>
        </p:spPr>
        <p:txBody>
          <a:bodyPr wrap="square">
            <a:spAutoFit/>
          </a:bodyPr>
          <a:lstStyle/>
          <a:p>
            <a:pPr algn="l"/>
            <a:r>
              <a:rPr sz="1300" b="1" i="0">
                <a:solidFill>
                  <a:srgbClr val="38BDF8"/>
                </a:solidFill>
              </a:rPr>
              <a:t>Smart notifications</a:t>
            </a:r>
          </a:p>
        </p:txBody>
      </p:sp>
      <p:sp>
        <p:nvSpPr>
          <p:cNvPr id="15" name="TextBox 14"/>
          <p:cNvSpPr txBox="1"/>
          <p:nvPr/>
        </p:nvSpPr>
        <p:spPr>
          <a:xfrm>
            <a:off x="640080" y="4334256"/>
            <a:ext cx="3283610" cy="1627632"/>
          </a:xfrm>
          <a:prstGeom prst="rect">
            <a:avLst/>
          </a:prstGeom>
          <a:noFill/>
        </p:spPr>
        <p:txBody>
          <a:bodyPr wrap="square">
            <a:spAutoFit/>
          </a:bodyPr>
          <a:lstStyle/>
          <a:p>
            <a:pPr algn="l"/>
            <a:r>
              <a:rPr sz="1000" b="0" i="0">
                <a:solidFill>
                  <a:srgbClr val="94A3B8"/>
                </a:solidFill>
              </a:rPr>
              <a:t>Push (FCM) + email (Resend) reminders at 24h, 6h, and 3h before each event. Idempotency tracking prevents duplicates. Per-user preference settings.</a:t>
            </a:r>
          </a:p>
        </p:txBody>
      </p:sp>
      <p:sp>
        <p:nvSpPr>
          <p:cNvPr id="16" name="Rounded Rectangle 15"/>
          <p:cNvSpPr/>
          <p:nvPr/>
        </p:nvSpPr>
        <p:spPr>
          <a:xfrm>
            <a:off x="4271162" y="3785616"/>
            <a:ext cx="3649370" cy="228600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54042" y="3950208"/>
            <a:ext cx="3283610" cy="310896"/>
          </a:xfrm>
          <a:prstGeom prst="rect">
            <a:avLst/>
          </a:prstGeom>
          <a:noFill/>
        </p:spPr>
        <p:txBody>
          <a:bodyPr wrap="square">
            <a:spAutoFit/>
          </a:bodyPr>
          <a:lstStyle/>
          <a:p>
            <a:pPr algn="l"/>
            <a:r>
              <a:rPr sz="1300" b="1" i="0">
                <a:solidFill>
                  <a:srgbClr val="F87171"/>
                </a:solidFill>
              </a:rPr>
              <a:t>Enrollment workflows</a:t>
            </a:r>
          </a:p>
        </p:txBody>
      </p:sp>
      <p:sp>
        <p:nvSpPr>
          <p:cNvPr id="18" name="TextBox 17"/>
          <p:cNvSpPr txBox="1"/>
          <p:nvPr/>
        </p:nvSpPr>
        <p:spPr>
          <a:xfrm>
            <a:off x="4454042" y="4334256"/>
            <a:ext cx="3283610" cy="1627632"/>
          </a:xfrm>
          <a:prstGeom prst="rect">
            <a:avLst/>
          </a:prstGeom>
          <a:noFill/>
        </p:spPr>
        <p:txBody>
          <a:bodyPr wrap="square">
            <a:spAutoFit/>
          </a:bodyPr>
          <a:lstStyle/>
          <a:p>
            <a:pPr algn="l"/>
            <a:r>
              <a:rPr sz="1000" b="0" i="0">
                <a:solidFill>
                  <a:srgbClr val="94A3B8"/>
                </a:solidFill>
              </a:rPr>
              <a:t>Two modes: open (volunteers apply, staff approve) and assigned (direct assignment). Capacity validation, duplicate prevention, and rejection notes included.</a:t>
            </a:r>
          </a:p>
        </p:txBody>
      </p:sp>
      <p:sp>
        <p:nvSpPr>
          <p:cNvPr id="19" name="Rounded Rectangle 18"/>
          <p:cNvSpPr/>
          <p:nvPr/>
        </p:nvSpPr>
        <p:spPr>
          <a:xfrm>
            <a:off x="8085124" y="3785616"/>
            <a:ext cx="3649370" cy="228600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68004" y="3950208"/>
            <a:ext cx="3283610" cy="310896"/>
          </a:xfrm>
          <a:prstGeom prst="rect">
            <a:avLst/>
          </a:prstGeom>
          <a:noFill/>
        </p:spPr>
        <p:txBody>
          <a:bodyPr wrap="square">
            <a:spAutoFit/>
          </a:bodyPr>
          <a:lstStyle/>
          <a:p>
            <a:pPr algn="l"/>
            <a:r>
              <a:rPr sz="1300" b="1" i="0">
                <a:solidFill>
                  <a:srgbClr val="34D399"/>
                </a:solidFill>
              </a:rPr>
              <a:t>Photo documentation</a:t>
            </a:r>
          </a:p>
        </p:txBody>
      </p:sp>
      <p:sp>
        <p:nvSpPr>
          <p:cNvPr id="21" name="TextBox 20"/>
          <p:cNvSpPr txBox="1"/>
          <p:nvPr/>
        </p:nvSpPr>
        <p:spPr>
          <a:xfrm>
            <a:off x="8268004" y="4334256"/>
            <a:ext cx="3283610" cy="1627632"/>
          </a:xfrm>
          <a:prstGeom prst="rect">
            <a:avLst/>
          </a:prstGeom>
          <a:noFill/>
        </p:spPr>
        <p:txBody>
          <a:bodyPr wrap="square">
            <a:spAutoFit/>
          </a:bodyPr>
          <a:lstStyle/>
          <a:p>
            <a:pPr algn="l"/>
            <a:r>
              <a:rPr sz="1000" b="0" i="0">
                <a:solidFill>
                  <a:srgbClr val="94A3B8"/>
                </a:solidFill>
              </a:rPr>
              <a:t>Upload event photos stored in Supabase. Metadata includes uploader identity and caption. Photos attached per event for audit and reporting.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80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75569"/>
                </a:solidFill>
              </a:rPr>
              <a:t>ACCESS MODEL</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Four roles that mirror how NGOs actually work</a:t>
            </a:r>
          </a:p>
        </p:txBody>
      </p:sp>
      <p:sp>
        <p:nvSpPr>
          <p:cNvPr id="4" name="TextBox 3"/>
          <p:cNvSpPr txBox="1"/>
          <p:nvPr/>
        </p:nvSpPr>
        <p:spPr>
          <a:xfrm>
            <a:off x="2286000" y="1335024"/>
            <a:ext cx="7619695" cy="438912"/>
          </a:xfrm>
          <a:prstGeom prst="rect">
            <a:avLst/>
          </a:prstGeom>
          <a:noFill/>
        </p:spPr>
        <p:txBody>
          <a:bodyPr wrap="square">
            <a:spAutoFit/>
          </a:bodyPr>
          <a:lstStyle/>
          <a:p>
            <a:pPr algn="ctr"/>
            <a:r>
              <a:rPr sz="1100" b="0" i="0">
                <a:solidFill>
                  <a:srgbClr val="94A3B8"/>
                </a:solidFill>
              </a:rPr>
              <a:t>Most tools bolt on sharing after the fact. Trackly's permission model was built from the org chart up.</a:t>
            </a:r>
          </a:p>
        </p:txBody>
      </p:sp>
      <p:sp>
        <p:nvSpPr>
          <p:cNvPr id="5" name="Rectangle 4"/>
          <p:cNvSpPr/>
          <p:nvPr/>
        </p:nvSpPr>
        <p:spPr>
          <a:xfrm>
            <a:off x="563727" y="1847088"/>
            <a:ext cx="11064240" cy="475488"/>
          </a:xfrm>
          <a:prstGeom prst="rect">
            <a:avLst/>
          </a:prstGeom>
          <a:solidFill>
            <a:srgbClr val="08101E"/>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73455" y="1938528"/>
            <a:ext cx="1115568" cy="347472"/>
          </a:xfrm>
          <a:prstGeom prst="rect">
            <a:avLst/>
          </a:prstGeom>
          <a:noFill/>
        </p:spPr>
        <p:txBody>
          <a:bodyPr wrap="square">
            <a:spAutoFit/>
          </a:bodyPr>
          <a:lstStyle/>
          <a:p>
            <a:pPr algn="l"/>
            <a:endParaRPr/>
          </a:p>
        </p:txBody>
      </p:sp>
      <p:sp>
        <p:nvSpPr>
          <p:cNvPr id="7" name="TextBox 6"/>
          <p:cNvSpPr txBox="1"/>
          <p:nvPr/>
        </p:nvSpPr>
        <p:spPr>
          <a:xfrm>
            <a:off x="1953615" y="1938528"/>
            <a:ext cx="6053328" cy="347472"/>
          </a:xfrm>
          <a:prstGeom prst="rect">
            <a:avLst/>
          </a:prstGeom>
          <a:noFill/>
        </p:spPr>
        <p:txBody>
          <a:bodyPr wrap="square">
            <a:spAutoFit/>
          </a:bodyPr>
          <a:lstStyle/>
          <a:p>
            <a:pPr algn="l"/>
            <a:r>
              <a:rPr sz="800" b="1" i="0">
                <a:solidFill>
                  <a:srgbClr val="475569"/>
                </a:solidFill>
              </a:rPr>
              <a:t>What they can do</a:t>
            </a:r>
          </a:p>
        </p:txBody>
      </p:sp>
      <p:sp>
        <p:nvSpPr>
          <p:cNvPr id="8" name="TextBox 7"/>
          <p:cNvSpPr txBox="1"/>
          <p:nvPr/>
        </p:nvSpPr>
        <p:spPr>
          <a:xfrm>
            <a:off x="8171535" y="1938528"/>
            <a:ext cx="3401568" cy="347472"/>
          </a:xfrm>
          <a:prstGeom prst="rect">
            <a:avLst/>
          </a:prstGeom>
          <a:noFill/>
        </p:spPr>
        <p:txBody>
          <a:bodyPr wrap="square">
            <a:spAutoFit/>
          </a:bodyPr>
          <a:lstStyle/>
          <a:p>
            <a:pPr algn="l"/>
            <a:r>
              <a:rPr sz="800" b="1" i="0">
                <a:solidFill>
                  <a:srgbClr val="475569"/>
                </a:solidFill>
              </a:rPr>
              <a:t>Real-world equivalent</a:t>
            </a:r>
          </a:p>
        </p:txBody>
      </p:sp>
      <p:sp>
        <p:nvSpPr>
          <p:cNvPr id="9" name="Rectangle 8"/>
          <p:cNvSpPr/>
          <p:nvPr/>
        </p:nvSpPr>
        <p:spPr>
          <a:xfrm>
            <a:off x="563727" y="2386584"/>
            <a:ext cx="11064240" cy="475488"/>
          </a:xfrm>
          <a:prstGeom prst="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73455" y="2478024"/>
            <a:ext cx="1115568" cy="347472"/>
          </a:xfrm>
          <a:prstGeom prst="rect">
            <a:avLst/>
          </a:prstGeom>
          <a:noFill/>
        </p:spPr>
        <p:txBody>
          <a:bodyPr wrap="square">
            <a:spAutoFit/>
          </a:bodyPr>
          <a:lstStyle/>
          <a:p>
            <a:pPr algn="l"/>
            <a:r>
              <a:rPr sz="1000" b="1" i="0">
                <a:solidFill>
                  <a:srgbClr val="F87171"/>
                </a:solidFill>
              </a:rPr>
              <a:t>Admin</a:t>
            </a:r>
          </a:p>
        </p:txBody>
      </p:sp>
      <p:sp>
        <p:nvSpPr>
          <p:cNvPr id="11" name="TextBox 10"/>
          <p:cNvSpPr txBox="1"/>
          <p:nvPr/>
        </p:nvSpPr>
        <p:spPr>
          <a:xfrm>
            <a:off x="1953615" y="2478024"/>
            <a:ext cx="6053328" cy="347472"/>
          </a:xfrm>
          <a:prstGeom prst="rect">
            <a:avLst/>
          </a:prstGeom>
          <a:noFill/>
        </p:spPr>
        <p:txBody>
          <a:bodyPr wrap="square">
            <a:spAutoFit/>
          </a:bodyPr>
          <a:lstStyle/>
          <a:p>
            <a:pPr algn="l"/>
            <a:r>
              <a:rPr sz="1000" b="0" i="0">
                <a:solidFill>
                  <a:srgbClr val="94A3B8"/>
                </a:solidFill>
              </a:rPr>
              <a:t>Create/delete events, manage user roles and user accounts, view all analytics and reports</a:t>
            </a:r>
          </a:p>
        </p:txBody>
      </p:sp>
      <p:sp>
        <p:nvSpPr>
          <p:cNvPr id="12" name="TextBox 11"/>
          <p:cNvSpPr txBox="1"/>
          <p:nvPr/>
        </p:nvSpPr>
        <p:spPr>
          <a:xfrm>
            <a:off x="8171535" y="2478024"/>
            <a:ext cx="3401568" cy="347472"/>
          </a:xfrm>
          <a:prstGeom prst="rect">
            <a:avLst/>
          </a:prstGeom>
          <a:noFill/>
        </p:spPr>
        <p:txBody>
          <a:bodyPr wrap="square">
            <a:spAutoFit/>
          </a:bodyPr>
          <a:lstStyle/>
          <a:p>
            <a:pPr algn="l"/>
            <a:r>
              <a:rPr sz="1000" b="0" i="0">
                <a:solidFill>
                  <a:srgbClr val="94A3B8"/>
                </a:solidFill>
              </a:rPr>
              <a:t>Program director / NGO head</a:t>
            </a:r>
          </a:p>
        </p:txBody>
      </p:sp>
      <p:sp>
        <p:nvSpPr>
          <p:cNvPr id="13" name="Rectangle 12"/>
          <p:cNvSpPr/>
          <p:nvPr/>
        </p:nvSpPr>
        <p:spPr>
          <a:xfrm>
            <a:off x="563727" y="2926080"/>
            <a:ext cx="11064240" cy="475488"/>
          </a:xfrm>
          <a:prstGeom prst="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3455" y="3017520"/>
            <a:ext cx="1115568" cy="347472"/>
          </a:xfrm>
          <a:prstGeom prst="rect">
            <a:avLst/>
          </a:prstGeom>
          <a:noFill/>
        </p:spPr>
        <p:txBody>
          <a:bodyPr wrap="square">
            <a:spAutoFit/>
          </a:bodyPr>
          <a:lstStyle/>
          <a:p>
            <a:pPr algn="l"/>
            <a:r>
              <a:rPr sz="1000" b="1" i="0">
                <a:solidFill>
                  <a:srgbClr val="FB923C"/>
                </a:solidFill>
              </a:rPr>
              <a:t>Staff</a:t>
            </a:r>
          </a:p>
        </p:txBody>
      </p:sp>
      <p:sp>
        <p:nvSpPr>
          <p:cNvPr id="15" name="TextBox 14"/>
          <p:cNvSpPr txBox="1"/>
          <p:nvPr/>
        </p:nvSpPr>
        <p:spPr>
          <a:xfrm>
            <a:off x="1953615" y="3017520"/>
            <a:ext cx="6053328" cy="347472"/>
          </a:xfrm>
          <a:prstGeom prst="rect">
            <a:avLst/>
          </a:prstGeom>
          <a:noFill/>
        </p:spPr>
        <p:txBody>
          <a:bodyPr wrap="square">
            <a:spAutoFit/>
          </a:bodyPr>
          <a:lstStyle/>
          <a:p>
            <a:pPr algn="l"/>
            <a:r>
              <a:rPr sz="1000" b="0" i="0">
                <a:solidFill>
                  <a:srgbClr val="94A3B8"/>
                </a:solidFill>
              </a:rPr>
              <a:t>Create and edit events, manage attendees, assign volunteers, upload photos</a:t>
            </a:r>
          </a:p>
        </p:txBody>
      </p:sp>
      <p:sp>
        <p:nvSpPr>
          <p:cNvPr id="16" name="TextBox 15"/>
          <p:cNvSpPr txBox="1"/>
          <p:nvPr/>
        </p:nvSpPr>
        <p:spPr>
          <a:xfrm>
            <a:off x="8171535" y="3017520"/>
            <a:ext cx="3401568" cy="347472"/>
          </a:xfrm>
          <a:prstGeom prst="rect">
            <a:avLst/>
          </a:prstGeom>
          <a:noFill/>
        </p:spPr>
        <p:txBody>
          <a:bodyPr wrap="square">
            <a:spAutoFit/>
          </a:bodyPr>
          <a:lstStyle/>
          <a:p>
            <a:pPr algn="l"/>
            <a:r>
              <a:rPr sz="1000" b="0" i="0">
                <a:solidFill>
                  <a:srgbClr val="94A3B8"/>
                </a:solidFill>
              </a:rPr>
              <a:t>Field coordinator / manager</a:t>
            </a:r>
          </a:p>
        </p:txBody>
      </p:sp>
      <p:sp>
        <p:nvSpPr>
          <p:cNvPr id="17" name="Rectangle 16"/>
          <p:cNvSpPr/>
          <p:nvPr/>
        </p:nvSpPr>
        <p:spPr>
          <a:xfrm>
            <a:off x="563727" y="3465576"/>
            <a:ext cx="11064240" cy="475488"/>
          </a:xfrm>
          <a:prstGeom prst="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3455" y="3557016"/>
            <a:ext cx="1115568" cy="347472"/>
          </a:xfrm>
          <a:prstGeom prst="rect">
            <a:avLst/>
          </a:prstGeom>
          <a:noFill/>
        </p:spPr>
        <p:txBody>
          <a:bodyPr wrap="square">
            <a:spAutoFit/>
          </a:bodyPr>
          <a:lstStyle/>
          <a:p>
            <a:pPr algn="l"/>
            <a:r>
              <a:rPr sz="1000" b="1" i="0">
                <a:solidFill>
                  <a:srgbClr val="34D399"/>
                </a:solidFill>
              </a:rPr>
              <a:t>Volunteer</a:t>
            </a:r>
          </a:p>
        </p:txBody>
      </p:sp>
      <p:sp>
        <p:nvSpPr>
          <p:cNvPr id="19" name="TextBox 18"/>
          <p:cNvSpPr txBox="1"/>
          <p:nvPr/>
        </p:nvSpPr>
        <p:spPr>
          <a:xfrm>
            <a:off x="1953615" y="3557016"/>
            <a:ext cx="6053328" cy="347472"/>
          </a:xfrm>
          <a:prstGeom prst="rect">
            <a:avLst/>
          </a:prstGeom>
          <a:noFill/>
        </p:spPr>
        <p:txBody>
          <a:bodyPr wrap="square">
            <a:spAutoFit/>
          </a:bodyPr>
          <a:lstStyle/>
          <a:p>
            <a:pPr algn="l"/>
            <a:r>
              <a:rPr sz="1000" b="0" i="0">
                <a:solidFill>
                  <a:srgbClr val="94A3B8"/>
                </a:solidFill>
              </a:rPr>
              <a:t>Browse open events, submit join requests, view personal event history, upload photos</a:t>
            </a:r>
          </a:p>
        </p:txBody>
      </p:sp>
      <p:sp>
        <p:nvSpPr>
          <p:cNvPr id="20" name="TextBox 19"/>
          <p:cNvSpPr txBox="1"/>
          <p:nvPr/>
        </p:nvSpPr>
        <p:spPr>
          <a:xfrm>
            <a:off x="8171535" y="3557016"/>
            <a:ext cx="3401568" cy="347472"/>
          </a:xfrm>
          <a:prstGeom prst="rect">
            <a:avLst/>
          </a:prstGeom>
          <a:noFill/>
        </p:spPr>
        <p:txBody>
          <a:bodyPr wrap="square">
            <a:spAutoFit/>
          </a:bodyPr>
          <a:lstStyle/>
          <a:p>
            <a:pPr algn="l"/>
            <a:r>
              <a:rPr sz="1000" b="0" i="0">
                <a:solidFill>
                  <a:srgbClr val="94A3B8"/>
                </a:solidFill>
              </a:rPr>
              <a:t>Volunteer / field worker</a:t>
            </a:r>
          </a:p>
        </p:txBody>
      </p:sp>
      <p:sp>
        <p:nvSpPr>
          <p:cNvPr id="21" name="Rectangle 20"/>
          <p:cNvSpPr/>
          <p:nvPr/>
        </p:nvSpPr>
        <p:spPr>
          <a:xfrm>
            <a:off x="563727" y="4005072"/>
            <a:ext cx="11064240" cy="475488"/>
          </a:xfrm>
          <a:prstGeom prst="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3455" y="4096512"/>
            <a:ext cx="1115568" cy="347472"/>
          </a:xfrm>
          <a:prstGeom prst="rect">
            <a:avLst/>
          </a:prstGeom>
          <a:noFill/>
        </p:spPr>
        <p:txBody>
          <a:bodyPr wrap="square">
            <a:spAutoFit/>
          </a:bodyPr>
          <a:lstStyle/>
          <a:p>
            <a:pPr algn="l"/>
            <a:r>
              <a:rPr sz="1000" b="1" i="0">
                <a:solidFill>
                  <a:srgbClr val="475569"/>
                </a:solidFill>
              </a:rPr>
              <a:t>Viewer</a:t>
            </a:r>
          </a:p>
        </p:txBody>
      </p:sp>
      <p:sp>
        <p:nvSpPr>
          <p:cNvPr id="23" name="TextBox 22"/>
          <p:cNvSpPr txBox="1"/>
          <p:nvPr/>
        </p:nvSpPr>
        <p:spPr>
          <a:xfrm>
            <a:off x="1953615" y="4096512"/>
            <a:ext cx="6053328" cy="347472"/>
          </a:xfrm>
          <a:prstGeom prst="rect">
            <a:avLst/>
          </a:prstGeom>
          <a:noFill/>
        </p:spPr>
        <p:txBody>
          <a:bodyPr wrap="square">
            <a:spAutoFit/>
          </a:bodyPr>
          <a:lstStyle/>
          <a:p>
            <a:pPr algn="l"/>
            <a:r>
              <a:rPr sz="1000" b="0" i="0">
                <a:solidFill>
                  <a:srgbClr val="94A3B8"/>
                </a:solidFill>
              </a:rPr>
              <a:t>Read-only access to events and schedules — no creation or enrollment actions</a:t>
            </a:r>
          </a:p>
        </p:txBody>
      </p:sp>
      <p:sp>
        <p:nvSpPr>
          <p:cNvPr id="24" name="TextBox 23"/>
          <p:cNvSpPr txBox="1"/>
          <p:nvPr/>
        </p:nvSpPr>
        <p:spPr>
          <a:xfrm>
            <a:off x="8171535" y="4096512"/>
            <a:ext cx="3401568" cy="347472"/>
          </a:xfrm>
          <a:prstGeom prst="rect">
            <a:avLst/>
          </a:prstGeom>
          <a:noFill/>
        </p:spPr>
        <p:txBody>
          <a:bodyPr wrap="square">
            <a:spAutoFit/>
          </a:bodyPr>
          <a:lstStyle/>
          <a:p>
            <a:pPr algn="l"/>
            <a:r>
              <a:rPr sz="1000" b="0" i="0">
                <a:solidFill>
                  <a:srgbClr val="94A3B8"/>
                </a:solidFill>
              </a:rPr>
              <a:t>Donor / board member</a:t>
            </a:r>
          </a:p>
        </p:txBody>
      </p:sp>
      <p:sp>
        <p:nvSpPr>
          <p:cNvPr id="25" name="TextBox 24"/>
          <p:cNvSpPr txBox="1"/>
          <p:nvPr/>
        </p:nvSpPr>
        <p:spPr>
          <a:xfrm>
            <a:off x="1371600" y="4672584"/>
            <a:ext cx="9448495" cy="384048"/>
          </a:xfrm>
          <a:prstGeom prst="rect">
            <a:avLst/>
          </a:prstGeom>
          <a:noFill/>
        </p:spPr>
        <p:txBody>
          <a:bodyPr wrap="square">
            <a:spAutoFit/>
          </a:bodyPr>
          <a:lstStyle/>
          <a:p>
            <a:pPr algn="ctr"/>
            <a:r>
              <a:rPr sz="1000" b="0" i="1">
                <a:solidFill>
                  <a:srgbClr val="475569"/>
                </a:solidFill>
              </a:rPr>
              <a:t>Roles use custom Firebase claims synced to Firestore. Both the React routes and the Flask API verify permissions independently — if one check fails, access is denied.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80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75569"/>
                </a:solidFill>
              </a:rPr>
              <a:t>TECHNICAL ARCHITECTURE</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Why each technology choice was deliberate</a:t>
            </a:r>
          </a:p>
        </p:txBody>
      </p:sp>
      <p:sp>
        <p:nvSpPr>
          <p:cNvPr id="4" name="TextBox 3"/>
          <p:cNvSpPr txBox="1"/>
          <p:nvPr/>
        </p:nvSpPr>
        <p:spPr>
          <a:xfrm>
            <a:off x="2286000" y="1335024"/>
            <a:ext cx="7619695" cy="438912"/>
          </a:xfrm>
          <a:prstGeom prst="rect">
            <a:avLst/>
          </a:prstGeom>
          <a:noFill/>
        </p:spPr>
        <p:txBody>
          <a:bodyPr wrap="square">
            <a:spAutoFit/>
          </a:bodyPr>
          <a:lstStyle/>
          <a:p>
            <a:pPr algn="ctr"/>
            <a:r>
              <a:rPr sz="1100" b="0" i="0">
                <a:solidFill>
                  <a:srgbClr val="94A3B8"/>
                </a:solidFill>
              </a:rPr>
              <a:t>Five layers. Each one chosen for a specific reason, not just familiarity.</a:t>
            </a:r>
          </a:p>
        </p:txBody>
      </p:sp>
      <p:sp>
        <p:nvSpPr>
          <p:cNvPr id="5" name="Rounded Rectangle 4"/>
          <p:cNvSpPr/>
          <p:nvPr/>
        </p:nvSpPr>
        <p:spPr>
          <a:xfrm>
            <a:off x="457200" y="1847088"/>
            <a:ext cx="2109155" cy="199339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938528"/>
            <a:ext cx="1926275" cy="201168"/>
          </a:xfrm>
          <a:prstGeom prst="rect">
            <a:avLst/>
          </a:prstGeom>
          <a:noFill/>
        </p:spPr>
        <p:txBody>
          <a:bodyPr wrap="square">
            <a:spAutoFit/>
          </a:bodyPr>
          <a:lstStyle/>
          <a:p>
            <a:pPr algn="ctr"/>
            <a:r>
              <a:rPr sz="700" b="0" i="0">
                <a:solidFill>
                  <a:srgbClr val="475569"/>
                </a:solidFill>
              </a:rPr>
              <a:t>FRONTEND</a:t>
            </a:r>
          </a:p>
        </p:txBody>
      </p:sp>
      <p:sp>
        <p:nvSpPr>
          <p:cNvPr id="7" name="TextBox 6"/>
          <p:cNvSpPr txBox="1"/>
          <p:nvPr/>
        </p:nvSpPr>
        <p:spPr>
          <a:xfrm>
            <a:off x="548640" y="2176272"/>
            <a:ext cx="1926275" cy="347472"/>
          </a:xfrm>
          <a:prstGeom prst="rect">
            <a:avLst/>
          </a:prstGeom>
          <a:noFill/>
        </p:spPr>
        <p:txBody>
          <a:bodyPr wrap="square">
            <a:spAutoFit/>
          </a:bodyPr>
          <a:lstStyle/>
          <a:p>
            <a:pPr algn="ctr"/>
            <a:r>
              <a:rPr sz="1200" b="1" i="0">
                <a:solidFill>
                  <a:srgbClr val="F0F4FF"/>
                </a:solidFill>
              </a:rPr>
              <a:t>React + Vite</a:t>
            </a:r>
          </a:p>
        </p:txBody>
      </p:sp>
      <p:sp>
        <p:nvSpPr>
          <p:cNvPr id="8" name="TextBox 7"/>
          <p:cNvSpPr txBox="1"/>
          <p:nvPr/>
        </p:nvSpPr>
        <p:spPr>
          <a:xfrm>
            <a:off x="548640" y="2596896"/>
            <a:ext cx="1926275" cy="1078992"/>
          </a:xfrm>
          <a:prstGeom prst="rect">
            <a:avLst/>
          </a:prstGeom>
          <a:noFill/>
        </p:spPr>
        <p:txBody>
          <a:bodyPr wrap="square">
            <a:spAutoFit/>
          </a:bodyPr>
          <a:lstStyle/>
          <a:p>
            <a:pPr algn="ctr"/>
            <a:r>
              <a:rPr sz="1000" b="0" i="0">
                <a:solidFill>
                  <a:srgbClr val="94A3B8"/>
                </a:solidFill>
              </a:rPr>
              <a:t>TypeScript · Tailwind
shadcn/ui · Framer Motion</a:t>
            </a:r>
          </a:p>
        </p:txBody>
      </p:sp>
      <p:sp>
        <p:nvSpPr>
          <p:cNvPr id="9" name="TextBox 8"/>
          <p:cNvSpPr txBox="1"/>
          <p:nvPr/>
        </p:nvSpPr>
        <p:spPr>
          <a:xfrm>
            <a:off x="2584643" y="2743200"/>
            <a:ext cx="164592" cy="201168"/>
          </a:xfrm>
          <a:prstGeom prst="rect">
            <a:avLst/>
          </a:prstGeom>
          <a:noFill/>
        </p:spPr>
        <p:txBody>
          <a:bodyPr wrap="square">
            <a:spAutoFit/>
          </a:bodyPr>
          <a:lstStyle/>
          <a:p>
            <a:pPr algn="ctr"/>
            <a:r>
              <a:rPr sz="1000" b="0" i="0">
                <a:solidFill>
                  <a:srgbClr val="475569"/>
                </a:solidFill>
              </a:rPr>
              <a:t>-&gt;</a:t>
            </a:r>
          </a:p>
        </p:txBody>
      </p:sp>
      <p:sp>
        <p:nvSpPr>
          <p:cNvPr id="10" name="Rounded Rectangle 9"/>
          <p:cNvSpPr/>
          <p:nvPr/>
        </p:nvSpPr>
        <p:spPr>
          <a:xfrm>
            <a:off x="2749235" y="1847088"/>
            <a:ext cx="2109155" cy="1993392"/>
          </a:xfrm>
          <a:prstGeom prst="roundRect">
            <a:avLst/>
          </a:prstGeom>
          <a:solidFill>
            <a:srgbClr val="061E18"/>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40675" y="1938528"/>
            <a:ext cx="1926275" cy="201168"/>
          </a:xfrm>
          <a:prstGeom prst="rect">
            <a:avLst/>
          </a:prstGeom>
          <a:noFill/>
        </p:spPr>
        <p:txBody>
          <a:bodyPr wrap="square">
            <a:spAutoFit/>
          </a:bodyPr>
          <a:lstStyle/>
          <a:p>
            <a:pPr algn="ctr"/>
            <a:r>
              <a:rPr sz="700" b="0" i="0">
                <a:solidFill>
                  <a:srgbClr val="34D399"/>
                </a:solidFill>
              </a:rPr>
              <a:t>AUTH + DB</a:t>
            </a:r>
          </a:p>
        </p:txBody>
      </p:sp>
      <p:sp>
        <p:nvSpPr>
          <p:cNvPr id="12" name="TextBox 11"/>
          <p:cNvSpPr txBox="1"/>
          <p:nvPr/>
        </p:nvSpPr>
        <p:spPr>
          <a:xfrm>
            <a:off x="2840675" y="2176272"/>
            <a:ext cx="1926275" cy="347472"/>
          </a:xfrm>
          <a:prstGeom prst="rect">
            <a:avLst/>
          </a:prstGeom>
          <a:noFill/>
        </p:spPr>
        <p:txBody>
          <a:bodyPr wrap="square">
            <a:spAutoFit/>
          </a:bodyPr>
          <a:lstStyle/>
          <a:p>
            <a:pPr algn="ctr"/>
            <a:r>
              <a:rPr sz="1200" b="1" i="0">
                <a:solidFill>
                  <a:srgbClr val="F0F4FF"/>
                </a:solidFill>
              </a:rPr>
              <a:t>Firebase</a:t>
            </a:r>
          </a:p>
        </p:txBody>
      </p:sp>
      <p:sp>
        <p:nvSpPr>
          <p:cNvPr id="13" name="TextBox 12"/>
          <p:cNvSpPr txBox="1"/>
          <p:nvPr/>
        </p:nvSpPr>
        <p:spPr>
          <a:xfrm>
            <a:off x="2840675" y="2596896"/>
            <a:ext cx="1926275" cy="1078992"/>
          </a:xfrm>
          <a:prstGeom prst="rect">
            <a:avLst/>
          </a:prstGeom>
          <a:noFill/>
        </p:spPr>
        <p:txBody>
          <a:bodyPr wrap="square">
            <a:spAutoFit/>
          </a:bodyPr>
          <a:lstStyle/>
          <a:p>
            <a:pPr algn="ctr"/>
            <a:r>
              <a:rPr sz="1000" b="0" i="0">
                <a:solidFill>
                  <a:srgbClr val="94A3B8"/>
                </a:solidFill>
              </a:rPr>
              <a:t>Auth · Firestore
Cloud Messaging</a:t>
            </a:r>
          </a:p>
        </p:txBody>
      </p:sp>
      <p:sp>
        <p:nvSpPr>
          <p:cNvPr id="14" name="TextBox 13"/>
          <p:cNvSpPr txBox="1"/>
          <p:nvPr/>
        </p:nvSpPr>
        <p:spPr>
          <a:xfrm>
            <a:off x="4876678" y="2743200"/>
            <a:ext cx="164592" cy="201168"/>
          </a:xfrm>
          <a:prstGeom prst="rect">
            <a:avLst/>
          </a:prstGeom>
          <a:noFill/>
        </p:spPr>
        <p:txBody>
          <a:bodyPr wrap="square">
            <a:spAutoFit/>
          </a:bodyPr>
          <a:lstStyle/>
          <a:p>
            <a:pPr algn="ctr"/>
            <a:r>
              <a:rPr sz="1000" b="0" i="0">
                <a:solidFill>
                  <a:srgbClr val="475569"/>
                </a:solidFill>
              </a:rPr>
              <a:t>-&gt;</a:t>
            </a:r>
          </a:p>
        </p:txBody>
      </p:sp>
      <p:sp>
        <p:nvSpPr>
          <p:cNvPr id="15" name="Rounded Rectangle 14"/>
          <p:cNvSpPr/>
          <p:nvPr/>
        </p:nvSpPr>
        <p:spPr>
          <a:xfrm>
            <a:off x="5041270" y="1847088"/>
            <a:ext cx="2109155" cy="199339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32710" y="1938528"/>
            <a:ext cx="1926275" cy="201168"/>
          </a:xfrm>
          <a:prstGeom prst="rect">
            <a:avLst/>
          </a:prstGeom>
          <a:noFill/>
        </p:spPr>
        <p:txBody>
          <a:bodyPr wrap="square">
            <a:spAutoFit/>
          </a:bodyPr>
          <a:lstStyle/>
          <a:p>
            <a:pPr algn="ctr"/>
            <a:r>
              <a:rPr sz="700" b="0" i="0">
                <a:solidFill>
                  <a:srgbClr val="475569"/>
                </a:solidFill>
              </a:rPr>
              <a:t>BACKEND</a:t>
            </a:r>
          </a:p>
        </p:txBody>
      </p:sp>
      <p:sp>
        <p:nvSpPr>
          <p:cNvPr id="17" name="TextBox 16"/>
          <p:cNvSpPr txBox="1"/>
          <p:nvPr/>
        </p:nvSpPr>
        <p:spPr>
          <a:xfrm>
            <a:off x="5132710" y="2176272"/>
            <a:ext cx="1926275" cy="347472"/>
          </a:xfrm>
          <a:prstGeom prst="rect">
            <a:avLst/>
          </a:prstGeom>
          <a:noFill/>
        </p:spPr>
        <p:txBody>
          <a:bodyPr wrap="square">
            <a:spAutoFit/>
          </a:bodyPr>
          <a:lstStyle/>
          <a:p>
            <a:pPr algn="ctr"/>
            <a:r>
              <a:rPr sz="1200" b="1" i="0">
                <a:solidFill>
                  <a:srgbClr val="F0F4FF"/>
                </a:solidFill>
              </a:rPr>
              <a:t>Flask + Gunicorn</a:t>
            </a:r>
          </a:p>
        </p:txBody>
      </p:sp>
      <p:sp>
        <p:nvSpPr>
          <p:cNvPr id="18" name="TextBox 17"/>
          <p:cNvSpPr txBox="1"/>
          <p:nvPr/>
        </p:nvSpPr>
        <p:spPr>
          <a:xfrm>
            <a:off x="5132710" y="2596896"/>
            <a:ext cx="1926275" cy="1078992"/>
          </a:xfrm>
          <a:prstGeom prst="rect">
            <a:avLst/>
          </a:prstGeom>
          <a:noFill/>
        </p:spPr>
        <p:txBody>
          <a:bodyPr wrap="square">
            <a:spAutoFit/>
          </a:bodyPr>
          <a:lstStyle/>
          <a:p>
            <a:pPr algn="ctr"/>
            <a:r>
              <a:rPr sz="1000" b="0" i="0">
                <a:solidFill>
                  <a:srgbClr val="94A3B8"/>
                </a:solidFill>
              </a:rPr>
              <a:t>Python · Render
Modular routes</a:t>
            </a:r>
          </a:p>
        </p:txBody>
      </p:sp>
      <p:sp>
        <p:nvSpPr>
          <p:cNvPr id="19" name="TextBox 18"/>
          <p:cNvSpPr txBox="1"/>
          <p:nvPr/>
        </p:nvSpPr>
        <p:spPr>
          <a:xfrm>
            <a:off x="7168713" y="2743200"/>
            <a:ext cx="164592" cy="201168"/>
          </a:xfrm>
          <a:prstGeom prst="rect">
            <a:avLst/>
          </a:prstGeom>
          <a:noFill/>
        </p:spPr>
        <p:txBody>
          <a:bodyPr wrap="square">
            <a:spAutoFit/>
          </a:bodyPr>
          <a:lstStyle/>
          <a:p>
            <a:pPr algn="ctr"/>
            <a:r>
              <a:rPr sz="1000" b="0" i="0">
                <a:solidFill>
                  <a:srgbClr val="475569"/>
                </a:solidFill>
              </a:rPr>
              <a:t>-&gt;</a:t>
            </a:r>
          </a:p>
        </p:txBody>
      </p:sp>
      <p:sp>
        <p:nvSpPr>
          <p:cNvPr id="20" name="Rounded Rectangle 19"/>
          <p:cNvSpPr/>
          <p:nvPr/>
        </p:nvSpPr>
        <p:spPr>
          <a:xfrm>
            <a:off x="7333305" y="1847088"/>
            <a:ext cx="2109155" cy="199339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24745" y="1938528"/>
            <a:ext cx="1926275" cy="201168"/>
          </a:xfrm>
          <a:prstGeom prst="rect">
            <a:avLst/>
          </a:prstGeom>
          <a:noFill/>
        </p:spPr>
        <p:txBody>
          <a:bodyPr wrap="square">
            <a:spAutoFit/>
          </a:bodyPr>
          <a:lstStyle/>
          <a:p>
            <a:pPr algn="ctr"/>
            <a:r>
              <a:rPr sz="700" b="0" i="0">
                <a:solidFill>
                  <a:srgbClr val="475569"/>
                </a:solidFill>
              </a:rPr>
              <a:t>STORAGE/EMAIL</a:t>
            </a:r>
          </a:p>
        </p:txBody>
      </p:sp>
      <p:sp>
        <p:nvSpPr>
          <p:cNvPr id="22" name="TextBox 21"/>
          <p:cNvSpPr txBox="1"/>
          <p:nvPr/>
        </p:nvSpPr>
        <p:spPr>
          <a:xfrm>
            <a:off x="7424745" y="2176272"/>
            <a:ext cx="1926275" cy="347472"/>
          </a:xfrm>
          <a:prstGeom prst="rect">
            <a:avLst/>
          </a:prstGeom>
          <a:noFill/>
        </p:spPr>
        <p:txBody>
          <a:bodyPr wrap="square">
            <a:spAutoFit/>
          </a:bodyPr>
          <a:lstStyle/>
          <a:p>
            <a:pPr algn="ctr"/>
            <a:r>
              <a:rPr sz="1200" b="1" i="0">
                <a:solidFill>
                  <a:srgbClr val="F0F4FF"/>
                </a:solidFill>
              </a:rPr>
              <a:t>Supabase + Resend</a:t>
            </a:r>
          </a:p>
        </p:txBody>
      </p:sp>
      <p:sp>
        <p:nvSpPr>
          <p:cNvPr id="23" name="TextBox 22"/>
          <p:cNvSpPr txBox="1"/>
          <p:nvPr/>
        </p:nvSpPr>
        <p:spPr>
          <a:xfrm>
            <a:off x="7424745" y="2596896"/>
            <a:ext cx="1926275" cy="1078992"/>
          </a:xfrm>
          <a:prstGeom prst="rect">
            <a:avLst/>
          </a:prstGeom>
          <a:noFill/>
        </p:spPr>
        <p:txBody>
          <a:bodyPr wrap="square">
            <a:spAutoFit/>
          </a:bodyPr>
          <a:lstStyle/>
          <a:p>
            <a:pPr algn="ctr"/>
            <a:r>
              <a:rPr sz="1000" b="0" i="0">
                <a:solidFill>
                  <a:srgbClr val="94A3B8"/>
                </a:solidFill>
              </a:rPr>
              <a:t>File storage
Transactional email</a:t>
            </a:r>
          </a:p>
        </p:txBody>
      </p:sp>
      <p:sp>
        <p:nvSpPr>
          <p:cNvPr id="24" name="TextBox 23"/>
          <p:cNvSpPr txBox="1"/>
          <p:nvPr/>
        </p:nvSpPr>
        <p:spPr>
          <a:xfrm>
            <a:off x="9460748" y="2743200"/>
            <a:ext cx="164592" cy="201168"/>
          </a:xfrm>
          <a:prstGeom prst="rect">
            <a:avLst/>
          </a:prstGeom>
          <a:noFill/>
        </p:spPr>
        <p:txBody>
          <a:bodyPr wrap="square">
            <a:spAutoFit/>
          </a:bodyPr>
          <a:lstStyle/>
          <a:p>
            <a:pPr algn="ctr"/>
            <a:r>
              <a:rPr sz="1000" b="0" i="0">
                <a:solidFill>
                  <a:srgbClr val="475569"/>
                </a:solidFill>
              </a:rPr>
              <a:t>-&gt;</a:t>
            </a:r>
          </a:p>
        </p:txBody>
      </p:sp>
      <p:sp>
        <p:nvSpPr>
          <p:cNvPr id="25" name="Rounded Rectangle 24"/>
          <p:cNvSpPr/>
          <p:nvPr/>
        </p:nvSpPr>
        <p:spPr>
          <a:xfrm>
            <a:off x="9625340" y="1847088"/>
            <a:ext cx="2109155" cy="199339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16780" y="1938528"/>
            <a:ext cx="1926275" cy="201168"/>
          </a:xfrm>
          <a:prstGeom prst="rect">
            <a:avLst/>
          </a:prstGeom>
          <a:noFill/>
        </p:spPr>
        <p:txBody>
          <a:bodyPr wrap="square">
            <a:spAutoFit/>
          </a:bodyPr>
          <a:lstStyle/>
          <a:p>
            <a:pPr algn="ctr"/>
            <a:r>
              <a:rPr sz="700" b="0" i="0">
                <a:solidFill>
                  <a:srgbClr val="475569"/>
                </a:solidFill>
              </a:rPr>
              <a:t>INTEGRATION</a:t>
            </a:r>
          </a:p>
        </p:txBody>
      </p:sp>
      <p:sp>
        <p:nvSpPr>
          <p:cNvPr id="27" name="TextBox 26"/>
          <p:cNvSpPr txBox="1"/>
          <p:nvPr/>
        </p:nvSpPr>
        <p:spPr>
          <a:xfrm>
            <a:off x="9716780" y="2176272"/>
            <a:ext cx="1926275" cy="347472"/>
          </a:xfrm>
          <a:prstGeom prst="rect">
            <a:avLst/>
          </a:prstGeom>
          <a:noFill/>
        </p:spPr>
        <p:txBody>
          <a:bodyPr wrap="square">
            <a:spAutoFit/>
          </a:bodyPr>
          <a:lstStyle/>
          <a:p>
            <a:pPr algn="ctr"/>
            <a:r>
              <a:rPr sz="1200" b="1" i="0">
                <a:solidFill>
                  <a:srgbClr val="F0F4FF"/>
                </a:solidFill>
              </a:rPr>
              <a:t>Google Calendar</a:t>
            </a:r>
          </a:p>
        </p:txBody>
      </p:sp>
      <p:sp>
        <p:nvSpPr>
          <p:cNvPr id="28" name="TextBox 27"/>
          <p:cNvSpPr txBox="1"/>
          <p:nvPr/>
        </p:nvSpPr>
        <p:spPr>
          <a:xfrm>
            <a:off x="9716780" y="2596896"/>
            <a:ext cx="1926275" cy="1078992"/>
          </a:xfrm>
          <a:prstGeom prst="rect">
            <a:avLst/>
          </a:prstGeom>
          <a:noFill/>
        </p:spPr>
        <p:txBody>
          <a:bodyPr wrap="square">
            <a:spAutoFit/>
          </a:bodyPr>
          <a:lstStyle/>
          <a:p>
            <a:pPr algn="ctr"/>
            <a:r>
              <a:rPr sz="1000" b="0" i="0">
                <a:solidFill>
                  <a:srgbClr val="94A3B8"/>
                </a:solidFill>
              </a:rPr>
              <a:t>OAuth export
Shared org calendar</a:t>
            </a:r>
          </a:p>
        </p:txBody>
      </p:sp>
      <p:sp>
        <p:nvSpPr>
          <p:cNvPr id="29" name="Rounded Rectangle 28"/>
          <p:cNvSpPr/>
          <p:nvPr/>
        </p:nvSpPr>
        <p:spPr>
          <a:xfrm>
            <a:off x="457200" y="4023360"/>
            <a:ext cx="3624986" cy="182880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94360" y="4151376"/>
            <a:ext cx="3350666" cy="310896"/>
          </a:xfrm>
          <a:prstGeom prst="rect">
            <a:avLst/>
          </a:prstGeom>
          <a:noFill/>
        </p:spPr>
        <p:txBody>
          <a:bodyPr wrap="square">
            <a:spAutoFit/>
          </a:bodyPr>
          <a:lstStyle/>
          <a:p>
            <a:pPr algn="l"/>
            <a:r>
              <a:rPr sz="1100" b="1" i="0">
                <a:solidFill>
                  <a:srgbClr val="34D399"/>
                </a:solidFill>
              </a:rPr>
              <a:t>Firestore real-time listeners</a:t>
            </a:r>
          </a:p>
        </p:txBody>
      </p:sp>
      <p:sp>
        <p:nvSpPr>
          <p:cNvPr id="31" name="TextBox 30"/>
          <p:cNvSpPr txBox="1"/>
          <p:nvPr/>
        </p:nvSpPr>
        <p:spPr>
          <a:xfrm>
            <a:off x="594360" y="4535424"/>
            <a:ext cx="3350666" cy="1225296"/>
          </a:xfrm>
          <a:prstGeom prst="rect">
            <a:avLst/>
          </a:prstGeom>
          <a:noFill/>
        </p:spPr>
        <p:txBody>
          <a:bodyPr wrap="square">
            <a:spAutoFit/>
          </a:bodyPr>
          <a:lstStyle/>
          <a:p>
            <a:pPr algn="l"/>
            <a:r>
              <a:rPr sz="1000" b="0" i="0">
                <a:solidFill>
                  <a:srgbClr val="94A3B8"/>
                </a:solidFill>
              </a:rPr>
              <a:t>The dashboard uses onSnapshot so every client sees event status changes immediately — no polling, no manual refresh needed.</a:t>
            </a:r>
          </a:p>
        </p:txBody>
      </p:sp>
      <p:sp>
        <p:nvSpPr>
          <p:cNvPr id="32" name="Rounded Rectangle 31"/>
          <p:cNvSpPr/>
          <p:nvPr/>
        </p:nvSpPr>
        <p:spPr>
          <a:xfrm>
            <a:off x="4283354" y="4023360"/>
            <a:ext cx="3624986" cy="182880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20514" y="4151376"/>
            <a:ext cx="3350666" cy="310896"/>
          </a:xfrm>
          <a:prstGeom prst="rect">
            <a:avLst/>
          </a:prstGeom>
          <a:noFill/>
        </p:spPr>
        <p:txBody>
          <a:bodyPr wrap="square">
            <a:spAutoFit/>
          </a:bodyPr>
          <a:lstStyle/>
          <a:p>
            <a:pPr algn="l"/>
            <a:r>
              <a:rPr sz="1100" b="1" i="0">
                <a:solidFill>
                  <a:srgbClr val="818CF8"/>
                </a:solidFill>
              </a:rPr>
              <a:t>Dual permission enforcement</a:t>
            </a:r>
          </a:p>
        </p:txBody>
      </p:sp>
      <p:sp>
        <p:nvSpPr>
          <p:cNvPr id="34" name="TextBox 33"/>
          <p:cNvSpPr txBox="1"/>
          <p:nvPr/>
        </p:nvSpPr>
        <p:spPr>
          <a:xfrm>
            <a:off x="4420514" y="4535424"/>
            <a:ext cx="3350666" cy="1225296"/>
          </a:xfrm>
          <a:prstGeom prst="rect">
            <a:avLst/>
          </a:prstGeom>
          <a:noFill/>
        </p:spPr>
        <p:txBody>
          <a:bodyPr wrap="square">
            <a:spAutoFit/>
          </a:bodyPr>
          <a:lstStyle/>
          <a:p>
            <a:pPr algn="l"/>
            <a:r>
              <a:rPr sz="1000" b="0" i="0">
                <a:solidFill>
                  <a:srgbClr val="94A3B8"/>
                </a:solidFill>
              </a:rPr>
              <a:t>Roles are verified in React routes AND in the Flask API via Bearer tokens. A compromised frontend still cannot reach protected data.</a:t>
            </a:r>
          </a:p>
        </p:txBody>
      </p:sp>
      <p:sp>
        <p:nvSpPr>
          <p:cNvPr id="35" name="Rounded Rectangle 34"/>
          <p:cNvSpPr/>
          <p:nvPr/>
        </p:nvSpPr>
        <p:spPr>
          <a:xfrm>
            <a:off x="8109508" y="4023360"/>
            <a:ext cx="3624986" cy="182880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46668" y="4151376"/>
            <a:ext cx="3350666" cy="310896"/>
          </a:xfrm>
          <a:prstGeom prst="rect">
            <a:avLst/>
          </a:prstGeom>
          <a:noFill/>
        </p:spPr>
        <p:txBody>
          <a:bodyPr wrap="square">
            <a:spAutoFit/>
          </a:bodyPr>
          <a:lstStyle/>
          <a:p>
            <a:pPr algn="l"/>
            <a:r>
              <a:rPr sz="1100" b="1" i="0">
                <a:solidFill>
                  <a:srgbClr val="FB923C"/>
                </a:solidFill>
              </a:rPr>
              <a:t>Supabase for file storage</a:t>
            </a:r>
          </a:p>
        </p:txBody>
      </p:sp>
      <p:sp>
        <p:nvSpPr>
          <p:cNvPr id="37" name="TextBox 36"/>
          <p:cNvSpPr txBox="1"/>
          <p:nvPr/>
        </p:nvSpPr>
        <p:spPr>
          <a:xfrm>
            <a:off x="8246668" y="4535424"/>
            <a:ext cx="3350666" cy="1225296"/>
          </a:xfrm>
          <a:prstGeom prst="rect">
            <a:avLst/>
          </a:prstGeom>
          <a:noFill/>
        </p:spPr>
        <p:txBody>
          <a:bodyPr wrap="square">
            <a:spAutoFit/>
          </a:bodyPr>
          <a:lstStyle/>
          <a:p>
            <a:pPr algn="l"/>
            <a:r>
              <a:rPr sz="1000" b="0" i="0">
                <a:solidFill>
                  <a:srgbClr val="94A3B8"/>
                </a:solidFill>
              </a:rPr>
              <a:t>Event photos go to Supabase rather than Firebase Storage to separate file costs and avoid Firestore document size limits.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80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75569"/>
                </a:solidFill>
              </a:rPr>
              <a:t>UNDER THE HOOD</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Three problems that actually took work to solve</a:t>
            </a:r>
          </a:p>
        </p:txBody>
      </p:sp>
      <p:sp>
        <p:nvSpPr>
          <p:cNvPr id="4" name="Rounded Rectangle 3"/>
          <p:cNvSpPr/>
          <p:nvPr/>
        </p:nvSpPr>
        <p:spPr>
          <a:xfrm>
            <a:off x="457200" y="1847088"/>
            <a:ext cx="3624986" cy="446227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21792" y="1956816"/>
            <a:ext cx="502920" cy="523220"/>
          </a:xfrm>
          <a:prstGeom prst="rect">
            <a:avLst/>
          </a:prstGeom>
          <a:noFill/>
        </p:spPr>
        <p:txBody>
          <a:bodyPr wrap="square">
            <a:spAutoFit/>
          </a:bodyPr>
          <a:lstStyle/>
          <a:p>
            <a:pPr algn="l"/>
            <a:r>
              <a:rPr sz="2800" b="1" i="0" dirty="0">
                <a:solidFill>
                  <a:srgbClr val="475569"/>
                </a:solidFill>
              </a:rPr>
              <a:t>1</a:t>
            </a:r>
          </a:p>
        </p:txBody>
      </p:sp>
      <p:sp>
        <p:nvSpPr>
          <p:cNvPr id="6" name="TextBox 5"/>
          <p:cNvSpPr txBox="1"/>
          <p:nvPr/>
        </p:nvSpPr>
        <p:spPr>
          <a:xfrm>
            <a:off x="621792" y="2542032"/>
            <a:ext cx="3295802" cy="347472"/>
          </a:xfrm>
          <a:prstGeom prst="rect">
            <a:avLst/>
          </a:prstGeom>
          <a:noFill/>
        </p:spPr>
        <p:txBody>
          <a:bodyPr wrap="square">
            <a:spAutoFit/>
          </a:bodyPr>
          <a:lstStyle/>
          <a:p>
            <a:pPr algn="l"/>
            <a:r>
              <a:rPr sz="1300" b="1" i="0">
                <a:solidFill>
                  <a:srgbClr val="34D399"/>
                </a:solidFill>
              </a:rPr>
              <a:t>Auto-status transitions</a:t>
            </a:r>
          </a:p>
        </p:txBody>
      </p:sp>
      <p:sp>
        <p:nvSpPr>
          <p:cNvPr id="7" name="TextBox 6"/>
          <p:cNvSpPr txBox="1"/>
          <p:nvPr/>
        </p:nvSpPr>
        <p:spPr>
          <a:xfrm>
            <a:off x="621792" y="2962656"/>
            <a:ext cx="3295802" cy="3255264"/>
          </a:xfrm>
          <a:prstGeom prst="rect">
            <a:avLst/>
          </a:prstGeom>
          <a:noFill/>
        </p:spPr>
        <p:txBody>
          <a:bodyPr wrap="square">
            <a:spAutoFit/>
          </a:bodyPr>
          <a:lstStyle/>
          <a:p>
            <a:pPr algn="l"/>
            <a:r>
              <a:rPr sz="1000" b="0" i="0">
                <a:solidFill>
                  <a:srgbClr val="94A3B8"/>
                </a:solidFill>
              </a:rPr>
              <a:t>Events flip Planned → Ongoing → Completed automatically based on start and end times. The logic in useEvents.ts normalises Firestore Timestamps, JS Date objects, and Unix epoch values through one utility before any comparison runs.
Without this, an event starting at noon would still show 'Planned' until someone manually changed it.</a:t>
            </a:r>
          </a:p>
        </p:txBody>
      </p:sp>
      <p:sp>
        <p:nvSpPr>
          <p:cNvPr id="8" name="Rounded Rectangle 7"/>
          <p:cNvSpPr/>
          <p:nvPr/>
        </p:nvSpPr>
        <p:spPr>
          <a:xfrm>
            <a:off x="4283354" y="1847088"/>
            <a:ext cx="3624986" cy="446227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47946" y="1956816"/>
            <a:ext cx="502920" cy="523220"/>
          </a:xfrm>
          <a:prstGeom prst="rect">
            <a:avLst/>
          </a:prstGeom>
          <a:noFill/>
        </p:spPr>
        <p:txBody>
          <a:bodyPr wrap="square">
            <a:spAutoFit/>
          </a:bodyPr>
          <a:lstStyle/>
          <a:p>
            <a:pPr algn="l"/>
            <a:r>
              <a:rPr sz="2800" b="1" i="0" dirty="0">
                <a:solidFill>
                  <a:srgbClr val="475569"/>
                </a:solidFill>
              </a:rPr>
              <a:t>2</a:t>
            </a:r>
          </a:p>
        </p:txBody>
      </p:sp>
      <p:sp>
        <p:nvSpPr>
          <p:cNvPr id="10" name="TextBox 9"/>
          <p:cNvSpPr txBox="1"/>
          <p:nvPr/>
        </p:nvSpPr>
        <p:spPr>
          <a:xfrm>
            <a:off x="4447946" y="2542032"/>
            <a:ext cx="3295802" cy="347472"/>
          </a:xfrm>
          <a:prstGeom prst="rect">
            <a:avLst/>
          </a:prstGeom>
          <a:noFill/>
        </p:spPr>
        <p:txBody>
          <a:bodyPr wrap="square">
            <a:spAutoFit/>
          </a:bodyPr>
          <a:lstStyle/>
          <a:p>
            <a:pPr algn="l"/>
            <a:r>
              <a:rPr sz="1300" b="1" i="0">
                <a:solidFill>
                  <a:srgbClr val="818CF8"/>
                </a:solidFill>
              </a:rPr>
              <a:t>IST timezone normalisation</a:t>
            </a:r>
          </a:p>
        </p:txBody>
      </p:sp>
      <p:sp>
        <p:nvSpPr>
          <p:cNvPr id="11" name="TextBox 10"/>
          <p:cNvSpPr txBox="1"/>
          <p:nvPr/>
        </p:nvSpPr>
        <p:spPr>
          <a:xfrm>
            <a:off x="4447946" y="2962656"/>
            <a:ext cx="3295802" cy="3255264"/>
          </a:xfrm>
          <a:prstGeom prst="rect">
            <a:avLst/>
          </a:prstGeom>
          <a:noFill/>
        </p:spPr>
        <p:txBody>
          <a:bodyPr wrap="square">
            <a:spAutoFit/>
          </a:bodyPr>
          <a:lstStyle/>
          <a:p>
            <a:pPr algn="l"/>
            <a:r>
              <a:rPr sz="1000" b="0" i="0">
                <a:solidFill>
                  <a:srgbClr val="94A3B8"/>
                </a:solidFill>
              </a:rPr>
              <a:t>Firestore stores all times in UTC. Without normalisation, Indian users saw events appear a day early or late in the calendar. Built toIST(), nowInIST(), and todayInIST() utilities that every date display passes through.
This is the bug that's invisible in development and surfaces the moment a real user in a real timezone tries the app.</a:t>
            </a:r>
          </a:p>
        </p:txBody>
      </p:sp>
      <p:sp>
        <p:nvSpPr>
          <p:cNvPr id="12" name="Rounded Rectangle 11"/>
          <p:cNvSpPr/>
          <p:nvPr/>
        </p:nvSpPr>
        <p:spPr>
          <a:xfrm>
            <a:off x="8109508" y="1847088"/>
            <a:ext cx="3624986" cy="446227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74100" y="1956816"/>
            <a:ext cx="502920" cy="523220"/>
          </a:xfrm>
          <a:prstGeom prst="rect">
            <a:avLst/>
          </a:prstGeom>
          <a:noFill/>
        </p:spPr>
        <p:txBody>
          <a:bodyPr wrap="square">
            <a:spAutoFit/>
          </a:bodyPr>
          <a:lstStyle/>
          <a:p>
            <a:pPr algn="l"/>
            <a:r>
              <a:rPr lang="en-US" sz="2800" b="1" i="0" dirty="0">
                <a:solidFill>
                  <a:srgbClr val="475569"/>
                </a:solidFill>
              </a:rPr>
              <a:t>3 </a:t>
            </a:r>
            <a:endParaRPr sz="2800" b="1" i="0" dirty="0">
              <a:solidFill>
                <a:srgbClr val="475569"/>
              </a:solidFill>
            </a:endParaRPr>
          </a:p>
        </p:txBody>
      </p:sp>
      <p:sp>
        <p:nvSpPr>
          <p:cNvPr id="14" name="TextBox 13"/>
          <p:cNvSpPr txBox="1"/>
          <p:nvPr/>
        </p:nvSpPr>
        <p:spPr>
          <a:xfrm>
            <a:off x="8274100" y="2542032"/>
            <a:ext cx="3295802" cy="347472"/>
          </a:xfrm>
          <a:prstGeom prst="rect">
            <a:avLst/>
          </a:prstGeom>
          <a:noFill/>
        </p:spPr>
        <p:txBody>
          <a:bodyPr wrap="square">
            <a:spAutoFit/>
          </a:bodyPr>
          <a:lstStyle/>
          <a:p>
            <a:pPr algn="l"/>
            <a:r>
              <a:rPr sz="1300" b="1" i="0">
                <a:solidFill>
                  <a:srgbClr val="FB923C"/>
                </a:solidFill>
              </a:rPr>
              <a:t>Reminder idempotency</a:t>
            </a:r>
          </a:p>
        </p:txBody>
      </p:sp>
      <p:sp>
        <p:nvSpPr>
          <p:cNvPr id="15" name="TextBox 14"/>
          <p:cNvSpPr txBox="1"/>
          <p:nvPr/>
        </p:nvSpPr>
        <p:spPr>
          <a:xfrm>
            <a:off x="8274100" y="2962656"/>
            <a:ext cx="3295802" cy="3255264"/>
          </a:xfrm>
          <a:prstGeom prst="rect">
            <a:avLst/>
          </a:prstGeom>
          <a:noFill/>
        </p:spPr>
        <p:txBody>
          <a:bodyPr wrap="square">
            <a:spAutoFit/>
          </a:bodyPr>
          <a:lstStyle/>
          <a:p>
            <a:pPr algn="l"/>
            <a:r>
              <a:rPr sz="1000" b="0" i="0">
                <a:solidFill>
                  <a:srgbClr val="94A3B8"/>
                </a:solidFill>
              </a:rPr>
              <a:t>The notification scheduler runs on a cron to fire reminders at 24h, 6h, and 3h before each event. Without an idempotency guard, the same reminder would fire on every scheduler run. A Firestore flag per reminder per event is checked before any message sends.
A ±90 minute window handles schedule drift so late-running crons still fire.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080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75569"/>
                </a:solidFill>
              </a:rPr>
              <a:t>ANALYTICS &amp; REPORTING</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Data that actually tells you something</a:t>
            </a:r>
          </a:p>
        </p:txBody>
      </p:sp>
      <p:sp>
        <p:nvSpPr>
          <p:cNvPr id="4" name="TextBox 3"/>
          <p:cNvSpPr txBox="1"/>
          <p:nvPr/>
        </p:nvSpPr>
        <p:spPr>
          <a:xfrm>
            <a:off x="1188720" y="1335024"/>
            <a:ext cx="9814255" cy="438912"/>
          </a:xfrm>
          <a:prstGeom prst="rect">
            <a:avLst/>
          </a:prstGeom>
          <a:noFill/>
        </p:spPr>
        <p:txBody>
          <a:bodyPr wrap="square">
            <a:spAutoFit/>
          </a:bodyPr>
          <a:lstStyle/>
          <a:p>
            <a:pPr algn="ctr"/>
            <a:r>
              <a:rPr sz="1100" b="0" i="0">
                <a:solidFill>
                  <a:srgbClr val="94A3B8"/>
                </a:solidFill>
              </a:rPr>
              <a:t>Most event apps store data. Trackly's Reports page turns it into decisions — completion rates, volunteer trends, staff output, monthly growth.</a:t>
            </a:r>
          </a:p>
        </p:txBody>
      </p:sp>
      <p:sp>
        <p:nvSpPr>
          <p:cNvPr id="5" name="Rounded Rectangle 4"/>
          <p:cNvSpPr/>
          <p:nvPr/>
        </p:nvSpPr>
        <p:spPr>
          <a:xfrm>
            <a:off x="457200" y="1847088"/>
            <a:ext cx="5538063" cy="393192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975104"/>
            <a:ext cx="5172303" cy="310896"/>
          </a:xfrm>
          <a:prstGeom prst="rect">
            <a:avLst/>
          </a:prstGeom>
          <a:noFill/>
        </p:spPr>
        <p:txBody>
          <a:bodyPr wrap="square">
            <a:spAutoFit/>
          </a:bodyPr>
          <a:lstStyle/>
          <a:p>
            <a:pPr algn="l"/>
            <a:r>
              <a:rPr sz="1300" b="1" i="0">
                <a:solidFill>
                  <a:srgbClr val="34D399"/>
                </a:solidFill>
              </a:rPr>
              <a:t>Dashboard — live at a glance</a:t>
            </a:r>
          </a:p>
        </p:txBody>
      </p:sp>
      <p:sp>
        <p:nvSpPr>
          <p:cNvPr id="7" name="Rounded Rectangle 6"/>
          <p:cNvSpPr/>
          <p:nvPr/>
        </p:nvSpPr>
        <p:spPr>
          <a:xfrm>
            <a:off x="603504" y="2377440"/>
            <a:ext cx="5245455" cy="658368"/>
          </a:xfrm>
          <a:prstGeom prst="roundRect">
            <a:avLst/>
          </a:prstGeom>
          <a:solidFill>
            <a:srgbClr val="081222"/>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468880"/>
            <a:ext cx="5035143" cy="512064"/>
          </a:xfrm>
          <a:prstGeom prst="rect">
            <a:avLst/>
          </a:prstGeom>
          <a:noFill/>
        </p:spPr>
        <p:txBody>
          <a:bodyPr wrap="square">
            <a:spAutoFit/>
          </a:bodyPr>
          <a:lstStyle/>
          <a:p>
            <a:pPr algn="l"/>
            <a:r>
              <a:rPr sz="1000" b="0" i="0">
                <a:solidFill>
                  <a:srgbClr val="94A3B8"/>
                </a:solidFill>
              </a:rPr>
              <a:t>Animated stat cards: total events, active volunteers, completion rate, upcoming (7-day)</a:t>
            </a:r>
          </a:p>
        </p:txBody>
      </p:sp>
      <p:sp>
        <p:nvSpPr>
          <p:cNvPr id="9" name="Rounded Rectangle 8"/>
          <p:cNvSpPr/>
          <p:nvPr/>
        </p:nvSpPr>
        <p:spPr>
          <a:xfrm>
            <a:off x="603504" y="3145536"/>
            <a:ext cx="5245455" cy="658368"/>
          </a:xfrm>
          <a:prstGeom prst="roundRect">
            <a:avLst/>
          </a:prstGeom>
          <a:solidFill>
            <a:srgbClr val="081222"/>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3236976"/>
            <a:ext cx="5035143" cy="512064"/>
          </a:xfrm>
          <a:prstGeom prst="rect">
            <a:avLst/>
          </a:prstGeom>
          <a:noFill/>
        </p:spPr>
        <p:txBody>
          <a:bodyPr wrap="square">
            <a:spAutoFit/>
          </a:bodyPr>
          <a:lstStyle/>
          <a:p>
            <a:pPr algn="l"/>
            <a:r>
              <a:rPr sz="1000" b="0" i="0">
                <a:solidFill>
                  <a:srgbClr val="94A3B8"/>
                </a:solidFill>
              </a:rPr>
              <a:t>Mini calendar with per-day event count badges and click-to-view</a:t>
            </a:r>
          </a:p>
        </p:txBody>
      </p:sp>
      <p:sp>
        <p:nvSpPr>
          <p:cNvPr id="11" name="Rounded Rectangle 10"/>
          <p:cNvSpPr/>
          <p:nvPr/>
        </p:nvSpPr>
        <p:spPr>
          <a:xfrm>
            <a:off x="603504" y="3913631"/>
            <a:ext cx="5245455" cy="658368"/>
          </a:xfrm>
          <a:prstGeom prst="roundRect">
            <a:avLst/>
          </a:prstGeom>
          <a:solidFill>
            <a:srgbClr val="081222"/>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4005071"/>
            <a:ext cx="5035143" cy="512064"/>
          </a:xfrm>
          <a:prstGeom prst="rect">
            <a:avLst/>
          </a:prstGeom>
          <a:noFill/>
        </p:spPr>
        <p:txBody>
          <a:bodyPr wrap="square">
            <a:spAutoFit/>
          </a:bodyPr>
          <a:lstStyle/>
          <a:p>
            <a:pPr algn="l"/>
            <a:r>
              <a:rPr sz="1000" b="0" i="0">
                <a:solidFill>
                  <a:srgbClr val="94A3B8"/>
                </a:solidFill>
              </a:rPr>
              <a:t>Today's Events panel — real-time Firestore listener, no manual refresh</a:t>
            </a:r>
          </a:p>
        </p:txBody>
      </p:sp>
      <p:sp>
        <p:nvSpPr>
          <p:cNvPr id="13" name="Rounded Rectangle 12"/>
          <p:cNvSpPr/>
          <p:nvPr/>
        </p:nvSpPr>
        <p:spPr>
          <a:xfrm>
            <a:off x="603504" y="4681728"/>
            <a:ext cx="5245455" cy="658368"/>
          </a:xfrm>
          <a:prstGeom prst="roundRect">
            <a:avLst/>
          </a:prstGeom>
          <a:solidFill>
            <a:srgbClr val="081222"/>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4773168"/>
            <a:ext cx="5035143" cy="512064"/>
          </a:xfrm>
          <a:prstGeom prst="rect">
            <a:avLst/>
          </a:prstGeom>
          <a:noFill/>
        </p:spPr>
        <p:txBody>
          <a:bodyPr wrap="square">
            <a:spAutoFit/>
          </a:bodyPr>
          <a:lstStyle/>
          <a:p>
            <a:pPr algn="l"/>
            <a:r>
              <a:rPr sz="1000" b="0" i="0">
                <a:solidFill>
                  <a:srgbClr val="94A3B8"/>
                </a:solidFill>
              </a:rPr>
              <a:t>Donut chart (event status) + bar chart (monthly distribution)</a:t>
            </a:r>
          </a:p>
        </p:txBody>
      </p:sp>
      <p:sp>
        <p:nvSpPr>
          <p:cNvPr id="15" name="Rounded Rectangle 14"/>
          <p:cNvSpPr/>
          <p:nvPr/>
        </p:nvSpPr>
        <p:spPr>
          <a:xfrm>
            <a:off x="6196431" y="1847088"/>
            <a:ext cx="5538063" cy="393192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79311" y="1975104"/>
            <a:ext cx="5172303" cy="310896"/>
          </a:xfrm>
          <a:prstGeom prst="rect">
            <a:avLst/>
          </a:prstGeom>
          <a:noFill/>
        </p:spPr>
        <p:txBody>
          <a:bodyPr wrap="square">
            <a:spAutoFit/>
          </a:bodyPr>
          <a:lstStyle/>
          <a:p>
            <a:pPr algn="l"/>
            <a:r>
              <a:rPr sz="1300" b="1" i="0">
                <a:solidFill>
                  <a:srgbClr val="818CF8"/>
                </a:solidFill>
              </a:rPr>
              <a:t>Reports — org-level insight</a:t>
            </a:r>
          </a:p>
        </p:txBody>
      </p:sp>
      <p:sp>
        <p:nvSpPr>
          <p:cNvPr id="17" name="Rounded Rectangle 16"/>
          <p:cNvSpPr/>
          <p:nvPr/>
        </p:nvSpPr>
        <p:spPr>
          <a:xfrm>
            <a:off x="6342735" y="2377440"/>
            <a:ext cx="5245455" cy="658368"/>
          </a:xfrm>
          <a:prstGeom prst="roundRect">
            <a:avLst/>
          </a:prstGeom>
          <a:solidFill>
            <a:srgbClr val="081222"/>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70751" y="2468880"/>
            <a:ext cx="5035143" cy="512064"/>
          </a:xfrm>
          <a:prstGeom prst="rect">
            <a:avLst/>
          </a:prstGeom>
          <a:noFill/>
        </p:spPr>
        <p:txBody>
          <a:bodyPr wrap="square">
            <a:spAutoFit/>
          </a:bodyPr>
          <a:lstStyle/>
          <a:p>
            <a:pPr algn="l"/>
            <a:r>
              <a:rPr sz="1000" b="0" i="0">
                <a:solidFill>
                  <a:srgbClr val="94A3B8"/>
                </a:solidFill>
              </a:rPr>
              <a:t>6-month volunteer participation trend line chart with per-month drill-down modal</a:t>
            </a:r>
          </a:p>
        </p:txBody>
      </p:sp>
      <p:sp>
        <p:nvSpPr>
          <p:cNvPr id="19" name="Rounded Rectangle 18"/>
          <p:cNvSpPr/>
          <p:nvPr/>
        </p:nvSpPr>
        <p:spPr>
          <a:xfrm>
            <a:off x="6342735" y="3145536"/>
            <a:ext cx="5245455" cy="658368"/>
          </a:xfrm>
          <a:prstGeom prst="roundRect">
            <a:avLst/>
          </a:prstGeom>
          <a:solidFill>
            <a:srgbClr val="081222"/>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70751" y="3236976"/>
            <a:ext cx="5035143" cy="512064"/>
          </a:xfrm>
          <a:prstGeom prst="rect">
            <a:avLst/>
          </a:prstGeom>
          <a:noFill/>
        </p:spPr>
        <p:txBody>
          <a:bodyPr wrap="square">
            <a:spAutoFit/>
          </a:bodyPr>
          <a:lstStyle/>
          <a:p>
            <a:pPr algn="l"/>
            <a:r>
              <a:rPr sz="1000" b="0" i="0">
                <a:solidFill>
                  <a:srgbClr val="94A3B8"/>
                </a:solidFill>
              </a:rPr>
              <a:t>Staff productivity table: events created vs completed, filterable by column</a:t>
            </a:r>
          </a:p>
        </p:txBody>
      </p:sp>
      <p:sp>
        <p:nvSpPr>
          <p:cNvPr id="21" name="Rounded Rectangle 20"/>
          <p:cNvSpPr/>
          <p:nvPr/>
        </p:nvSpPr>
        <p:spPr>
          <a:xfrm>
            <a:off x="6342735" y="3913631"/>
            <a:ext cx="5245455" cy="658368"/>
          </a:xfrm>
          <a:prstGeom prst="roundRect">
            <a:avLst/>
          </a:prstGeom>
          <a:solidFill>
            <a:srgbClr val="081222"/>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70751" y="4005071"/>
            <a:ext cx="5035143" cy="512064"/>
          </a:xfrm>
          <a:prstGeom prst="rect">
            <a:avLst/>
          </a:prstGeom>
          <a:noFill/>
        </p:spPr>
        <p:txBody>
          <a:bodyPr wrap="square">
            <a:spAutoFit/>
          </a:bodyPr>
          <a:lstStyle/>
          <a:p>
            <a:pPr algn="l"/>
            <a:r>
              <a:rPr sz="1000" b="0" i="0">
                <a:solidFill>
                  <a:srgbClr val="94A3B8"/>
                </a:solidFill>
              </a:rPr>
              <a:t>Category breakdown donut — which event types run most often</a:t>
            </a:r>
          </a:p>
        </p:txBody>
      </p:sp>
      <p:sp>
        <p:nvSpPr>
          <p:cNvPr id="23" name="Rounded Rectangle 22"/>
          <p:cNvSpPr/>
          <p:nvPr/>
        </p:nvSpPr>
        <p:spPr>
          <a:xfrm>
            <a:off x="6342735" y="4681728"/>
            <a:ext cx="5245455" cy="658368"/>
          </a:xfrm>
          <a:prstGeom prst="roundRect">
            <a:avLst/>
          </a:prstGeom>
          <a:solidFill>
            <a:srgbClr val="081222"/>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70751" y="4773168"/>
            <a:ext cx="5035143" cy="512064"/>
          </a:xfrm>
          <a:prstGeom prst="rect">
            <a:avLst/>
          </a:prstGeom>
          <a:noFill/>
        </p:spPr>
        <p:txBody>
          <a:bodyPr wrap="square">
            <a:spAutoFit/>
          </a:bodyPr>
          <a:lstStyle/>
          <a:p>
            <a:pPr algn="l"/>
            <a:r>
              <a:rPr sz="1000" b="0" i="0">
                <a:solidFill>
                  <a:srgbClr val="94A3B8"/>
                </a:solidFill>
              </a:rPr>
              <a:t>Growth rate metric (month-over-month) with demo fallback on empty DB</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080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75569"/>
                </a:solidFill>
              </a:rPr>
              <a:t>NOTIFICATION SYSTEM</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Reminders that reach people where they actually are</a:t>
            </a:r>
          </a:p>
        </p:txBody>
      </p:sp>
      <p:sp>
        <p:nvSpPr>
          <p:cNvPr id="4" name="TextBox 3"/>
          <p:cNvSpPr txBox="1"/>
          <p:nvPr/>
        </p:nvSpPr>
        <p:spPr>
          <a:xfrm>
            <a:off x="1188720" y="1335024"/>
            <a:ext cx="9814255" cy="438912"/>
          </a:xfrm>
          <a:prstGeom prst="rect">
            <a:avLst/>
          </a:prstGeom>
          <a:noFill/>
        </p:spPr>
        <p:txBody>
          <a:bodyPr wrap="square">
            <a:spAutoFit/>
          </a:bodyPr>
          <a:lstStyle/>
          <a:p>
            <a:pPr algn="ctr"/>
            <a:r>
              <a:rPr sz="1100" b="0" i="0">
                <a:solidFill>
                  <a:srgbClr val="94A3B8"/>
                </a:solidFill>
              </a:rPr>
              <a:t>Email alone doesn't reach field volunteers. Push alone doesn't work without an app install. Trackly sends both, intelligently, without duplicating.</a:t>
            </a:r>
          </a:p>
        </p:txBody>
      </p:sp>
      <p:sp>
        <p:nvSpPr>
          <p:cNvPr id="5" name="Rounded Rectangle 4"/>
          <p:cNvSpPr/>
          <p:nvPr/>
        </p:nvSpPr>
        <p:spPr>
          <a:xfrm>
            <a:off x="457200" y="1847088"/>
            <a:ext cx="5538063" cy="365760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975104"/>
            <a:ext cx="5172303" cy="310896"/>
          </a:xfrm>
          <a:prstGeom prst="rect">
            <a:avLst/>
          </a:prstGeom>
          <a:noFill/>
        </p:spPr>
        <p:txBody>
          <a:bodyPr wrap="square">
            <a:spAutoFit/>
          </a:bodyPr>
          <a:lstStyle/>
          <a:p>
            <a:pPr algn="l"/>
            <a:r>
              <a:rPr sz="1300" b="1" i="0">
                <a:solidFill>
                  <a:srgbClr val="34D399"/>
                </a:solidFill>
              </a:rPr>
              <a:t>How the timing works</a:t>
            </a:r>
          </a:p>
        </p:txBody>
      </p:sp>
      <p:sp>
        <p:nvSpPr>
          <p:cNvPr id="7" name="Rounded Rectangle 6"/>
          <p:cNvSpPr/>
          <p:nvPr/>
        </p:nvSpPr>
        <p:spPr>
          <a:xfrm>
            <a:off x="603504" y="2377440"/>
            <a:ext cx="5245455" cy="603504"/>
          </a:xfrm>
          <a:prstGeom prst="roundRect">
            <a:avLst/>
          </a:prstGeom>
          <a:solidFill>
            <a:srgbClr val="081222"/>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432304"/>
            <a:ext cx="5035143" cy="237744"/>
          </a:xfrm>
          <a:prstGeom prst="rect">
            <a:avLst/>
          </a:prstGeom>
          <a:noFill/>
        </p:spPr>
        <p:txBody>
          <a:bodyPr wrap="square">
            <a:spAutoFit/>
          </a:bodyPr>
          <a:lstStyle/>
          <a:p>
            <a:pPr algn="l"/>
            <a:r>
              <a:rPr sz="1000" b="1" i="0">
                <a:solidFill>
                  <a:srgbClr val="F0F4FF"/>
                </a:solidFill>
              </a:rPr>
              <a:t>24 hours before</a:t>
            </a:r>
          </a:p>
        </p:txBody>
      </p:sp>
      <p:sp>
        <p:nvSpPr>
          <p:cNvPr id="9" name="TextBox 8"/>
          <p:cNvSpPr txBox="1"/>
          <p:nvPr/>
        </p:nvSpPr>
        <p:spPr>
          <a:xfrm>
            <a:off x="731520" y="2670048"/>
            <a:ext cx="5035143" cy="237744"/>
          </a:xfrm>
          <a:prstGeom prst="rect">
            <a:avLst/>
          </a:prstGeom>
          <a:noFill/>
        </p:spPr>
        <p:txBody>
          <a:bodyPr wrap="square">
            <a:spAutoFit/>
          </a:bodyPr>
          <a:lstStyle/>
          <a:p>
            <a:pPr algn="l"/>
            <a:r>
              <a:rPr sz="1000" b="0" i="0">
                <a:solidFill>
                  <a:srgbClr val="94A3B8"/>
                </a:solidFill>
              </a:rPr>
              <a:t>email + push reminder sent</a:t>
            </a:r>
          </a:p>
        </p:txBody>
      </p:sp>
      <p:sp>
        <p:nvSpPr>
          <p:cNvPr id="10" name="Rounded Rectangle 9"/>
          <p:cNvSpPr/>
          <p:nvPr/>
        </p:nvSpPr>
        <p:spPr>
          <a:xfrm>
            <a:off x="603504" y="3090672"/>
            <a:ext cx="5245455" cy="603504"/>
          </a:xfrm>
          <a:prstGeom prst="roundRect">
            <a:avLst/>
          </a:prstGeom>
          <a:solidFill>
            <a:srgbClr val="081222"/>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145536"/>
            <a:ext cx="5035143" cy="237744"/>
          </a:xfrm>
          <a:prstGeom prst="rect">
            <a:avLst/>
          </a:prstGeom>
          <a:noFill/>
        </p:spPr>
        <p:txBody>
          <a:bodyPr wrap="square">
            <a:spAutoFit/>
          </a:bodyPr>
          <a:lstStyle/>
          <a:p>
            <a:pPr algn="l"/>
            <a:r>
              <a:rPr sz="1000" b="1" i="0">
                <a:solidFill>
                  <a:srgbClr val="F0F4FF"/>
                </a:solidFill>
              </a:rPr>
              <a:t>6 hours before</a:t>
            </a:r>
          </a:p>
        </p:txBody>
      </p:sp>
      <p:sp>
        <p:nvSpPr>
          <p:cNvPr id="12" name="TextBox 11"/>
          <p:cNvSpPr txBox="1"/>
          <p:nvPr/>
        </p:nvSpPr>
        <p:spPr>
          <a:xfrm>
            <a:off x="731520" y="3383280"/>
            <a:ext cx="5035143" cy="237744"/>
          </a:xfrm>
          <a:prstGeom prst="rect">
            <a:avLst/>
          </a:prstGeom>
          <a:noFill/>
        </p:spPr>
        <p:txBody>
          <a:bodyPr wrap="square">
            <a:spAutoFit/>
          </a:bodyPr>
          <a:lstStyle/>
          <a:p>
            <a:pPr algn="l"/>
            <a:r>
              <a:rPr sz="1000" b="0" i="0">
                <a:solidFill>
                  <a:srgbClr val="94A3B8"/>
                </a:solidFill>
              </a:rPr>
              <a:t>second reminder dispatched</a:t>
            </a:r>
          </a:p>
        </p:txBody>
      </p:sp>
      <p:sp>
        <p:nvSpPr>
          <p:cNvPr id="13" name="Rounded Rectangle 12"/>
          <p:cNvSpPr/>
          <p:nvPr/>
        </p:nvSpPr>
        <p:spPr>
          <a:xfrm>
            <a:off x="603504" y="3803904"/>
            <a:ext cx="5245455" cy="603504"/>
          </a:xfrm>
          <a:prstGeom prst="roundRect">
            <a:avLst/>
          </a:prstGeom>
          <a:solidFill>
            <a:srgbClr val="081222"/>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858768"/>
            <a:ext cx="5035143" cy="237744"/>
          </a:xfrm>
          <a:prstGeom prst="rect">
            <a:avLst/>
          </a:prstGeom>
          <a:noFill/>
        </p:spPr>
        <p:txBody>
          <a:bodyPr wrap="square">
            <a:spAutoFit/>
          </a:bodyPr>
          <a:lstStyle/>
          <a:p>
            <a:pPr algn="l"/>
            <a:r>
              <a:rPr sz="1000" b="1" i="0">
                <a:solidFill>
                  <a:srgbClr val="F0F4FF"/>
                </a:solidFill>
              </a:rPr>
              <a:t>3 hours before</a:t>
            </a:r>
          </a:p>
        </p:txBody>
      </p:sp>
      <p:sp>
        <p:nvSpPr>
          <p:cNvPr id="15" name="TextBox 14"/>
          <p:cNvSpPr txBox="1"/>
          <p:nvPr/>
        </p:nvSpPr>
        <p:spPr>
          <a:xfrm>
            <a:off x="731520" y="4096512"/>
            <a:ext cx="5035143" cy="237744"/>
          </a:xfrm>
          <a:prstGeom prst="rect">
            <a:avLst/>
          </a:prstGeom>
          <a:noFill/>
        </p:spPr>
        <p:txBody>
          <a:bodyPr wrap="square">
            <a:spAutoFit/>
          </a:bodyPr>
          <a:lstStyle/>
          <a:p>
            <a:pPr algn="l"/>
            <a:r>
              <a:rPr sz="1000" b="0" i="0">
                <a:solidFill>
                  <a:srgbClr val="94A3B8"/>
                </a:solidFill>
              </a:rPr>
              <a:t>final reminder with event details</a:t>
            </a:r>
          </a:p>
        </p:txBody>
      </p:sp>
      <p:sp>
        <p:nvSpPr>
          <p:cNvPr id="16" name="Rounded Rectangle 15"/>
          <p:cNvSpPr/>
          <p:nvPr/>
        </p:nvSpPr>
        <p:spPr>
          <a:xfrm>
            <a:off x="603504" y="4517136"/>
            <a:ext cx="5245455" cy="603504"/>
          </a:xfrm>
          <a:prstGeom prst="roundRect">
            <a:avLst/>
          </a:prstGeom>
          <a:solidFill>
            <a:srgbClr val="062216"/>
          </a:solidFill>
          <a:ln w="9525">
            <a:solidFill>
              <a:srgbClr val="0D3D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4572000"/>
            <a:ext cx="5035143" cy="237744"/>
          </a:xfrm>
          <a:prstGeom prst="rect">
            <a:avLst/>
          </a:prstGeom>
          <a:noFill/>
        </p:spPr>
        <p:txBody>
          <a:bodyPr wrap="square">
            <a:spAutoFit/>
          </a:bodyPr>
          <a:lstStyle/>
          <a:p>
            <a:pPr algn="l"/>
            <a:r>
              <a:rPr sz="1000" b="1" i="0">
                <a:solidFill>
                  <a:srgbClr val="34D399"/>
                </a:solidFill>
              </a:rPr>
              <a:t>+/- 90 min window</a:t>
            </a:r>
          </a:p>
        </p:txBody>
      </p:sp>
      <p:sp>
        <p:nvSpPr>
          <p:cNvPr id="18" name="TextBox 17"/>
          <p:cNvSpPr txBox="1"/>
          <p:nvPr/>
        </p:nvSpPr>
        <p:spPr>
          <a:xfrm>
            <a:off x="731520" y="4809744"/>
            <a:ext cx="5035143" cy="237744"/>
          </a:xfrm>
          <a:prstGeom prst="rect">
            <a:avLst/>
          </a:prstGeom>
          <a:noFill/>
        </p:spPr>
        <p:txBody>
          <a:bodyPr wrap="square">
            <a:spAutoFit/>
          </a:bodyPr>
          <a:lstStyle/>
          <a:p>
            <a:pPr algn="l"/>
            <a:r>
              <a:rPr sz="1000" b="0" i="0">
                <a:solidFill>
                  <a:srgbClr val="94A3B8"/>
                </a:solidFill>
              </a:rPr>
              <a:t>handles cron schedule drift — late runs still fire</a:t>
            </a:r>
          </a:p>
        </p:txBody>
      </p:sp>
      <p:sp>
        <p:nvSpPr>
          <p:cNvPr id="19" name="Rounded Rectangle 18"/>
          <p:cNvSpPr/>
          <p:nvPr/>
        </p:nvSpPr>
        <p:spPr>
          <a:xfrm>
            <a:off x="6196431" y="1847088"/>
            <a:ext cx="5538063" cy="365760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79311" y="1975104"/>
            <a:ext cx="5172303" cy="310896"/>
          </a:xfrm>
          <a:prstGeom prst="rect">
            <a:avLst/>
          </a:prstGeom>
          <a:noFill/>
        </p:spPr>
        <p:txBody>
          <a:bodyPr wrap="square">
            <a:spAutoFit/>
          </a:bodyPr>
          <a:lstStyle/>
          <a:p>
            <a:pPr algn="l"/>
            <a:r>
              <a:rPr sz="1300" b="1" i="0">
                <a:solidFill>
                  <a:srgbClr val="818CF8"/>
                </a:solidFill>
              </a:rPr>
              <a:t>Channels and controls</a:t>
            </a:r>
          </a:p>
        </p:txBody>
      </p:sp>
      <p:sp>
        <p:nvSpPr>
          <p:cNvPr id="21" name="Rounded Rectangle 20"/>
          <p:cNvSpPr/>
          <p:nvPr/>
        </p:nvSpPr>
        <p:spPr>
          <a:xfrm>
            <a:off x="6342735" y="2377440"/>
            <a:ext cx="5245455" cy="877824"/>
          </a:xfrm>
          <a:prstGeom prst="roundRect">
            <a:avLst/>
          </a:prstGeom>
          <a:solidFill>
            <a:srgbClr val="081222"/>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70751" y="2450592"/>
            <a:ext cx="5035143" cy="256032"/>
          </a:xfrm>
          <a:prstGeom prst="rect">
            <a:avLst/>
          </a:prstGeom>
          <a:noFill/>
        </p:spPr>
        <p:txBody>
          <a:bodyPr wrap="square">
            <a:spAutoFit/>
          </a:bodyPr>
          <a:lstStyle/>
          <a:p>
            <a:pPr algn="l"/>
            <a:r>
              <a:rPr sz="1100" b="1" i="0">
                <a:solidFill>
                  <a:srgbClr val="38BDF8"/>
                </a:solidFill>
              </a:rPr>
              <a:t>Push via Firebase FCM</a:t>
            </a:r>
          </a:p>
        </p:txBody>
      </p:sp>
      <p:sp>
        <p:nvSpPr>
          <p:cNvPr id="23" name="TextBox 22"/>
          <p:cNvSpPr txBox="1"/>
          <p:nvPr/>
        </p:nvSpPr>
        <p:spPr>
          <a:xfrm>
            <a:off x="6470751" y="2724912"/>
            <a:ext cx="5035143" cy="457200"/>
          </a:xfrm>
          <a:prstGeom prst="rect">
            <a:avLst/>
          </a:prstGeom>
          <a:noFill/>
        </p:spPr>
        <p:txBody>
          <a:bodyPr wrap="square">
            <a:spAutoFit/>
          </a:bodyPr>
          <a:lstStyle/>
          <a:p>
            <a:pPr algn="l"/>
            <a:r>
              <a:rPr sz="1000" b="0" i="0">
                <a:solidFill>
                  <a:srgbClr val="94A3B8"/>
                </a:solidFill>
              </a:rPr>
              <a:t>FCM tokens stored per user in Firestore. Dispatched from Flask backend with Bearer token auth.</a:t>
            </a:r>
          </a:p>
        </p:txBody>
      </p:sp>
      <p:sp>
        <p:nvSpPr>
          <p:cNvPr id="24" name="Rounded Rectangle 23"/>
          <p:cNvSpPr/>
          <p:nvPr/>
        </p:nvSpPr>
        <p:spPr>
          <a:xfrm>
            <a:off x="6342735" y="3364992"/>
            <a:ext cx="5245455" cy="877824"/>
          </a:xfrm>
          <a:prstGeom prst="roundRect">
            <a:avLst/>
          </a:prstGeom>
          <a:solidFill>
            <a:srgbClr val="081222"/>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70751" y="3438144"/>
            <a:ext cx="5035143" cy="256032"/>
          </a:xfrm>
          <a:prstGeom prst="rect">
            <a:avLst/>
          </a:prstGeom>
          <a:noFill/>
        </p:spPr>
        <p:txBody>
          <a:bodyPr wrap="square">
            <a:spAutoFit/>
          </a:bodyPr>
          <a:lstStyle/>
          <a:p>
            <a:pPr algn="l"/>
            <a:r>
              <a:rPr sz="1100" b="1" i="0">
                <a:solidFill>
                  <a:srgbClr val="FB923C"/>
                </a:solidFill>
              </a:rPr>
              <a:t>Email via Resend</a:t>
            </a:r>
          </a:p>
        </p:txBody>
      </p:sp>
      <p:sp>
        <p:nvSpPr>
          <p:cNvPr id="26" name="TextBox 25"/>
          <p:cNvSpPr txBox="1"/>
          <p:nvPr/>
        </p:nvSpPr>
        <p:spPr>
          <a:xfrm>
            <a:off x="6470751" y="3712464"/>
            <a:ext cx="5035143" cy="457200"/>
          </a:xfrm>
          <a:prstGeom prst="rect">
            <a:avLst/>
          </a:prstGeom>
          <a:noFill/>
        </p:spPr>
        <p:txBody>
          <a:bodyPr wrap="square">
            <a:spAutoFit/>
          </a:bodyPr>
          <a:lstStyle/>
          <a:p>
            <a:pPr algn="l"/>
            <a:r>
              <a:rPr sz="1000" b="0" i="0">
                <a:solidFill>
                  <a:srgbClr val="94A3B8"/>
                </a:solidFill>
              </a:rPr>
              <a:t>Transactional email with event details. Each user sets their own notification preferences.</a:t>
            </a:r>
          </a:p>
        </p:txBody>
      </p:sp>
      <p:sp>
        <p:nvSpPr>
          <p:cNvPr id="27" name="Rounded Rectangle 26"/>
          <p:cNvSpPr/>
          <p:nvPr/>
        </p:nvSpPr>
        <p:spPr>
          <a:xfrm>
            <a:off x="6342735" y="4352544"/>
            <a:ext cx="5245455" cy="877824"/>
          </a:xfrm>
          <a:prstGeom prst="roundRect">
            <a:avLst/>
          </a:prstGeom>
          <a:solidFill>
            <a:srgbClr val="081222"/>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70751" y="4425696"/>
            <a:ext cx="5035143" cy="256032"/>
          </a:xfrm>
          <a:prstGeom prst="rect">
            <a:avLst/>
          </a:prstGeom>
          <a:noFill/>
        </p:spPr>
        <p:txBody>
          <a:bodyPr wrap="square">
            <a:spAutoFit/>
          </a:bodyPr>
          <a:lstStyle/>
          <a:p>
            <a:pPr algn="l"/>
            <a:r>
              <a:rPr sz="1100" b="1" i="0">
                <a:solidFill>
                  <a:srgbClr val="34D399"/>
                </a:solidFill>
              </a:rPr>
              <a:t>Idempotency guard</a:t>
            </a:r>
          </a:p>
        </p:txBody>
      </p:sp>
      <p:sp>
        <p:nvSpPr>
          <p:cNvPr id="29" name="TextBox 28"/>
          <p:cNvSpPr txBox="1"/>
          <p:nvPr/>
        </p:nvSpPr>
        <p:spPr>
          <a:xfrm>
            <a:off x="6470751" y="4700016"/>
            <a:ext cx="5035143" cy="457200"/>
          </a:xfrm>
          <a:prstGeom prst="rect">
            <a:avLst/>
          </a:prstGeom>
          <a:noFill/>
        </p:spPr>
        <p:txBody>
          <a:bodyPr wrap="square">
            <a:spAutoFit/>
          </a:bodyPr>
          <a:lstStyle/>
          <a:p>
            <a:pPr algn="l"/>
            <a:r>
              <a:rPr sz="1000" b="0" i="0">
                <a:solidFill>
                  <a:srgbClr val="94A3B8"/>
                </a:solidFill>
              </a:rPr>
              <a:t>A Firestore flag per reminder per event prevents any message sending twice, even if the cron runs multiple times in one window.</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5080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75569"/>
                </a:solidFill>
              </a:rPr>
              <a:t>STACK BREAKDOWN</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Full-stack, deployed, and production-ready</a:t>
            </a:r>
          </a:p>
        </p:txBody>
      </p:sp>
      <p:sp>
        <p:nvSpPr>
          <p:cNvPr id="4" name="TextBox 3"/>
          <p:cNvSpPr txBox="1"/>
          <p:nvPr/>
        </p:nvSpPr>
        <p:spPr>
          <a:xfrm>
            <a:off x="1828800" y="1335024"/>
            <a:ext cx="8534095" cy="438912"/>
          </a:xfrm>
          <a:prstGeom prst="rect">
            <a:avLst/>
          </a:prstGeom>
          <a:noFill/>
        </p:spPr>
        <p:txBody>
          <a:bodyPr wrap="square">
            <a:spAutoFit/>
          </a:bodyPr>
          <a:lstStyle/>
          <a:p>
            <a:pPr algn="ctr"/>
            <a:r>
              <a:rPr sz="1100" b="0" i="0">
                <a:solidFill>
                  <a:srgbClr val="94A3B8"/>
                </a:solidFill>
              </a:rPr>
              <a:t>119 commits. Two live deployments. Gunicorn in production. This is a deployable product, not a class demo.</a:t>
            </a:r>
          </a:p>
        </p:txBody>
      </p:sp>
      <p:sp>
        <p:nvSpPr>
          <p:cNvPr id="5" name="Rounded Rectangle 4"/>
          <p:cNvSpPr/>
          <p:nvPr/>
        </p:nvSpPr>
        <p:spPr>
          <a:xfrm>
            <a:off x="457200" y="1847088"/>
            <a:ext cx="2668447" cy="254203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956816"/>
            <a:ext cx="2448991" cy="219456"/>
          </a:xfrm>
          <a:prstGeom prst="rect">
            <a:avLst/>
          </a:prstGeom>
          <a:noFill/>
        </p:spPr>
        <p:txBody>
          <a:bodyPr wrap="square">
            <a:spAutoFit/>
          </a:bodyPr>
          <a:lstStyle/>
          <a:p>
            <a:pPr algn="l"/>
            <a:r>
              <a:rPr sz="700" b="1" i="0">
                <a:solidFill>
                  <a:srgbClr val="34D399"/>
                </a:solidFill>
              </a:rPr>
              <a:t>FRONTEND</a:t>
            </a:r>
          </a:p>
        </p:txBody>
      </p:sp>
      <p:sp>
        <p:nvSpPr>
          <p:cNvPr id="7" name="Rounded Rectangle 6"/>
          <p:cNvSpPr/>
          <p:nvPr/>
        </p:nvSpPr>
        <p:spPr>
          <a:xfrm>
            <a:off x="566928" y="2249424"/>
            <a:ext cx="2448991" cy="274320"/>
          </a:xfrm>
          <a:prstGeom prst="roundRect">
            <a:avLst/>
          </a:prstGeom>
          <a:solidFill>
            <a:srgbClr val="081426"/>
          </a:solidFill>
          <a:ln w="9525">
            <a:solidFill>
              <a:srgbClr val="0D3D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295144"/>
            <a:ext cx="2339263" cy="201168"/>
          </a:xfrm>
          <a:prstGeom prst="rect">
            <a:avLst/>
          </a:prstGeom>
          <a:noFill/>
        </p:spPr>
        <p:txBody>
          <a:bodyPr wrap="square">
            <a:spAutoFit/>
          </a:bodyPr>
          <a:lstStyle/>
          <a:p>
            <a:pPr algn="l"/>
            <a:r>
              <a:rPr sz="900" b="0" i="0">
                <a:solidFill>
                  <a:srgbClr val="34D399"/>
                </a:solidFill>
              </a:rPr>
              <a:t>React 18 + TypeScript</a:t>
            </a:r>
          </a:p>
        </p:txBody>
      </p:sp>
      <p:sp>
        <p:nvSpPr>
          <p:cNvPr id="9" name="Rounded Rectangle 8"/>
          <p:cNvSpPr/>
          <p:nvPr/>
        </p:nvSpPr>
        <p:spPr>
          <a:xfrm>
            <a:off x="566928" y="2560320"/>
            <a:ext cx="2448991" cy="274320"/>
          </a:xfrm>
          <a:prstGeom prst="roundRect">
            <a:avLst/>
          </a:prstGeom>
          <a:solidFill>
            <a:srgbClr val="081426"/>
          </a:solidFill>
          <a:ln w="9525">
            <a:solidFill>
              <a:srgbClr val="0D3D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606040"/>
            <a:ext cx="2339263" cy="201168"/>
          </a:xfrm>
          <a:prstGeom prst="rect">
            <a:avLst/>
          </a:prstGeom>
          <a:noFill/>
        </p:spPr>
        <p:txBody>
          <a:bodyPr wrap="square">
            <a:spAutoFit/>
          </a:bodyPr>
          <a:lstStyle/>
          <a:p>
            <a:pPr algn="l"/>
            <a:r>
              <a:rPr sz="900" b="0" i="0">
                <a:solidFill>
                  <a:srgbClr val="34D399"/>
                </a:solidFill>
              </a:rPr>
              <a:t>Vite (SWC)</a:t>
            </a:r>
          </a:p>
        </p:txBody>
      </p:sp>
      <p:sp>
        <p:nvSpPr>
          <p:cNvPr id="11" name="Rounded Rectangle 10"/>
          <p:cNvSpPr/>
          <p:nvPr/>
        </p:nvSpPr>
        <p:spPr>
          <a:xfrm>
            <a:off x="566928" y="2871216"/>
            <a:ext cx="2448991" cy="274320"/>
          </a:xfrm>
          <a:prstGeom prst="roundRect">
            <a:avLst/>
          </a:prstGeom>
          <a:solidFill>
            <a:srgbClr val="06101E"/>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916936"/>
            <a:ext cx="2339263" cy="201168"/>
          </a:xfrm>
          <a:prstGeom prst="rect">
            <a:avLst/>
          </a:prstGeom>
          <a:noFill/>
        </p:spPr>
        <p:txBody>
          <a:bodyPr wrap="square">
            <a:spAutoFit/>
          </a:bodyPr>
          <a:lstStyle/>
          <a:p>
            <a:pPr algn="l"/>
            <a:r>
              <a:rPr sz="900" b="0" i="0">
                <a:solidFill>
                  <a:srgbClr val="475569"/>
                </a:solidFill>
              </a:rPr>
              <a:t>Tailwind CSS</a:t>
            </a:r>
          </a:p>
        </p:txBody>
      </p:sp>
      <p:sp>
        <p:nvSpPr>
          <p:cNvPr id="13" name="Rounded Rectangle 12"/>
          <p:cNvSpPr/>
          <p:nvPr/>
        </p:nvSpPr>
        <p:spPr>
          <a:xfrm>
            <a:off x="566928" y="3182112"/>
            <a:ext cx="2448991" cy="274320"/>
          </a:xfrm>
          <a:prstGeom prst="roundRect">
            <a:avLst/>
          </a:prstGeom>
          <a:solidFill>
            <a:srgbClr val="06101E"/>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3227832"/>
            <a:ext cx="2339263" cy="201168"/>
          </a:xfrm>
          <a:prstGeom prst="rect">
            <a:avLst/>
          </a:prstGeom>
          <a:noFill/>
        </p:spPr>
        <p:txBody>
          <a:bodyPr wrap="square">
            <a:spAutoFit/>
          </a:bodyPr>
          <a:lstStyle/>
          <a:p>
            <a:pPr algn="l"/>
            <a:r>
              <a:rPr sz="900" b="0" i="0">
                <a:solidFill>
                  <a:srgbClr val="475569"/>
                </a:solidFill>
              </a:rPr>
              <a:t>shadcn/ui + Radix</a:t>
            </a:r>
          </a:p>
        </p:txBody>
      </p:sp>
      <p:sp>
        <p:nvSpPr>
          <p:cNvPr id="15" name="Rounded Rectangle 14"/>
          <p:cNvSpPr/>
          <p:nvPr/>
        </p:nvSpPr>
        <p:spPr>
          <a:xfrm>
            <a:off x="566928" y="3493008"/>
            <a:ext cx="2448991" cy="274320"/>
          </a:xfrm>
          <a:prstGeom prst="roundRect">
            <a:avLst/>
          </a:prstGeom>
          <a:solidFill>
            <a:srgbClr val="06101E"/>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3538728"/>
            <a:ext cx="2339263" cy="201168"/>
          </a:xfrm>
          <a:prstGeom prst="rect">
            <a:avLst/>
          </a:prstGeom>
          <a:noFill/>
        </p:spPr>
        <p:txBody>
          <a:bodyPr wrap="square">
            <a:spAutoFit/>
          </a:bodyPr>
          <a:lstStyle/>
          <a:p>
            <a:pPr algn="l"/>
            <a:r>
              <a:rPr sz="900" b="0" i="0">
                <a:solidFill>
                  <a:srgbClr val="475569"/>
                </a:solidFill>
              </a:rPr>
              <a:t>TanStack Query v5</a:t>
            </a:r>
          </a:p>
        </p:txBody>
      </p:sp>
      <p:sp>
        <p:nvSpPr>
          <p:cNvPr id="17" name="Rounded Rectangle 16"/>
          <p:cNvSpPr/>
          <p:nvPr/>
        </p:nvSpPr>
        <p:spPr>
          <a:xfrm>
            <a:off x="566928" y="3803904"/>
            <a:ext cx="2448991" cy="274320"/>
          </a:xfrm>
          <a:prstGeom prst="roundRect">
            <a:avLst/>
          </a:prstGeom>
          <a:solidFill>
            <a:srgbClr val="06101E"/>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3849624"/>
            <a:ext cx="2339263" cy="201168"/>
          </a:xfrm>
          <a:prstGeom prst="rect">
            <a:avLst/>
          </a:prstGeom>
          <a:noFill/>
        </p:spPr>
        <p:txBody>
          <a:bodyPr wrap="square">
            <a:spAutoFit/>
          </a:bodyPr>
          <a:lstStyle/>
          <a:p>
            <a:pPr algn="l"/>
            <a:r>
              <a:rPr sz="900" b="0" i="0">
                <a:solidFill>
                  <a:srgbClr val="475569"/>
                </a:solidFill>
              </a:rPr>
              <a:t>Framer Motion</a:t>
            </a:r>
          </a:p>
        </p:txBody>
      </p:sp>
      <p:sp>
        <p:nvSpPr>
          <p:cNvPr id="19" name="Rounded Rectangle 18"/>
          <p:cNvSpPr/>
          <p:nvPr/>
        </p:nvSpPr>
        <p:spPr>
          <a:xfrm>
            <a:off x="566928" y="4114800"/>
            <a:ext cx="2448991" cy="274320"/>
          </a:xfrm>
          <a:prstGeom prst="roundRect">
            <a:avLst/>
          </a:prstGeom>
          <a:solidFill>
            <a:srgbClr val="06101E"/>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4160520"/>
            <a:ext cx="2339263" cy="201168"/>
          </a:xfrm>
          <a:prstGeom prst="rect">
            <a:avLst/>
          </a:prstGeom>
          <a:noFill/>
        </p:spPr>
        <p:txBody>
          <a:bodyPr wrap="square">
            <a:spAutoFit/>
          </a:bodyPr>
          <a:lstStyle/>
          <a:p>
            <a:pPr algn="l"/>
            <a:r>
              <a:rPr sz="900" b="0" i="0">
                <a:solidFill>
                  <a:srgbClr val="475569"/>
                </a:solidFill>
              </a:rPr>
              <a:t>Recharts</a:t>
            </a:r>
          </a:p>
        </p:txBody>
      </p:sp>
      <p:sp>
        <p:nvSpPr>
          <p:cNvPr id="21" name="Rounded Rectangle 20"/>
          <p:cNvSpPr/>
          <p:nvPr/>
        </p:nvSpPr>
        <p:spPr>
          <a:xfrm>
            <a:off x="3326815" y="1847088"/>
            <a:ext cx="2668447" cy="254203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436543" y="1956816"/>
            <a:ext cx="2448991" cy="219456"/>
          </a:xfrm>
          <a:prstGeom prst="rect">
            <a:avLst/>
          </a:prstGeom>
          <a:noFill/>
        </p:spPr>
        <p:txBody>
          <a:bodyPr wrap="square">
            <a:spAutoFit/>
          </a:bodyPr>
          <a:lstStyle/>
          <a:p>
            <a:pPr algn="l"/>
            <a:r>
              <a:rPr sz="700" b="1" i="0">
                <a:solidFill>
                  <a:srgbClr val="34D399"/>
                </a:solidFill>
              </a:rPr>
              <a:t>BACKEND</a:t>
            </a:r>
          </a:p>
        </p:txBody>
      </p:sp>
      <p:sp>
        <p:nvSpPr>
          <p:cNvPr id="23" name="Rounded Rectangle 22"/>
          <p:cNvSpPr/>
          <p:nvPr/>
        </p:nvSpPr>
        <p:spPr>
          <a:xfrm>
            <a:off x="3436543" y="2249424"/>
            <a:ext cx="2448991" cy="274320"/>
          </a:xfrm>
          <a:prstGeom prst="roundRect">
            <a:avLst/>
          </a:prstGeom>
          <a:solidFill>
            <a:srgbClr val="081426"/>
          </a:solidFill>
          <a:ln w="9525">
            <a:solidFill>
              <a:srgbClr val="0D3D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509695" y="2295144"/>
            <a:ext cx="2339263" cy="201168"/>
          </a:xfrm>
          <a:prstGeom prst="rect">
            <a:avLst/>
          </a:prstGeom>
          <a:noFill/>
        </p:spPr>
        <p:txBody>
          <a:bodyPr wrap="square">
            <a:spAutoFit/>
          </a:bodyPr>
          <a:lstStyle/>
          <a:p>
            <a:pPr algn="l"/>
            <a:r>
              <a:rPr sz="900" b="0" i="0">
                <a:solidFill>
                  <a:srgbClr val="34D399"/>
                </a:solidFill>
              </a:rPr>
              <a:t>Python Flask 3.1</a:t>
            </a:r>
          </a:p>
        </p:txBody>
      </p:sp>
      <p:sp>
        <p:nvSpPr>
          <p:cNvPr id="25" name="Rounded Rectangle 24"/>
          <p:cNvSpPr/>
          <p:nvPr/>
        </p:nvSpPr>
        <p:spPr>
          <a:xfrm>
            <a:off x="3436543" y="2560320"/>
            <a:ext cx="2448991" cy="274320"/>
          </a:xfrm>
          <a:prstGeom prst="roundRect">
            <a:avLst/>
          </a:prstGeom>
          <a:solidFill>
            <a:srgbClr val="081426"/>
          </a:solidFill>
          <a:ln w="9525">
            <a:solidFill>
              <a:srgbClr val="0D3D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509695" y="2606040"/>
            <a:ext cx="2339263" cy="201168"/>
          </a:xfrm>
          <a:prstGeom prst="rect">
            <a:avLst/>
          </a:prstGeom>
          <a:noFill/>
        </p:spPr>
        <p:txBody>
          <a:bodyPr wrap="square">
            <a:spAutoFit/>
          </a:bodyPr>
          <a:lstStyle/>
          <a:p>
            <a:pPr algn="l"/>
            <a:r>
              <a:rPr sz="900" b="0" i="0">
                <a:solidFill>
                  <a:srgbClr val="34D399"/>
                </a:solidFill>
              </a:rPr>
              <a:t>Gunicorn (prod)</a:t>
            </a:r>
          </a:p>
        </p:txBody>
      </p:sp>
      <p:sp>
        <p:nvSpPr>
          <p:cNvPr id="27" name="Rounded Rectangle 26"/>
          <p:cNvSpPr/>
          <p:nvPr/>
        </p:nvSpPr>
        <p:spPr>
          <a:xfrm>
            <a:off x="3436543" y="2871216"/>
            <a:ext cx="2448991" cy="274320"/>
          </a:xfrm>
          <a:prstGeom prst="roundRect">
            <a:avLst/>
          </a:prstGeom>
          <a:solidFill>
            <a:srgbClr val="06101E"/>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509695" y="2916936"/>
            <a:ext cx="2339263" cy="201168"/>
          </a:xfrm>
          <a:prstGeom prst="rect">
            <a:avLst/>
          </a:prstGeom>
          <a:noFill/>
        </p:spPr>
        <p:txBody>
          <a:bodyPr wrap="square">
            <a:spAutoFit/>
          </a:bodyPr>
          <a:lstStyle/>
          <a:p>
            <a:pPr algn="l"/>
            <a:r>
              <a:rPr sz="900" b="0" i="0">
                <a:solidFill>
                  <a:srgbClr val="475569"/>
                </a:solidFill>
              </a:rPr>
              <a:t>flask-cors</a:t>
            </a:r>
          </a:p>
        </p:txBody>
      </p:sp>
      <p:sp>
        <p:nvSpPr>
          <p:cNvPr id="29" name="Rounded Rectangle 28"/>
          <p:cNvSpPr/>
          <p:nvPr/>
        </p:nvSpPr>
        <p:spPr>
          <a:xfrm>
            <a:off x="3436543" y="3182112"/>
            <a:ext cx="2448991" cy="274320"/>
          </a:xfrm>
          <a:prstGeom prst="roundRect">
            <a:avLst/>
          </a:prstGeom>
          <a:solidFill>
            <a:srgbClr val="06101E"/>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509695" y="3227832"/>
            <a:ext cx="2339263" cy="201168"/>
          </a:xfrm>
          <a:prstGeom prst="rect">
            <a:avLst/>
          </a:prstGeom>
          <a:noFill/>
        </p:spPr>
        <p:txBody>
          <a:bodyPr wrap="square">
            <a:spAutoFit/>
          </a:bodyPr>
          <a:lstStyle/>
          <a:p>
            <a:pPr algn="l"/>
            <a:r>
              <a:rPr sz="900" b="0" i="0">
                <a:solidFill>
                  <a:srgbClr val="475569"/>
                </a:solidFill>
              </a:rPr>
              <a:t>Modular routes</a:t>
            </a:r>
          </a:p>
        </p:txBody>
      </p:sp>
      <p:sp>
        <p:nvSpPr>
          <p:cNvPr id="31" name="Rounded Rectangle 30"/>
          <p:cNvSpPr/>
          <p:nvPr/>
        </p:nvSpPr>
        <p:spPr>
          <a:xfrm>
            <a:off x="3436543" y="3493008"/>
            <a:ext cx="2448991" cy="274320"/>
          </a:xfrm>
          <a:prstGeom prst="roundRect">
            <a:avLst/>
          </a:prstGeom>
          <a:solidFill>
            <a:srgbClr val="06101E"/>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509695" y="3538728"/>
            <a:ext cx="2339263" cy="201168"/>
          </a:xfrm>
          <a:prstGeom prst="rect">
            <a:avLst/>
          </a:prstGeom>
          <a:noFill/>
        </p:spPr>
        <p:txBody>
          <a:bodyPr wrap="square">
            <a:spAutoFit/>
          </a:bodyPr>
          <a:lstStyle/>
          <a:p>
            <a:pPr algn="l"/>
            <a:r>
              <a:rPr sz="900" b="0" i="0">
                <a:solidFill>
                  <a:srgbClr val="475569"/>
                </a:solidFill>
              </a:rPr>
              <a:t>Bearer token auth</a:t>
            </a:r>
          </a:p>
        </p:txBody>
      </p:sp>
      <p:sp>
        <p:nvSpPr>
          <p:cNvPr id="33" name="Rounded Rectangle 32"/>
          <p:cNvSpPr/>
          <p:nvPr/>
        </p:nvSpPr>
        <p:spPr>
          <a:xfrm>
            <a:off x="3436543" y="3803904"/>
            <a:ext cx="2448991" cy="274320"/>
          </a:xfrm>
          <a:prstGeom prst="roundRect">
            <a:avLst/>
          </a:prstGeom>
          <a:solidFill>
            <a:srgbClr val="06101E"/>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509695" y="3849624"/>
            <a:ext cx="2339263" cy="201168"/>
          </a:xfrm>
          <a:prstGeom prst="rect">
            <a:avLst/>
          </a:prstGeom>
          <a:noFill/>
        </p:spPr>
        <p:txBody>
          <a:bodyPr wrap="square">
            <a:spAutoFit/>
          </a:bodyPr>
          <a:lstStyle/>
          <a:p>
            <a:pPr algn="l"/>
            <a:r>
              <a:rPr sz="900" b="0" i="0">
                <a:solidFill>
                  <a:srgbClr val="475569"/>
                </a:solidFill>
              </a:rPr>
              <a:t>Render hosting</a:t>
            </a:r>
          </a:p>
        </p:txBody>
      </p:sp>
      <p:sp>
        <p:nvSpPr>
          <p:cNvPr id="35" name="Rounded Rectangle 34"/>
          <p:cNvSpPr/>
          <p:nvPr/>
        </p:nvSpPr>
        <p:spPr>
          <a:xfrm>
            <a:off x="6196431" y="1847088"/>
            <a:ext cx="2668447" cy="254203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06159" y="1956816"/>
            <a:ext cx="2448991" cy="219456"/>
          </a:xfrm>
          <a:prstGeom prst="rect">
            <a:avLst/>
          </a:prstGeom>
          <a:noFill/>
        </p:spPr>
        <p:txBody>
          <a:bodyPr wrap="square">
            <a:spAutoFit/>
          </a:bodyPr>
          <a:lstStyle/>
          <a:p>
            <a:pPr algn="l"/>
            <a:r>
              <a:rPr sz="700" b="1" i="0">
                <a:solidFill>
                  <a:srgbClr val="475569"/>
                </a:solidFill>
              </a:rPr>
              <a:t>DATA &amp; AUTH</a:t>
            </a:r>
          </a:p>
        </p:txBody>
      </p:sp>
      <p:sp>
        <p:nvSpPr>
          <p:cNvPr id="37" name="Rounded Rectangle 36"/>
          <p:cNvSpPr/>
          <p:nvPr/>
        </p:nvSpPr>
        <p:spPr>
          <a:xfrm>
            <a:off x="6306159" y="2249424"/>
            <a:ext cx="2448991" cy="274320"/>
          </a:xfrm>
          <a:prstGeom prst="roundRect">
            <a:avLst/>
          </a:prstGeom>
          <a:solidFill>
            <a:srgbClr val="081426"/>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79311" y="2295144"/>
            <a:ext cx="2339263" cy="201168"/>
          </a:xfrm>
          <a:prstGeom prst="rect">
            <a:avLst/>
          </a:prstGeom>
          <a:noFill/>
        </p:spPr>
        <p:txBody>
          <a:bodyPr wrap="square">
            <a:spAutoFit/>
          </a:bodyPr>
          <a:lstStyle/>
          <a:p>
            <a:pPr algn="l"/>
            <a:r>
              <a:rPr sz="900" b="0" i="0">
                <a:solidFill>
                  <a:srgbClr val="475569"/>
                </a:solidFill>
              </a:rPr>
              <a:t>Firebase Auth</a:t>
            </a:r>
          </a:p>
        </p:txBody>
      </p:sp>
      <p:sp>
        <p:nvSpPr>
          <p:cNvPr id="39" name="Rounded Rectangle 38"/>
          <p:cNvSpPr/>
          <p:nvPr/>
        </p:nvSpPr>
        <p:spPr>
          <a:xfrm>
            <a:off x="6306159" y="2560320"/>
            <a:ext cx="2448991" cy="274320"/>
          </a:xfrm>
          <a:prstGeom prst="roundRect">
            <a:avLst/>
          </a:prstGeom>
          <a:solidFill>
            <a:srgbClr val="081426"/>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79311" y="2606040"/>
            <a:ext cx="2339263" cy="201168"/>
          </a:xfrm>
          <a:prstGeom prst="rect">
            <a:avLst/>
          </a:prstGeom>
          <a:noFill/>
        </p:spPr>
        <p:txBody>
          <a:bodyPr wrap="square">
            <a:spAutoFit/>
          </a:bodyPr>
          <a:lstStyle/>
          <a:p>
            <a:pPr algn="l"/>
            <a:r>
              <a:rPr sz="900" b="0" i="0">
                <a:solidFill>
                  <a:srgbClr val="475569"/>
                </a:solidFill>
              </a:rPr>
              <a:t>Firestore (realtime)</a:t>
            </a:r>
          </a:p>
        </p:txBody>
      </p:sp>
      <p:sp>
        <p:nvSpPr>
          <p:cNvPr id="41" name="Rounded Rectangle 40"/>
          <p:cNvSpPr/>
          <p:nvPr/>
        </p:nvSpPr>
        <p:spPr>
          <a:xfrm>
            <a:off x="6306159" y="2871216"/>
            <a:ext cx="2448991" cy="274320"/>
          </a:xfrm>
          <a:prstGeom prst="roundRect">
            <a:avLst/>
          </a:prstGeom>
          <a:solidFill>
            <a:srgbClr val="06101E"/>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379311" y="2916936"/>
            <a:ext cx="2339263" cy="201168"/>
          </a:xfrm>
          <a:prstGeom prst="rect">
            <a:avLst/>
          </a:prstGeom>
          <a:noFill/>
        </p:spPr>
        <p:txBody>
          <a:bodyPr wrap="square">
            <a:spAutoFit/>
          </a:bodyPr>
          <a:lstStyle/>
          <a:p>
            <a:pPr algn="l"/>
            <a:r>
              <a:rPr sz="900" b="0" i="0">
                <a:solidFill>
                  <a:srgbClr val="475569"/>
                </a:solidFill>
              </a:rPr>
              <a:t>Firebase FCM</a:t>
            </a:r>
          </a:p>
        </p:txBody>
      </p:sp>
      <p:sp>
        <p:nvSpPr>
          <p:cNvPr id="43" name="Rounded Rectangle 42"/>
          <p:cNvSpPr/>
          <p:nvPr/>
        </p:nvSpPr>
        <p:spPr>
          <a:xfrm>
            <a:off x="6306159" y="3182112"/>
            <a:ext cx="2448991" cy="274320"/>
          </a:xfrm>
          <a:prstGeom prst="roundRect">
            <a:avLst/>
          </a:prstGeom>
          <a:solidFill>
            <a:srgbClr val="06101E"/>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379311" y="3227832"/>
            <a:ext cx="2339263" cy="201168"/>
          </a:xfrm>
          <a:prstGeom prst="rect">
            <a:avLst/>
          </a:prstGeom>
          <a:noFill/>
        </p:spPr>
        <p:txBody>
          <a:bodyPr wrap="square">
            <a:spAutoFit/>
          </a:bodyPr>
          <a:lstStyle/>
          <a:p>
            <a:pPr algn="l"/>
            <a:r>
              <a:rPr sz="900" b="0" i="0">
                <a:solidFill>
                  <a:srgbClr val="475569"/>
                </a:solidFill>
              </a:rPr>
              <a:t>Supabase storage</a:t>
            </a:r>
          </a:p>
        </p:txBody>
      </p:sp>
      <p:sp>
        <p:nvSpPr>
          <p:cNvPr id="45" name="Rounded Rectangle 44"/>
          <p:cNvSpPr/>
          <p:nvPr/>
        </p:nvSpPr>
        <p:spPr>
          <a:xfrm>
            <a:off x="6306159" y="3493008"/>
            <a:ext cx="2448991" cy="274320"/>
          </a:xfrm>
          <a:prstGeom prst="roundRect">
            <a:avLst/>
          </a:prstGeom>
          <a:solidFill>
            <a:srgbClr val="06101E"/>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379311" y="3538728"/>
            <a:ext cx="2339263" cy="201168"/>
          </a:xfrm>
          <a:prstGeom prst="rect">
            <a:avLst/>
          </a:prstGeom>
          <a:noFill/>
        </p:spPr>
        <p:txBody>
          <a:bodyPr wrap="square">
            <a:spAutoFit/>
          </a:bodyPr>
          <a:lstStyle/>
          <a:p>
            <a:pPr algn="l"/>
            <a:r>
              <a:rPr sz="900" b="0" i="0">
                <a:solidFill>
                  <a:srgbClr val="475569"/>
                </a:solidFill>
              </a:rPr>
              <a:t>Custom claims</a:t>
            </a:r>
          </a:p>
        </p:txBody>
      </p:sp>
      <p:sp>
        <p:nvSpPr>
          <p:cNvPr id="47" name="Rounded Rectangle 46"/>
          <p:cNvSpPr/>
          <p:nvPr/>
        </p:nvSpPr>
        <p:spPr>
          <a:xfrm>
            <a:off x="9066047" y="1847088"/>
            <a:ext cx="2668447" cy="2542032"/>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175775" y="1956816"/>
            <a:ext cx="2448991" cy="219456"/>
          </a:xfrm>
          <a:prstGeom prst="rect">
            <a:avLst/>
          </a:prstGeom>
          <a:noFill/>
        </p:spPr>
        <p:txBody>
          <a:bodyPr wrap="square">
            <a:spAutoFit/>
          </a:bodyPr>
          <a:lstStyle/>
          <a:p>
            <a:pPr algn="l"/>
            <a:r>
              <a:rPr sz="700" b="1" i="0">
                <a:solidFill>
                  <a:srgbClr val="475569"/>
                </a:solidFill>
              </a:rPr>
              <a:t>INTEGRATIONS</a:t>
            </a:r>
          </a:p>
        </p:txBody>
      </p:sp>
      <p:sp>
        <p:nvSpPr>
          <p:cNvPr id="49" name="Rounded Rectangle 48"/>
          <p:cNvSpPr/>
          <p:nvPr/>
        </p:nvSpPr>
        <p:spPr>
          <a:xfrm>
            <a:off x="9175775" y="2249424"/>
            <a:ext cx="2448991" cy="274320"/>
          </a:xfrm>
          <a:prstGeom prst="roundRect">
            <a:avLst/>
          </a:prstGeom>
          <a:solidFill>
            <a:srgbClr val="081426"/>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248927" y="2295144"/>
            <a:ext cx="2339263" cy="201168"/>
          </a:xfrm>
          <a:prstGeom prst="rect">
            <a:avLst/>
          </a:prstGeom>
          <a:noFill/>
        </p:spPr>
        <p:txBody>
          <a:bodyPr wrap="square">
            <a:spAutoFit/>
          </a:bodyPr>
          <a:lstStyle/>
          <a:p>
            <a:pPr algn="l"/>
            <a:r>
              <a:rPr sz="900" b="0" i="0">
                <a:solidFill>
                  <a:srgbClr val="475569"/>
                </a:solidFill>
              </a:rPr>
              <a:t>Google Calendar API</a:t>
            </a:r>
          </a:p>
        </p:txBody>
      </p:sp>
      <p:sp>
        <p:nvSpPr>
          <p:cNvPr id="51" name="Rounded Rectangle 50"/>
          <p:cNvSpPr/>
          <p:nvPr/>
        </p:nvSpPr>
        <p:spPr>
          <a:xfrm>
            <a:off x="9175775" y="2560320"/>
            <a:ext cx="2448991" cy="274320"/>
          </a:xfrm>
          <a:prstGeom prst="roundRect">
            <a:avLst/>
          </a:prstGeom>
          <a:solidFill>
            <a:srgbClr val="081426"/>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248927" y="2606040"/>
            <a:ext cx="2339263" cy="201168"/>
          </a:xfrm>
          <a:prstGeom prst="rect">
            <a:avLst/>
          </a:prstGeom>
          <a:noFill/>
        </p:spPr>
        <p:txBody>
          <a:bodyPr wrap="square">
            <a:spAutoFit/>
          </a:bodyPr>
          <a:lstStyle/>
          <a:p>
            <a:pPr algn="l"/>
            <a:r>
              <a:rPr sz="900" b="0" i="0">
                <a:solidFill>
                  <a:srgbClr val="475569"/>
                </a:solidFill>
              </a:rPr>
              <a:t>Resend email</a:t>
            </a:r>
          </a:p>
        </p:txBody>
      </p:sp>
      <p:sp>
        <p:nvSpPr>
          <p:cNvPr id="53" name="Rounded Rectangle 52"/>
          <p:cNvSpPr/>
          <p:nvPr/>
        </p:nvSpPr>
        <p:spPr>
          <a:xfrm>
            <a:off x="9175775" y="2871216"/>
            <a:ext cx="2448991" cy="274320"/>
          </a:xfrm>
          <a:prstGeom prst="roundRect">
            <a:avLst/>
          </a:prstGeom>
          <a:solidFill>
            <a:srgbClr val="06101E"/>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248927" y="2916936"/>
            <a:ext cx="2339263" cy="201168"/>
          </a:xfrm>
          <a:prstGeom prst="rect">
            <a:avLst/>
          </a:prstGeom>
          <a:noFill/>
        </p:spPr>
        <p:txBody>
          <a:bodyPr wrap="square">
            <a:spAutoFit/>
          </a:bodyPr>
          <a:lstStyle/>
          <a:p>
            <a:pPr algn="l"/>
            <a:r>
              <a:rPr sz="900" b="0" i="0">
                <a:solidFill>
                  <a:srgbClr val="475569"/>
                </a:solidFill>
              </a:rPr>
              <a:t>react-big-calendar</a:t>
            </a:r>
          </a:p>
        </p:txBody>
      </p:sp>
      <p:sp>
        <p:nvSpPr>
          <p:cNvPr id="55" name="Rounded Rectangle 54"/>
          <p:cNvSpPr/>
          <p:nvPr/>
        </p:nvSpPr>
        <p:spPr>
          <a:xfrm>
            <a:off x="9175775" y="3182112"/>
            <a:ext cx="2448991" cy="274320"/>
          </a:xfrm>
          <a:prstGeom prst="roundRect">
            <a:avLst/>
          </a:prstGeom>
          <a:solidFill>
            <a:srgbClr val="06101E"/>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248927" y="3227832"/>
            <a:ext cx="2339263" cy="201168"/>
          </a:xfrm>
          <a:prstGeom prst="rect">
            <a:avLst/>
          </a:prstGeom>
          <a:noFill/>
        </p:spPr>
        <p:txBody>
          <a:bodyPr wrap="square">
            <a:spAutoFit/>
          </a:bodyPr>
          <a:lstStyle/>
          <a:p>
            <a:pPr algn="l"/>
            <a:r>
              <a:rPr sz="900" b="0" i="0">
                <a:solidFill>
                  <a:srgbClr val="475569"/>
                </a:solidFill>
              </a:rPr>
              <a:t>Zod + React Hook Form</a:t>
            </a:r>
          </a:p>
        </p:txBody>
      </p:sp>
      <p:sp>
        <p:nvSpPr>
          <p:cNvPr id="57" name="Rounded Rectangle 56"/>
          <p:cNvSpPr/>
          <p:nvPr/>
        </p:nvSpPr>
        <p:spPr>
          <a:xfrm>
            <a:off x="9175775" y="3493008"/>
            <a:ext cx="2448991" cy="274320"/>
          </a:xfrm>
          <a:prstGeom prst="roundRect">
            <a:avLst/>
          </a:prstGeom>
          <a:solidFill>
            <a:srgbClr val="06101E"/>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248927" y="3538728"/>
            <a:ext cx="2339263" cy="201168"/>
          </a:xfrm>
          <a:prstGeom prst="rect">
            <a:avLst/>
          </a:prstGeom>
          <a:noFill/>
        </p:spPr>
        <p:txBody>
          <a:bodyPr wrap="square">
            <a:spAutoFit/>
          </a:bodyPr>
          <a:lstStyle/>
          <a:p>
            <a:pPr algn="l"/>
            <a:r>
              <a:rPr sz="900" b="0" i="0">
                <a:solidFill>
                  <a:srgbClr val="475569"/>
                </a:solidFill>
              </a:rPr>
              <a:t>date-fns</a:t>
            </a:r>
          </a:p>
        </p:txBody>
      </p:sp>
      <p:sp>
        <p:nvSpPr>
          <p:cNvPr id="59" name="Rounded Rectangle 58"/>
          <p:cNvSpPr/>
          <p:nvPr/>
        </p:nvSpPr>
        <p:spPr>
          <a:xfrm>
            <a:off x="9175775" y="3803904"/>
            <a:ext cx="2448991" cy="274320"/>
          </a:xfrm>
          <a:prstGeom prst="roundRect">
            <a:avLst/>
          </a:prstGeom>
          <a:solidFill>
            <a:srgbClr val="06101E"/>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248927" y="3849624"/>
            <a:ext cx="2339263" cy="201168"/>
          </a:xfrm>
          <a:prstGeom prst="rect">
            <a:avLst/>
          </a:prstGeom>
          <a:noFill/>
        </p:spPr>
        <p:txBody>
          <a:bodyPr wrap="square">
            <a:spAutoFit/>
          </a:bodyPr>
          <a:lstStyle/>
          <a:p>
            <a:pPr algn="l"/>
            <a:r>
              <a:rPr sz="900" b="0" i="0">
                <a:solidFill>
                  <a:srgbClr val="475569"/>
                </a:solidFill>
              </a:rPr>
              <a:t>Vitest</a:t>
            </a:r>
          </a:p>
        </p:txBody>
      </p:sp>
      <p:sp>
        <p:nvSpPr>
          <p:cNvPr id="61" name="TextBox 60"/>
          <p:cNvSpPr txBox="1"/>
          <p:nvPr/>
        </p:nvSpPr>
        <p:spPr>
          <a:xfrm>
            <a:off x="457200" y="4553712"/>
            <a:ext cx="11277295" cy="219456"/>
          </a:xfrm>
          <a:prstGeom prst="rect">
            <a:avLst/>
          </a:prstGeom>
          <a:noFill/>
        </p:spPr>
        <p:txBody>
          <a:bodyPr wrap="square">
            <a:spAutoFit/>
          </a:bodyPr>
          <a:lstStyle/>
          <a:p>
            <a:pPr algn="ctr"/>
            <a:r>
              <a:rPr sz="900" b="0" i="0">
                <a:solidFill>
                  <a:srgbClr val="475569"/>
                </a:solidFill>
              </a:rPr>
              <a:t>TypeScript: 75.2%  ·  JavaScript: 14.1%  ·  Python: 5.6%  ·  CSS + config: remainder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5080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75569"/>
                </a:solidFill>
              </a:rPr>
              <a:t>BUILDING IT</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What took longer than expected, and what we learned</a:t>
            </a:r>
          </a:p>
        </p:txBody>
      </p:sp>
      <p:sp>
        <p:nvSpPr>
          <p:cNvPr id="4" name="Rounded Rectangle 3"/>
          <p:cNvSpPr/>
          <p:nvPr/>
        </p:nvSpPr>
        <p:spPr>
          <a:xfrm>
            <a:off x="457200" y="1847088"/>
            <a:ext cx="3624986" cy="429768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21792" y="1984248"/>
            <a:ext cx="3295802" cy="329184"/>
          </a:xfrm>
          <a:prstGeom prst="rect">
            <a:avLst/>
          </a:prstGeom>
          <a:noFill/>
        </p:spPr>
        <p:txBody>
          <a:bodyPr wrap="square">
            <a:spAutoFit/>
          </a:bodyPr>
          <a:lstStyle/>
          <a:p>
            <a:pPr algn="l"/>
            <a:r>
              <a:rPr sz="1200" b="1" i="0">
                <a:solidFill>
                  <a:srgbClr val="F87171"/>
                </a:solidFill>
              </a:rPr>
              <a:t>Firestore Timestamp inconsistency</a:t>
            </a:r>
          </a:p>
        </p:txBody>
      </p:sp>
      <p:sp>
        <p:nvSpPr>
          <p:cNvPr id="6" name="TextBox 5"/>
          <p:cNvSpPr txBox="1"/>
          <p:nvPr/>
        </p:nvSpPr>
        <p:spPr>
          <a:xfrm>
            <a:off x="621792" y="2395728"/>
            <a:ext cx="3295802" cy="3639312"/>
          </a:xfrm>
          <a:prstGeom prst="rect">
            <a:avLst/>
          </a:prstGeom>
          <a:noFill/>
        </p:spPr>
        <p:txBody>
          <a:bodyPr wrap="square">
            <a:spAutoFit/>
          </a:bodyPr>
          <a:lstStyle/>
          <a:p>
            <a:pPr algn="l"/>
            <a:r>
              <a:rPr sz="1000" b="0" i="0">
                <a:solidFill>
                  <a:srgbClr val="94A3B8"/>
                </a:solidFill>
              </a:rPr>
              <a:t>Firestore returns Timestamp objects. Parts of the code expected JS Date objects. Others expected Unix milliseconds. The same event time arrived in three different shapes depending on how it was stored.
Built a single normalisation utility that every date comparison routes through.
Lesson: normalise data at the boundary, not at the point of use.</a:t>
            </a:r>
          </a:p>
        </p:txBody>
      </p:sp>
      <p:sp>
        <p:nvSpPr>
          <p:cNvPr id="7" name="Rounded Rectangle 6"/>
          <p:cNvSpPr/>
          <p:nvPr/>
        </p:nvSpPr>
        <p:spPr>
          <a:xfrm>
            <a:off x="4283354" y="1847088"/>
            <a:ext cx="3624986" cy="429768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447946" y="1984248"/>
            <a:ext cx="3295802" cy="329184"/>
          </a:xfrm>
          <a:prstGeom prst="rect">
            <a:avLst/>
          </a:prstGeom>
          <a:noFill/>
        </p:spPr>
        <p:txBody>
          <a:bodyPr wrap="square">
            <a:spAutoFit/>
          </a:bodyPr>
          <a:lstStyle/>
          <a:p>
            <a:pPr algn="l"/>
            <a:r>
              <a:rPr sz="1200" b="1" i="0">
                <a:solidFill>
                  <a:srgbClr val="FB923C"/>
                </a:solidFill>
              </a:rPr>
              <a:t>CORS on Render's dynamic URLs</a:t>
            </a:r>
          </a:p>
        </p:txBody>
      </p:sp>
      <p:sp>
        <p:nvSpPr>
          <p:cNvPr id="9" name="TextBox 8"/>
          <p:cNvSpPr txBox="1"/>
          <p:nvPr/>
        </p:nvSpPr>
        <p:spPr>
          <a:xfrm>
            <a:off x="4447946" y="2395728"/>
            <a:ext cx="3295802" cy="3639312"/>
          </a:xfrm>
          <a:prstGeom prst="rect">
            <a:avLst/>
          </a:prstGeom>
          <a:noFill/>
        </p:spPr>
        <p:txBody>
          <a:bodyPr wrap="square">
            <a:spAutoFit/>
          </a:bodyPr>
          <a:lstStyle/>
          <a:p>
            <a:pPr algn="l"/>
            <a:r>
              <a:rPr sz="1000" b="0" i="0">
                <a:solidFill>
                  <a:srgbClr val="94A3B8"/>
                </a:solidFill>
              </a:rPr>
              <a:t>Render generates preview URLs that change with every push. The Flask CORS config originally used a hardcoded whitelist, which broke each time the Vercel frontend URL changed.
Rewrote CORS handling to dynamically allow any *.vercel.app origin.
Lesson: never hardcode deployment URLs in CORS config during active development.</a:t>
            </a:r>
          </a:p>
        </p:txBody>
      </p:sp>
      <p:sp>
        <p:nvSpPr>
          <p:cNvPr id="10" name="Rounded Rectangle 9"/>
          <p:cNvSpPr/>
          <p:nvPr/>
        </p:nvSpPr>
        <p:spPr>
          <a:xfrm>
            <a:off x="8109508" y="1847088"/>
            <a:ext cx="3624986" cy="4297680"/>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4100" y="1984248"/>
            <a:ext cx="3295802" cy="329184"/>
          </a:xfrm>
          <a:prstGeom prst="rect">
            <a:avLst/>
          </a:prstGeom>
          <a:noFill/>
        </p:spPr>
        <p:txBody>
          <a:bodyPr wrap="square">
            <a:spAutoFit/>
          </a:bodyPr>
          <a:lstStyle/>
          <a:p>
            <a:pPr algn="l"/>
            <a:r>
              <a:rPr sz="1200" b="1" i="0">
                <a:solidFill>
                  <a:srgbClr val="818CF8"/>
                </a:solidFill>
              </a:rPr>
              <a:t>Real-time + TanStack Query conflict</a:t>
            </a:r>
          </a:p>
        </p:txBody>
      </p:sp>
      <p:sp>
        <p:nvSpPr>
          <p:cNvPr id="12" name="TextBox 11"/>
          <p:cNvSpPr txBox="1"/>
          <p:nvPr/>
        </p:nvSpPr>
        <p:spPr>
          <a:xfrm>
            <a:off x="8274100" y="2395728"/>
            <a:ext cx="3295802" cy="3639312"/>
          </a:xfrm>
          <a:prstGeom prst="rect">
            <a:avLst/>
          </a:prstGeom>
          <a:noFill/>
        </p:spPr>
        <p:txBody>
          <a:bodyPr wrap="square">
            <a:spAutoFit/>
          </a:bodyPr>
          <a:lstStyle/>
          <a:p>
            <a:pPr algn="l"/>
            <a:r>
              <a:rPr sz="1000" b="0" i="0">
                <a:solidFill>
                  <a:srgbClr val="94A3B8"/>
                </a:solidFill>
              </a:rPr>
              <a:t>TanStack Query is built for HTTP with clear cache invalidation. Firestore's onSnapshot is a push model. Running both on the same data caused stale data and double renders.
Resolved by separating real-time subscriptions from Query-managed endpoints with explicit cache invalidation hooks.
Lesson: pick one data model per domain and stick to it.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5080F"/>
        </a:soli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11277295" cy="237744"/>
          </a:xfrm>
          <a:prstGeom prst="rect">
            <a:avLst/>
          </a:prstGeom>
          <a:noFill/>
        </p:spPr>
        <p:txBody>
          <a:bodyPr wrap="square">
            <a:spAutoFit/>
          </a:bodyPr>
          <a:lstStyle/>
          <a:p>
            <a:pPr algn="ctr"/>
            <a:r>
              <a:rPr sz="700" b="0" i="0">
                <a:solidFill>
                  <a:srgbClr val="475569"/>
                </a:solidFill>
              </a:rPr>
              <a:t>WHAT COMES NEXT</a:t>
            </a:r>
          </a:p>
        </p:txBody>
      </p:sp>
      <p:sp>
        <p:nvSpPr>
          <p:cNvPr id="3" name="TextBox 2"/>
          <p:cNvSpPr txBox="1"/>
          <p:nvPr/>
        </p:nvSpPr>
        <p:spPr>
          <a:xfrm>
            <a:off x="457200" y="731520"/>
            <a:ext cx="11277295" cy="566928"/>
          </a:xfrm>
          <a:prstGeom prst="rect">
            <a:avLst/>
          </a:prstGeom>
          <a:noFill/>
        </p:spPr>
        <p:txBody>
          <a:bodyPr wrap="square">
            <a:spAutoFit/>
          </a:bodyPr>
          <a:lstStyle/>
          <a:p>
            <a:pPr algn="ctr"/>
            <a:r>
              <a:rPr sz="2600" b="1" i="0">
                <a:solidFill>
                  <a:srgbClr val="F0F4FF"/>
                </a:solidFill>
              </a:rPr>
              <a:t>Trackly works. Here's where it goes from here.</a:t>
            </a:r>
          </a:p>
        </p:txBody>
      </p:sp>
      <p:sp>
        <p:nvSpPr>
          <p:cNvPr id="4" name="TextBox 3"/>
          <p:cNvSpPr txBox="1"/>
          <p:nvPr/>
        </p:nvSpPr>
        <p:spPr>
          <a:xfrm>
            <a:off x="1188720" y="1335024"/>
            <a:ext cx="9814255" cy="438912"/>
          </a:xfrm>
          <a:prstGeom prst="rect">
            <a:avLst/>
          </a:prstGeom>
          <a:noFill/>
        </p:spPr>
        <p:txBody>
          <a:bodyPr wrap="square">
            <a:spAutoFit/>
          </a:bodyPr>
          <a:lstStyle/>
          <a:p>
            <a:pPr algn="ctr"/>
            <a:r>
              <a:rPr sz="1100" b="0" i="0">
                <a:solidFill>
                  <a:srgbClr val="94A3B8"/>
                </a:solidFill>
              </a:rPr>
              <a:t>The core loop is solid. These three additions would take it from a strong student project to something an NGO would actually deploy for their full team.</a:t>
            </a:r>
          </a:p>
        </p:txBody>
      </p:sp>
      <p:sp>
        <p:nvSpPr>
          <p:cNvPr id="5" name="Rounded Rectangle 4"/>
          <p:cNvSpPr/>
          <p:nvPr/>
        </p:nvSpPr>
        <p:spPr>
          <a:xfrm>
            <a:off x="457200" y="1847088"/>
            <a:ext cx="3624986" cy="2578608"/>
          </a:xfrm>
          <a:prstGeom prst="roundRect">
            <a:avLst/>
          </a:prstGeom>
          <a:solidFill>
            <a:srgbClr val="0E162A"/>
          </a:solidFill>
          <a:ln w="9525">
            <a:solidFill>
              <a:srgbClr val="0D3D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21792" y="1956816"/>
            <a:ext cx="3295802" cy="201168"/>
          </a:xfrm>
          <a:prstGeom prst="rect">
            <a:avLst/>
          </a:prstGeom>
          <a:noFill/>
        </p:spPr>
        <p:txBody>
          <a:bodyPr wrap="square">
            <a:spAutoFit/>
          </a:bodyPr>
          <a:lstStyle/>
          <a:p>
            <a:pPr algn="l"/>
            <a:r>
              <a:rPr sz="700" b="0" i="0">
                <a:solidFill>
                  <a:srgbClr val="34D399"/>
                </a:solidFill>
              </a:rPr>
              <a:t>NEAR TERM</a:t>
            </a:r>
          </a:p>
        </p:txBody>
      </p:sp>
      <p:sp>
        <p:nvSpPr>
          <p:cNvPr id="7" name="TextBox 6"/>
          <p:cNvSpPr txBox="1"/>
          <p:nvPr/>
        </p:nvSpPr>
        <p:spPr>
          <a:xfrm>
            <a:off x="621792" y="2212848"/>
            <a:ext cx="3295802" cy="310896"/>
          </a:xfrm>
          <a:prstGeom prst="rect">
            <a:avLst/>
          </a:prstGeom>
          <a:noFill/>
        </p:spPr>
        <p:txBody>
          <a:bodyPr wrap="square">
            <a:spAutoFit/>
          </a:bodyPr>
          <a:lstStyle/>
          <a:p>
            <a:pPr algn="l"/>
            <a:r>
              <a:rPr sz="1200" b="1" i="0">
                <a:solidFill>
                  <a:srgbClr val="F0F4FF"/>
                </a:solidFill>
              </a:rPr>
              <a:t>Bulk CSV event import</a:t>
            </a:r>
          </a:p>
        </p:txBody>
      </p:sp>
      <p:sp>
        <p:nvSpPr>
          <p:cNvPr id="8" name="TextBox 7"/>
          <p:cNvSpPr txBox="1"/>
          <p:nvPr/>
        </p:nvSpPr>
        <p:spPr>
          <a:xfrm>
            <a:off x="621792" y="2596896"/>
            <a:ext cx="3295802" cy="1737360"/>
          </a:xfrm>
          <a:prstGeom prst="rect">
            <a:avLst/>
          </a:prstGeom>
          <a:noFill/>
        </p:spPr>
        <p:txBody>
          <a:bodyPr wrap="square">
            <a:spAutoFit/>
          </a:bodyPr>
          <a:lstStyle/>
          <a:p>
            <a:pPr algn="l"/>
            <a:r>
              <a:rPr sz="1000" b="0" i="0">
                <a:solidFill>
                  <a:srgbClr val="94A3B8"/>
                </a:solidFill>
              </a:rPr>
              <a:t>NGOs with existing schedules in Excel should onboard in minutes, not hours. Drag-and-drop CSV with field mapping and validation preview.
Solves the biggest onboarding friction for orgs with historical data.</a:t>
            </a:r>
          </a:p>
        </p:txBody>
      </p:sp>
      <p:sp>
        <p:nvSpPr>
          <p:cNvPr id="9" name="Rounded Rectangle 8"/>
          <p:cNvSpPr/>
          <p:nvPr/>
        </p:nvSpPr>
        <p:spPr>
          <a:xfrm>
            <a:off x="4283354" y="1847088"/>
            <a:ext cx="3624986" cy="2578608"/>
          </a:xfrm>
          <a:prstGeom prst="roundRect">
            <a:avLst/>
          </a:prstGeom>
          <a:solidFill>
            <a:srgbClr val="0E162A"/>
          </a:solidFill>
          <a:ln w="9525">
            <a:solidFill>
              <a:srgbClr val="3A22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47946" y="1956816"/>
            <a:ext cx="3295802" cy="201168"/>
          </a:xfrm>
          <a:prstGeom prst="rect">
            <a:avLst/>
          </a:prstGeom>
          <a:noFill/>
        </p:spPr>
        <p:txBody>
          <a:bodyPr wrap="square">
            <a:spAutoFit/>
          </a:bodyPr>
          <a:lstStyle/>
          <a:p>
            <a:pPr algn="l"/>
            <a:r>
              <a:rPr sz="700" b="0" i="0">
                <a:solidFill>
                  <a:srgbClr val="FB923C"/>
                </a:solidFill>
              </a:rPr>
              <a:t>MID TERM</a:t>
            </a:r>
          </a:p>
        </p:txBody>
      </p:sp>
      <p:sp>
        <p:nvSpPr>
          <p:cNvPr id="11" name="TextBox 10"/>
          <p:cNvSpPr txBox="1"/>
          <p:nvPr/>
        </p:nvSpPr>
        <p:spPr>
          <a:xfrm>
            <a:off x="4447946" y="2212848"/>
            <a:ext cx="3295802" cy="310896"/>
          </a:xfrm>
          <a:prstGeom prst="rect">
            <a:avLst/>
          </a:prstGeom>
          <a:noFill/>
        </p:spPr>
        <p:txBody>
          <a:bodyPr wrap="square">
            <a:spAutoFit/>
          </a:bodyPr>
          <a:lstStyle/>
          <a:p>
            <a:pPr algn="l"/>
            <a:r>
              <a:rPr sz="1200" b="1" i="0">
                <a:solidFill>
                  <a:srgbClr val="F0F4FF"/>
                </a:solidFill>
              </a:rPr>
              <a:t>SMS via Twilio</a:t>
            </a:r>
          </a:p>
        </p:txBody>
      </p:sp>
      <p:sp>
        <p:nvSpPr>
          <p:cNvPr id="12" name="TextBox 11"/>
          <p:cNvSpPr txBox="1"/>
          <p:nvPr/>
        </p:nvSpPr>
        <p:spPr>
          <a:xfrm>
            <a:off x="4447946" y="2596896"/>
            <a:ext cx="3295802" cy="1737360"/>
          </a:xfrm>
          <a:prstGeom prst="rect">
            <a:avLst/>
          </a:prstGeom>
          <a:noFill/>
        </p:spPr>
        <p:txBody>
          <a:bodyPr wrap="square">
            <a:spAutoFit/>
          </a:bodyPr>
          <a:lstStyle/>
          <a:p>
            <a:pPr algn="l"/>
            <a:r>
              <a:rPr sz="1000" b="0" i="0">
                <a:solidFill>
                  <a:srgbClr val="94A3B8"/>
                </a:solidFill>
              </a:rPr>
              <a:t>Push and email don't reach volunteers in poor-connectivity areas or those without smartphones. SMS does — and it extends the existing notification scheduler without a full rewrite.
Especially relevant for rural NGO operations in India.</a:t>
            </a:r>
          </a:p>
        </p:txBody>
      </p:sp>
      <p:sp>
        <p:nvSpPr>
          <p:cNvPr id="13" name="Rounded Rectangle 12"/>
          <p:cNvSpPr/>
          <p:nvPr/>
        </p:nvSpPr>
        <p:spPr>
          <a:xfrm>
            <a:off x="8109508" y="1847088"/>
            <a:ext cx="3624986" cy="2578608"/>
          </a:xfrm>
          <a:prstGeom prst="roundRect">
            <a:avLst/>
          </a:prstGeom>
          <a:solidFill>
            <a:srgbClr val="0E162A"/>
          </a:solidFill>
          <a:ln w="9525">
            <a:solidFill>
              <a:srgbClr val="1E2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74100" y="1956816"/>
            <a:ext cx="3295802" cy="201168"/>
          </a:xfrm>
          <a:prstGeom prst="rect">
            <a:avLst/>
          </a:prstGeom>
          <a:noFill/>
        </p:spPr>
        <p:txBody>
          <a:bodyPr wrap="square">
            <a:spAutoFit/>
          </a:bodyPr>
          <a:lstStyle/>
          <a:p>
            <a:pPr algn="l"/>
            <a:r>
              <a:rPr sz="700" b="0" i="0">
                <a:solidFill>
                  <a:srgbClr val="818CF8"/>
                </a:solidFill>
              </a:rPr>
              <a:t>RESEARCH TRACK</a:t>
            </a:r>
          </a:p>
        </p:txBody>
      </p:sp>
      <p:sp>
        <p:nvSpPr>
          <p:cNvPr id="15" name="TextBox 14"/>
          <p:cNvSpPr txBox="1"/>
          <p:nvPr/>
        </p:nvSpPr>
        <p:spPr>
          <a:xfrm>
            <a:off x="8274100" y="2212848"/>
            <a:ext cx="3295802" cy="310896"/>
          </a:xfrm>
          <a:prstGeom prst="rect">
            <a:avLst/>
          </a:prstGeom>
          <a:noFill/>
        </p:spPr>
        <p:txBody>
          <a:bodyPr wrap="square">
            <a:spAutoFit/>
          </a:bodyPr>
          <a:lstStyle/>
          <a:p>
            <a:pPr algn="l"/>
            <a:r>
              <a:rPr sz="1200" b="1" i="0">
                <a:solidFill>
                  <a:srgbClr val="F0F4FF"/>
                </a:solidFill>
              </a:rPr>
              <a:t>QR attendance scanning</a:t>
            </a:r>
          </a:p>
        </p:txBody>
      </p:sp>
      <p:sp>
        <p:nvSpPr>
          <p:cNvPr id="16" name="TextBox 15"/>
          <p:cNvSpPr txBox="1"/>
          <p:nvPr/>
        </p:nvSpPr>
        <p:spPr>
          <a:xfrm>
            <a:off x="8274100" y="2596896"/>
            <a:ext cx="3295802" cy="1737360"/>
          </a:xfrm>
          <a:prstGeom prst="rect">
            <a:avLst/>
          </a:prstGeom>
          <a:noFill/>
        </p:spPr>
        <p:txBody>
          <a:bodyPr wrap="square">
            <a:spAutoFit/>
          </a:bodyPr>
          <a:lstStyle/>
          <a:p>
            <a:pPr algn="l"/>
            <a:r>
              <a:rPr sz="1000" b="0" i="0">
                <a:solidFill>
                  <a:srgbClr val="94A3B8"/>
                </a:solidFill>
              </a:rPr>
              <a:t>Replace manual check-in lists with a per-event QR code volunteers scan on arrival. Works offline on the coordinator's device, syncs when connectivity returns.
Field events often have poor internet — offline-first is the right target.</a:t>
            </a:r>
          </a:p>
        </p:txBody>
      </p:sp>
      <p:sp>
        <p:nvSpPr>
          <p:cNvPr id="17" name="Rounded Rectangle 16"/>
          <p:cNvSpPr/>
          <p:nvPr/>
        </p:nvSpPr>
        <p:spPr>
          <a:xfrm>
            <a:off x="1853031" y="4608576"/>
            <a:ext cx="4114800" cy="329184"/>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944471" y="4663440"/>
            <a:ext cx="3931920" cy="237744"/>
          </a:xfrm>
          <a:prstGeom prst="rect">
            <a:avLst/>
          </a:prstGeom>
          <a:noFill/>
        </p:spPr>
        <p:txBody>
          <a:bodyPr wrap="square">
            <a:spAutoFit/>
          </a:bodyPr>
          <a:lstStyle/>
          <a:p>
            <a:pPr algn="ctr"/>
            <a:r>
              <a:rPr sz="1000" b="0" i="1">
                <a:solidFill>
                  <a:srgbClr val="34D399"/>
                </a:solidFill>
              </a:rPr>
              <a:t>trackly-phi.vercel.app</a:t>
            </a:r>
          </a:p>
        </p:txBody>
      </p:sp>
      <p:sp>
        <p:nvSpPr>
          <p:cNvPr id="19" name="Rounded Rectangle 18"/>
          <p:cNvSpPr/>
          <p:nvPr/>
        </p:nvSpPr>
        <p:spPr>
          <a:xfrm>
            <a:off x="6223863" y="4608576"/>
            <a:ext cx="4114800" cy="329184"/>
          </a:xfrm>
          <a:prstGeom prst="roundRect">
            <a:avLst/>
          </a:prstGeom>
          <a:solidFill>
            <a:srgbClr val="0E162A"/>
          </a:solidFill>
          <a:ln w="9525">
            <a:solidFill>
              <a:srgbClr val="142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15303" y="4663440"/>
            <a:ext cx="3931920" cy="237744"/>
          </a:xfrm>
          <a:prstGeom prst="rect">
            <a:avLst/>
          </a:prstGeom>
          <a:noFill/>
        </p:spPr>
        <p:txBody>
          <a:bodyPr wrap="square">
            <a:spAutoFit/>
          </a:bodyPr>
          <a:lstStyle/>
          <a:p>
            <a:pPr algn="ctr"/>
            <a:r>
              <a:rPr sz="1000" b="0" i="1">
                <a:solidFill>
                  <a:srgbClr val="94A3B8"/>
                </a:solidFill>
              </a:rPr>
              <a:t>github.com/Shlok-Dwivedi/Trackly</a:t>
            </a:r>
          </a:p>
        </p:txBody>
      </p:sp>
      <p:sp>
        <p:nvSpPr>
          <p:cNvPr id="21" name="TextBox 20"/>
          <p:cNvSpPr txBox="1"/>
          <p:nvPr/>
        </p:nvSpPr>
        <p:spPr>
          <a:xfrm>
            <a:off x="457200" y="5084064"/>
            <a:ext cx="11277295" cy="219456"/>
          </a:xfrm>
          <a:prstGeom prst="rect">
            <a:avLst/>
          </a:prstGeom>
          <a:noFill/>
        </p:spPr>
        <p:txBody>
          <a:bodyPr wrap="square">
            <a:spAutoFit/>
          </a:bodyPr>
          <a:lstStyle/>
          <a:p>
            <a:pPr algn="ctr"/>
            <a:r>
              <a:rPr sz="1000" b="0" i="0">
                <a:solidFill>
                  <a:srgbClr val="475569"/>
                </a:solidFill>
              </a:rPr>
              <a:t>Built by Shlok Dwivedi</a:t>
            </a:r>
          </a:p>
        </p:txBody>
      </p:sp>
      <p:sp>
        <p:nvSpPr>
          <p:cNvPr id="22" name="TextBox 21"/>
          <p:cNvSpPr txBox="1"/>
          <p:nvPr/>
        </p:nvSpPr>
        <p:spPr>
          <a:xfrm>
            <a:off x="457200" y="5358384"/>
            <a:ext cx="11277295" cy="457200"/>
          </a:xfrm>
          <a:prstGeom prst="rect">
            <a:avLst/>
          </a:prstGeom>
          <a:noFill/>
        </p:spPr>
        <p:txBody>
          <a:bodyPr wrap="square">
            <a:spAutoFit/>
          </a:bodyPr>
          <a:lstStyle/>
          <a:p>
            <a:pPr algn="ctr"/>
            <a:r>
              <a:rPr sz="2600" b="1" i="0">
                <a:solidFill>
                  <a:srgbClr val="F0F4FF"/>
                </a:solidFill>
              </a:rPr>
              <a:t>Thank you</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1941</Words>
  <Application>Microsoft Macintosh PowerPoint</Application>
  <PresentationFormat>Widescreen</PresentationFormat>
  <Paragraphs>204</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Krish Potanwar</cp:lastModifiedBy>
  <cp:revision>3</cp:revision>
  <dcterms:created xsi:type="dcterms:W3CDTF">2013-01-27T09:14:16Z</dcterms:created>
  <dcterms:modified xsi:type="dcterms:W3CDTF">2026-04-03T06:49:52Z</dcterms:modified>
  <cp:category/>
</cp:coreProperties>
</file>